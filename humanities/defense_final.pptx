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Lst>
  <p:sldSz cy="6858000" cx="12192000"/>
  <p:notesSz cx="6858000" cy="9144000"/>
  <p:embeddedFontLst>
    <p:embeddedFont>
      <p:font typeface="Play"/>
      <p:regular r:id="rId166"/>
      <p:bold r:id="rId167"/>
    </p:embeddedFont>
    <p:embeddedFont>
      <p:font typeface="Century Schoolbook"/>
      <p:regular r:id="rId168"/>
      <p:bold r:id="rId169"/>
      <p:italic r:id="rId170"/>
      <p:boldItalic r:id="rId171"/>
    </p:embeddedFont>
    <p:embeddedFont>
      <p:font typeface="Helvetica Neue"/>
      <p:regular r:id="rId172"/>
      <p:bold r:id="rId173"/>
      <p:italic r:id="rId174"/>
      <p:boldItalic r:id="rId175"/>
    </p:embeddedFont>
    <p:embeddedFont>
      <p:font typeface="Noto Sans Symbols"/>
      <p:regular r:id="rId176"/>
      <p:bold r:id="rId177"/>
    </p:embeddedFont>
    <p:embeddedFont>
      <p:font typeface="Lemon"/>
      <p:regular r:id="rId1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702D99E-9C1F-416C-B730-6809D95EBFF6}">
  <a:tblStyle styleId="{F702D99E-9C1F-416C-B730-6809D95EBFF6}" styleName="Table_0">
    <a:wholeTbl>
      <a:tcTxStyle b="off" i="off">
        <a:font>
          <a:latin typeface="Aptos"/>
          <a:ea typeface="Aptos"/>
          <a:cs typeface="Aptos"/>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CAD1D8"/>
          </a:solidFill>
        </a:fill>
      </a:tcStyle>
    </a:wholeTbl>
    <a:band1H>
      <a:tcTxStyle/>
    </a:band1H>
    <a:band2H>
      <a:tcTxStyle b="off" i="off"/>
      <a:tcStyle>
        <a:fill>
          <a:solidFill>
            <a:srgbClr val="E7E9EC"/>
          </a:solidFill>
        </a:fill>
      </a:tcStyle>
    </a:band2H>
    <a:band1V>
      <a:tcTxStyle/>
    </a:band1V>
    <a:band2V>
      <a:tcTxStyle/>
    </a:band2V>
    <a:lastCol>
      <a:tcTxStyle/>
    </a:lastCol>
    <a:firstCol>
      <a:tcTxStyle b="on" i="off">
        <a:font>
          <a:latin typeface="Aptos"/>
          <a:ea typeface="Aptos"/>
          <a:cs typeface="Aptos"/>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firstCol>
    <a:lastRow>
      <a:tcTxStyle b="on" i="off">
        <a:font>
          <a:latin typeface="Aptos"/>
          <a:ea typeface="Aptos"/>
          <a:cs typeface="Aptos"/>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381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lastRow>
    <a:seCell>
      <a:tcTxStyle/>
    </a:seCell>
    <a:swCell>
      <a:tcTxStyle/>
    </a:swCell>
    <a:firstRow>
      <a:tcTxStyle b="on" i="off">
        <a:font>
          <a:latin typeface="Aptos"/>
          <a:ea typeface="Aptos"/>
          <a:cs typeface="Aptos"/>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381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176" Type="http://schemas.openxmlformats.org/officeDocument/2006/relationships/font" Target="fonts/NotoSansSymbols-regular.fntdata"/><Relationship Id="rId36" Type="http://schemas.openxmlformats.org/officeDocument/2006/relationships/slide" Target="slides/slide31.xml"/><Relationship Id="rId175" Type="http://schemas.openxmlformats.org/officeDocument/2006/relationships/font" Target="fonts/HelveticaNeue-boldItalic.fntdata"/><Relationship Id="rId39" Type="http://schemas.openxmlformats.org/officeDocument/2006/relationships/slide" Target="slides/slide34.xml"/><Relationship Id="rId174" Type="http://schemas.openxmlformats.org/officeDocument/2006/relationships/font" Target="fonts/HelveticaNeue-italic.fntdata"/><Relationship Id="rId38" Type="http://schemas.openxmlformats.org/officeDocument/2006/relationships/slide" Target="slides/slide33.xml"/><Relationship Id="rId173" Type="http://schemas.openxmlformats.org/officeDocument/2006/relationships/font" Target="fonts/HelveticaNeue-bold.fntdata"/><Relationship Id="rId178" Type="http://schemas.openxmlformats.org/officeDocument/2006/relationships/font" Target="fonts/Lemon-regular.fntdata"/><Relationship Id="rId177" Type="http://schemas.openxmlformats.org/officeDocument/2006/relationships/font" Target="fonts/NotoSansSymbols-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font" Target="fonts/HelveticaNeue-regular.fntdata"/><Relationship Id="rId65" Type="http://schemas.openxmlformats.org/officeDocument/2006/relationships/slide" Target="slides/slide60.xml"/><Relationship Id="rId171" Type="http://schemas.openxmlformats.org/officeDocument/2006/relationships/font" Target="fonts/CenturySchoolbook-boldItalic.fntdata"/><Relationship Id="rId68" Type="http://schemas.openxmlformats.org/officeDocument/2006/relationships/slide" Target="slides/slide63.xml"/><Relationship Id="rId170" Type="http://schemas.openxmlformats.org/officeDocument/2006/relationships/font" Target="fonts/CenturySchoolbook-italic.fntdata"/><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font" Target="fonts/CenturySchoolbook-bold.fntdata"/><Relationship Id="rId168" Type="http://schemas.openxmlformats.org/officeDocument/2006/relationships/font" Target="fonts/CenturySchoolbook-regular.fntdata"/><Relationship Id="rId167" Type="http://schemas.openxmlformats.org/officeDocument/2006/relationships/font" Target="fonts/Play-bold.fntdata"/><Relationship Id="rId166" Type="http://schemas.openxmlformats.org/officeDocument/2006/relationships/font" Target="fonts/Play-regular.fntdata"/><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ews.uark.edu/articles/46345/study-finds-majority-of-public-is-unfamiliar-with-ballot-measures" TargetMode="External"/><Relationship Id="rId3" Type="http://schemas.openxmlformats.org/officeDocument/2006/relationships/hyperlink" Target="https://news.uark.edu/articles/46345/study-finds-majority-of-public-is-unfamiliar-with-ballot-measures" TargetMode="Externa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 name="Google Shape;4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 coding - clear answer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LLM Excel at tasks with clear answers (math, factual QA, 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Many language tasks not like this.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Book translation.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Multiple valid translations. No objective correct / incorrect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Determining which output is preferred required considering context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Central research question shifts to language behavior that works in context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LLMs are genuinely strong when there’s a clear target—coding is a good example.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There’s a well-defined success criterion did the code produce the expected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for closed-form tasks, progress is easy to see and measure.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 coding - clear answer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LLM Excel at tasks with clear answers (math, factual QA, 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Many language tasks not like this.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Book translation.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Multiple valid translations. No objective correct / incorrect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Determining which output is preferred required considering context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Central research question shifts to language behavior that works in context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LLMs are genuinely strong when there’s a clear target—coding is a good example.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There’s a well-defined success criterion did the code produce the expected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for closed-form tasks, progress is easy to see and measure.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project: economic narratives and defining, measuring and analyzing them at scale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Second project: a dataset for legal summarizatio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Third project: controlled experiment and public system to help voters reason about ballot measures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project: how to measure economic narratives in text, at scale, in a way that stays interpretable.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Argue economic narratives influence people's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 just facts but WHAT is happening and WHY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Narratives can affect whether you buy a home, invest in the stock market, or pursue higher education.</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SzPts val="1200"/>
              <a:buFont typeface="Arial"/>
              <a:buNone/>
            </a:pPr>
            <a:r>
              <a:rPr lang="en-US"/>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Shiller illustrates this motivation -&gt; mechanism for economic change and forecasting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IF MATTER -&gt; MEASURE AT SCALE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a:t>
            </a:r>
            <a:endParaRPr/>
          </a:p>
          <a:p>
            <a:pPr indent="0" lvl="0" marL="0" rtl="0" algn="l">
              <a:spcBef>
                <a:spcPts val="0"/>
              </a:spcBef>
              <a:spcAft>
                <a:spcPts val="0"/>
              </a:spcAft>
              <a:buNone/>
            </a:pPr>
            <a:r>
              <a:rPr lang="en-US"/>
              <a:t>existing work gives concepts not measurement</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latin typeface="Arial"/>
                <a:ea typeface="Arial"/>
                <a:cs typeface="Arial"/>
                <a:sym typeface="Arial"/>
              </a:rPr>
              <a:t>Prior work has two limitations.</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conceptually rich -&gt; not built to be extracted from actual text</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extraction methods are scalable -&gt; no definition of narrative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__________________________________________________</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Narratives shape beliefs</a:t>
            </a:r>
            <a:endParaRPr/>
          </a:p>
          <a:p>
            <a:pPr indent="0" lvl="0" marL="0" rtl="0" algn="l">
              <a:spcBef>
                <a:spcPts val="0"/>
              </a:spcBef>
              <a:spcAft>
                <a:spcPts val="0"/>
              </a:spcAft>
              <a:buNone/>
            </a:pPr>
            <a:r>
              <a:rPr lang="en-US"/>
              <a:t>Theoretical framework + structural model [Benabou et al. 2018]</a:t>
            </a:r>
            <a:endParaRPr/>
          </a:p>
          <a:p>
            <a:pPr indent="0" lvl="0" marL="0" rtl="0" algn="l">
              <a:spcBef>
                <a:spcPts val="0"/>
              </a:spcBef>
              <a:spcAft>
                <a:spcPts val="0"/>
              </a:spcAft>
              <a:buNone/>
            </a:pPr>
            <a:r>
              <a:rPr lang="en-US"/>
              <a:t>Beliefs about the economy that spread contagiously [Flynn &amp; Sastry 2022]</a:t>
            </a:r>
            <a:endParaRPr/>
          </a:p>
          <a:p>
            <a:pPr indent="0" lvl="0" marL="0" rtl="0" algn="l">
              <a:spcBef>
                <a:spcPts val="0"/>
              </a:spcBef>
              <a:spcAft>
                <a:spcPts val="0"/>
              </a:spcAft>
              <a:buNone/>
            </a:pPr>
            <a:r>
              <a:rPr lang="en-US"/>
              <a:t>Optimism vs. pessimism [Flynn &amp; Sastry 2022]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How can we measure narratives in millions of documents?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ensure what we measure is meaningful?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Ultimately we care about analyses and forecasting</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US" sz="1200">
                <a:latin typeface="Arial"/>
                <a:ea typeface="Arial"/>
                <a:cs typeface="Arial"/>
                <a:sym typeface="Arial"/>
              </a:rPr>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Need extraction. UNSTRUCTURED NEWS -&gt; STRUCTURED NARRATIVES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consider an example.</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data scale is very large—decades of news.</a:t>
            </a:r>
            <a:endParaRPr/>
          </a:p>
          <a:p>
            <a:pPr indent="0" lvl="0" marL="0" rtl="0" algn="l">
              <a:spcBef>
                <a:spcPts val="0"/>
              </a:spcBef>
              <a:spcAft>
                <a:spcPts val="0"/>
              </a:spcAft>
              <a:buNone/>
            </a:pPr>
            <a:r>
              <a:rPr lang="en-US"/>
              <a:t>But the core methodological question is: what do we extract from text so it’s meaningful?</a:t>
            </a:r>
            <a:endParaRPr/>
          </a:p>
          <a:p>
            <a:pPr indent="0" lvl="0" marL="0" rtl="0" algn="l">
              <a:spcBef>
                <a:spcPts val="0"/>
              </a:spcBef>
              <a:spcAft>
                <a:spcPts val="0"/>
              </a:spcAft>
              <a:buNone/>
            </a:pPr>
            <a:r>
              <a:rPr lang="en-US"/>
              <a:t>A bag of words won’t capture narrative structure. We need something interpretable, scalable, and tied to causal explanations people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Prior work has tried to capture narratives through sentiment analysis [Flynn &amp; Sastry], DAG representations [Eliaz &amp; Spiegler], or controlled experiments [Kendall &amp; Charles] — but these either don't scale to real-world text or require strong structural assumptions.</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SzPts val="1200"/>
              <a:buFont typeface="Arial"/>
              <a:buNone/>
            </a:pPr>
            <a:r>
              <a:rPr lang="en-US"/>
              <a:t>“Rather than trying to recover full stories from articles, we make the task tractable by focusing on the smallest measurable narrative unit: a sentence that explains a cause or effect of inflation.”</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a case study, focus on narratives about </a:t>
            </a:r>
            <a:r>
              <a:rPr b="1" lang="en-US"/>
              <a:t>inflation.</a:t>
            </a:r>
            <a:endParaRPr/>
          </a:p>
          <a:p>
            <a:pPr indent="0" lvl="0" marL="0" rtl="0" algn="l">
              <a:spcBef>
                <a:spcPts val="0"/>
              </a:spcBef>
              <a:spcAft>
                <a:spcPts val="0"/>
              </a:spcAft>
              <a:buNone/>
            </a:pPr>
            <a:r>
              <a:t/>
            </a:r>
            <a:endParaRPr b="1"/>
          </a:p>
          <a:p>
            <a:pPr indent="0" lvl="0" marL="0" rtl="0" algn="l">
              <a:spcBef>
                <a:spcPts val="0"/>
              </a:spcBef>
              <a:spcAft>
                <a:spcPts val="0"/>
              </a:spcAft>
              <a:buNone/>
            </a:pPr>
            <a:r>
              <a:rPr lang="en-US"/>
              <a:t>N1: This one mentions inflation historically but doesn’t explain a cause/effect—so it’s not a micro-narrative under our definition.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N2: This sentence explicitly links fiscal policies → growth/inflation. And , in turn, inflation → Fed hikes. </a:t>
            </a:r>
            <a:endParaRPr/>
          </a:p>
          <a:p>
            <a:pPr indent="0" lvl="0" marL="0" rtl="0" algn="l">
              <a:spcBef>
                <a:spcPts val="0"/>
              </a:spcBef>
              <a:spcAft>
                <a:spcPts val="0"/>
              </a:spcAft>
              <a:buNone/>
            </a:pPr>
            <a:r>
              <a:rPr lang="en-US"/>
              <a:t>That’s a narrative: causes + downstream effects.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illustrates the distinction: we’re not labeling ‘mentions’, we’re labeling causal explanation.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latin typeface="Arial"/>
                <a:ea typeface="Arial"/>
                <a:cs typeface="Arial"/>
                <a:sym typeface="Arial"/>
              </a:rPr>
              <a:t>We are not simply counting mentions of inflation. </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We are extracting explanations around inflation.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latin typeface="Arial"/>
                <a:ea typeface="Arial"/>
                <a:cs typeface="Arial"/>
                <a:sym typeface="Arial"/>
              </a:rPr>
              <a:t>To build this, we annotated around 2,500 sentences</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ontology includes causes like....</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important because it translates a domain concept into a measurable task.</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but turns out challenging pragmatic judgment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change right column to "annotation disagreement" and drop llama 3.1 8b</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US" sz="1200">
                <a:latin typeface="Arial"/>
                <a:ea typeface="Arial"/>
                <a:cs typeface="Arial"/>
                <a:sym typeface="Arial"/>
              </a:rPr>
              <a:t>Some sentences are ambiguous -&gt; narrative is implied rather than stated.</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Human annotators can disagree in systematic ways, because they are making judgments about whether a sentence actually provides an explanation.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Overall good agreement.</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US" sz="1200">
                <a:latin typeface="Arial"/>
                <a:ea typeface="Arial"/>
                <a:cs typeface="Arial"/>
                <a:sym typeface="Arial"/>
              </a:rPr>
              <a:t>And good model should capture the structure of that disagreement.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latin typeface="Arial"/>
                <a:ea typeface="Arial"/>
                <a:cs typeface="Arial"/>
                <a:sym typeface="Arial"/>
              </a:rPr>
              <a:t>When we evaluate the classifiers, we find that much smaller fine-tuned models perform well and outperform prompted GPT-4 on this task.</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Smaller models not always better. But for a domain specific pragmatic tasks such as this one:</a:t>
            </a:r>
            <a:endParaRPr/>
          </a:p>
          <a:p>
            <a:pPr indent="0" lvl="0" marL="0" rtl="0" algn="l">
              <a:spcBef>
                <a:spcPts val="0"/>
              </a:spcBef>
              <a:spcAft>
                <a:spcPts val="0"/>
              </a:spcAft>
              <a:buNone/>
            </a:pPr>
            <a:r>
              <a:rPr b="0" i="0" lang="en-US" sz="1200">
                <a:latin typeface="Arial"/>
                <a:ea typeface="Arial"/>
                <a:cs typeface="Arial"/>
                <a:sym typeface="Arial"/>
              </a:rPr>
              <a:t>strong alignment with the task definition matters.</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This also helps us operationally: measure narratives over millions of articles</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So far, I’ve shown that we can define and extract these narratives.</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the narrative classification works, we can run it at scale: measure narrative prevalence over time and geography.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now we can use the resulting structured data to ask and answer more specific macro-economic and social science questions.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context of inflation, an important measure of belief is inflation expectation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find some interesting results and id like briefly walk you through two of them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Font typeface="Arial"/>
              <a:buNone/>
            </a:pPr>
            <a:r>
              <a:rPr lang="en-US"/>
              <a:t>The volume of inflation-related news has minimal predictive power for national average expectations after controlling for realized inflation, with coefficients indistinguishable from zero at both horizons. Specific narrative frames show predictive power beyond realized inflation and news volume, though at the national-average level they fall short of conventional 5\% significance. For 1-year expectations, the social narrative is the most influential predictor (coefficient 0.034, t-statistic 1.82), approximately 29\% of the magnitude of the realized inflation effect. The wage narrative (0.031, t-statistic 1.67) and trade narrative (0.027, t-statistic 1.73) show comparable associations. For long-run expectations, the redistribution narrative is the strongest predictor (0.037, t-statistic 1.73), about 1.32 times the realized inflation effect at that horizon, while the expectations narrative carries a negative coefficient ($-0.025$, t-statistic $-1.87$), suggesting that media framing of expectations themselves may operate differently across horizons.</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did find that narrative exposure predicts disagreement in expectations more than actual inflation does both in the short and long term.</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Interpretation:</a:t>
            </a:r>
            <a:r>
              <a:rPr lang="en-US"/>
              <a:t> This seems to be one mechanism for why expectations can diverge even under similar conditions.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Disagreement = standardized standard deviation of individual inflation expectations.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find that Lower-income households are more sensitive to narratives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lower-income households’ expectations move more with narrative framing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suggests narratives may just be ‘informational’ in a basic sense, but they interact with particular socio-economic or demographic variables.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this isn't because certain narratives are better predictors of what inflation will actually do—none of them are. The effect is about how the framing shapes beliefs, not about conveying economic information.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Narrative prevalence differs systematically: North vs South, Urban vs Rural, Dem vs Rep areas.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North emphasizes fiscal, south cost of living and interest rates</a:t>
            </a:r>
            <a:endParaRPr/>
          </a:p>
          <a:p>
            <a:pPr indent="0" lvl="0" marL="0" rtl="0" algn="l">
              <a:spcBef>
                <a:spcPts val="0"/>
              </a:spcBef>
              <a:spcAft>
                <a:spcPts val="0"/>
              </a:spcAft>
              <a:buNone/>
            </a:pPr>
            <a:r>
              <a:rPr lang="en-US"/>
              <a:t>Urban emphasizes savings and fiscal.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Two uses:</a:t>
            </a:r>
            <a:endParaRPr/>
          </a:p>
          <a:p>
            <a:pPr indent="0" lvl="0" marL="0" rtl="0" algn="l">
              <a:spcBef>
                <a:spcPts val="0"/>
              </a:spcBef>
              <a:spcAft>
                <a:spcPts val="0"/>
              </a:spcAft>
              <a:buNone/>
            </a:pPr>
            <a:r>
              <a:rPr lang="en-US"/>
              <a:t>1. Descriptive: mapping narrative ecosystems.</a:t>
            </a:r>
            <a:endParaRPr/>
          </a:p>
          <a:p>
            <a:pPr indent="0" lvl="0" marL="0" rtl="0" algn="l">
              <a:spcBef>
                <a:spcPts val="0"/>
              </a:spcBef>
              <a:spcAft>
                <a:spcPts val="0"/>
              </a:spcAft>
              <a:buNone/>
            </a:pPr>
            <a:r>
              <a:rPr lang="en-US"/>
              <a:t>2. Causal/forecasting: tying narrative variation to belief and behavior differences.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Contribution 1: a scalable, interpretable framework for extracting causal narratives.”</a:t>
            </a:r>
            <a:endParaRPr/>
          </a:p>
          <a:p>
            <a:pPr indent="0" lvl="0" marL="0" rtl="0" algn="l">
              <a:spcBef>
                <a:spcPts val="0"/>
              </a:spcBef>
              <a:spcAft>
                <a:spcPts val="0"/>
              </a:spcAft>
              <a:buNone/>
            </a:pPr>
            <a:r>
              <a:rPr lang="en-US"/>
              <a:t>“Contribution 2: enables large-scale analysis of how framing shapes beliefs—beyond inflation.”</a:t>
            </a:r>
            <a:endParaRPr/>
          </a:p>
          <a:p>
            <a:pPr indent="0" lvl="0" marL="0" rtl="0" algn="l">
              <a:spcBef>
                <a:spcPts val="0"/>
              </a:spcBef>
              <a:spcAft>
                <a:spcPts val="0"/>
              </a:spcAft>
              <a:buNone/>
            </a:pPr>
            <a:r>
              <a:rPr lang="en-US"/>
              <a:t>“Contribution 3: evidence that narrative exposure plausibly mediates inflation expectations and disagreement.”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“Next I’ll discuss a different consequential domain where evaluation is a significant bottleneck—legal summarization.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large-scale data analysis</a:t>
            </a:r>
            <a:endParaRPr/>
          </a:p>
          <a:p>
            <a:pPr indent="0" lvl="0" marL="0" rtl="0" algn="l">
              <a:spcBef>
                <a:spcPts val="0"/>
              </a:spcBef>
              <a:spcAft>
                <a:spcPts val="0"/>
              </a:spcAft>
              <a:buNone/>
            </a:pPr>
            <a:r>
              <a:rPr lang="en-US"/>
              <a:t>better understanding mechanisms for behavior and belief change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Font typeface="Arial"/>
              <a:buNone/>
            </a:pPr>
            <a:r>
              <a:rPr lang="en-US"/>
              <a:t>The first project showed how expert judgment can define a measurable task in an open-ended domain. </a:t>
            </a:r>
            <a:endParaRPr/>
          </a:p>
          <a:p>
            <a:pPr indent="0" lvl="0" marL="0" marR="0" rtl="0" algn="l">
              <a:lnSpc>
                <a:spcPct val="100000"/>
              </a:lnSpc>
              <a:spcBef>
                <a:spcPts val="0"/>
              </a:spcBef>
              <a:spcAft>
                <a:spcPts val="0"/>
              </a:spcAft>
              <a:buSzPts val="1200"/>
              <a:buFont typeface="Arial"/>
              <a:buNone/>
            </a:pPr>
            <a:r>
              <a:t/>
            </a:r>
            <a:endParaRPr/>
          </a:p>
          <a:p>
            <a:pPr indent="0" lvl="0" marL="0" marR="0" rtl="0" algn="l">
              <a:lnSpc>
                <a:spcPct val="100000"/>
              </a:lnSpc>
              <a:spcBef>
                <a:spcPts val="0"/>
              </a:spcBef>
              <a:spcAft>
                <a:spcPts val="0"/>
              </a:spcAft>
              <a:buSzPts val="1200"/>
              <a:buFont typeface="Arial"/>
              <a:buNone/>
            </a:pPr>
            <a:r>
              <a:rPr lang="en-US"/>
              <a:t>The next project asks a complementary question: once LLMs generate outputs in a open-ended domain like law, how do we evaluate whether those outputs are actually good?</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Key idea: SCOTUS opinions come with an authoritative syllabus—a structured summary meant to reflect what matters.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can treat that as a strong reference point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Long-context is real in this data—opinions are large, and they’ve grown over time. The syllabus summaries are long too.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Public on huggingface, download over 5 thousand times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Font typeface="Arial"/>
              <a:buNone/>
            </a:pPr>
            <a:r>
              <a:rPr lang="en-US"/>
              <a:t>This reveals a mismatch: reference summaries are useful for dataset construction, but overlap with references is not the same as expert-perceived quality.</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the legal setting, we saw that expert evaluation is hard even when the output is a summary.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final project moves from evaluation to design: </a:t>
            </a:r>
            <a:endParaRPr/>
          </a:p>
          <a:p>
            <a:pPr indent="0" lvl="0" marL="0" rtl="0" algn="l">
              <a:spcBef>
                <a:spcPts val="0"/>
              </a:spcBef>
              <a:spcAft>
                <a:spcPts val="0"/>
              </a:spcAft>
              <a:buNone/>
            </a:pPr>
            <a:r>
              <a:rPr lang="en-US"/>
              <a:t>can we build an AI system to support civic reasoning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Start with motivation.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sycophancy - adopt and defer to user perspective in many cases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fail to challenge underlying beliefs of assumptions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hindering the ability to learn new perspective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Font typeface="Arial"/>
              <a:buNone/>
            </a:pPr>
            <a:r>
              <a:rPr lang="en-US"/>
              <a:t>Ballot measures are a useful setting because voters must make consequential decisions from text that is often legally complex, low-salience, and hard to interpret.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More prior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Problem here, do we address this partisanship concern?? m?</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8" name="Google Shape;548;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solidFill>
                  <a:srgbClr val="FF0000"/>
                </a:solidFill>
              </a:rPr>
              <a:t>DESCRIBE EACH CHATBOT BETTER</a:t>
            </a:r>
            <a:endParaRPr/>
          </a:p>
          <a:p>
            <a:pPr indent="0" lvl="0" marL="0" rtl="0" algn="l">
              <a:spcBef>
                <a:spcPts val="0"/>
              </a:spcBef>
              <a:spcAft>
                <a:spcPts val="0"/>
              </a:spcAft>
              <a:buNone/>
            </a:pPr>
            <a:r>
              <a:t/>
            </a:r>
            <a:endParaRPr b="1">
              <a:solidFill>
                <a:srgbClr val="FF0000"/>
              </a:solidFill>
            </a:endParaRPr>
          </a:p>
          <a:p>
            <a:pPr indent="0" lvl="0" marL="0" rtl="0" algn="l">
              <a:spcBef>
                <a:spcPts val="0"/>
              </a:spcBef>
              <a:spcAft>
                <a:spcPts val="0"/>
              </a:spcAft>
              <a:buNone/>
            </a:pPr>
            <a:r>
              <a:rPr lang="en-US"/>
              <a:t>three theoretically-motivated models of how citizens should engage with political questions</a:t>
            </a:r>
            <a:endParaRPr b="1">
              <a:solidFill>
                <a:srgbClr val="FF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Font typeface="Arial"/>
              <a:buNone/>
            </a:pPr>
            <a:r>
              <a:rPr lang="en-US"/>
              <a:t>We chose two measures that differ in topic, complexity, and likely ideological valence. (</a:t>
            </a:r>
            <a:r>
              <a:rPr b="1" lang="en-US"/>
              <a:t>maybe make this title?)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Don’t forget to know/include technical details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what is better about them?</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4" name="Google Shape;604;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results are pretty cool!</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 name="Google Shape;626;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latin typeface="Arial"/>
                <a:ea typeface="Arial"/>
                <a:cs typeface="Arial"/>
                <a:sym typeface="Arial"/>
              </a:rPr>
              <a:t>treatments shift vote distributions across both MEASURES and REDUCE ABSTENTION.</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3" name="Google Shape;633;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latin typeface="Arial"/>
                <a:ea typeface="Arial"/>
                <a:cs typeface="Arial"/>
                <a:sym typeface="Arial"/>
              </a:rPr>
              <a:t>But when we look at how the Yes vote shifts, we see different patterns across the two measures.</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marR="0" rtl="0" algn="l">
              <a:lnSpc>
                <a:spcPct val="100000"/>
              </a:lnSpc>
              <a:spcBef>
                <a:spcPts val="0"/>
              </a:spcBef>
              <a:spcAft>
                <a:spcPts val="0"/>
              </a:spcAft>
              <a:buSzPts val="1200"/>
              <a:buFont typeface="Arial"/>
              <a:buNone/>
            </a:pPr>
            <a:r>
              <a:rPr b="0" i="0" lang="en-US" sz="1200">
                <a:latin typeface="Arial"/>
                <a:ea typeface="Arial"/>
                <a:cs typeface="Arial"/>
                <a:sym typeface="Arial"/>
              </a:rPr>
              <a:t>*CLICK*</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information intervention is not simply increasing or decreasing support in a single direction. </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effects depend on the content of the measure and the reasons participants encounter.</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rtl="0" algn="l">
              <a:spcBef>
                <a:spcPts val="0"/>
              </a:spcBef>
              <a:spcAft>
                <a:spcPts val="0"/>
              </a:spcAft>
              <a:buNone/>
            </a:pPr>
            <a:r>
              <a:rPr b="0" i="0" lang="en-US" sz="1200">
                <a:latin typeface="Arial"/>
                <a:ea typeface="Arial"/>
                <a:cs typeface="Arial"/>
                <a:sym typeface="Arial"/>
              </a:rPr>
              <a:t>*CLICK*</a:t>
            </a:r>
            <a:endParaRPr/>
          </a:p>
          <a:p>
            <a:pPr indent="0" lvl="0" marL="0" rtl="0" algn="l">
              <a:spcBef>
                <a:spcPts val="0"/>
              </a:spcBef>
              <a:spcAft>
                <a:spcPts val="0"/>
              </a:spcAft>
              <a:buNone/>
            </a:pPr>
            <a:r>
              <a:t/>
            </a:r>
            <a:endParaRPr b="0" i="0" sz="1200">
              <a:latin typeface="Arial"/>
              <a:ea typeface="Arial"/>
              <a:cs typeface="Arial"/>
              <a:sym typeface="Arial"/>
            </a:endParaRPr>
          </a:p>
          <a:p>
            <a:pPr indent="0" lvl="0" marL="0" marR="0" rtl="0" algn="l">
              <a:lnSpc>
                <a:spcPct val="100000"/>
              </a:lnSpc>
              <a:spcBef>
                <a:spcPts val="0"/>
              </a:spcBef>
              <a:spcAft>
                <a:spcPts val="0"/>
              </a:spcAft>
              <a:buSzPts val="1200"/>
              <a:buFont typeface="Arial"/>
              <a:buNone/>
            </a:pPr>
            <a:r>
              <a:rPr b="0" i="0" lang="en-US" sz="1200">
                <a:latin typeface="Arial"/>
                <a:ea typeface="Arial"/>
                <a:cs typeface="Arial"/>
                <a:sym typeface="Arial"/>
              </a:rPr>
              <a:t>strength and direction of the effect of the chat conditions varies by measures</a:t>
            </a:r>
            <a:endParaRPr/>
          </a:p>
          <a:p>
            <a:pPr indent="0" lvl="0" marL="0" marR="0" rtl="0" algn="l">
              <a:lnSpc>
                <a:spcPct val="100000"/>
              </a:lnSpc>
              <a:spcBef>
                <a:spcPts val="0"/>
              </a:spcBef>
              <a:spcAft>
                <a:spcPts val="0"/>
              </a:spcAft>
              <a:buSzPts val="1200"/>
              <a:buFont typeface="Arial"/>
              <a:buNone/>
            </a:pPr>
            <a:r>
              <a:t/>
            </a:r>
            <a:endParaRPr b="0" i="0" sz="1200">
              <a:latin typeface="Arial"/>
              <a:ea typeface="Arial"/>
              <a:cs typeface="Arial"/>
              <a:sym typeface="Arial"/>
            </a:endParaRPr>
          </a:p>
          <a:p>
            <a:pPr indent="0" lvl="0" marL="0" marR="0" rtl="0" algn="l">
              <a:lnSpc>
                <a:spcPct val="100000"/>
              </a:lnSpc>
              <a:spcBef>
                <a:spcPts val="0"/>
              </a:spcBef>
              <a:spcAft>
                <a:spcPts val="0"/>
              </a:spcAft>
              <a:buSzPts val="1200"/>
              <a:buFont typeface="Arial"/>
              <a:buNone/>
            </a:pPr>
            <a:r>
              <a:rPr b="0" i="0" lang="en-US" sz="1200">
                <a:latin typeface="Arial"/>
                <a:ea typeface="Arial"/>
                <a:cs typeface="Arial"/>
                <a:sym typeface="Arial"/>
              </a:rPr>
              <a:t>INTERESTING - MECHANISMS?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one final related finding</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3" name="Google Shape;653;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N=360 for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argue and reflect, participants spend more time and write longer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Further showing how these conditions promote active engagement and DEVELOP ARGUMENTS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7" name="Google Shape;717;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Ambiguity</a:t>
            </a:r>
            <a:endParaRPr/>
          </a:p>
          <a:p>
            <a:pPr indent="0" lvl="0" marL="0" rtl="0" algn="l">
              <a:spcBef>
                <a:spcPts val="0"/>
              </a:spcBef>
              <a:spcAft>
                <a:spcPts val="0"/>
              </a:spcAft>
              <a:buNone/>
            </a:pPr>
            <a:r>
              <a:rPr lang="en-US"/>
              <a:t>Resist ”x”</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4" name="Google Shape;72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1" name="Google Shape;731;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3" name="Google Shape;763;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One important result is that small fine-tuned models can do very well—often better than prompting a frontier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This matters operationally: if you want to measure narratives over millions of articles, cost and throughput matter.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These are F1 scores.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And as a methodological point: domain-specific pragmatic tasks were it is hard to explicitly write a comprehensive specification benefit from supervision.</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4" name="Google Shape;784;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narratives shape beliefs? (shiller mechanism)</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6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6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1" name="Google Shape;811;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Remove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8" name="Google Shape;818;p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what error bars are and why. I think these are ”t-based” 95% CI? Compare with Wilson’s?</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 name="Google Shape;839;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6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7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6" name="Google Shape;856;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3" name="Google Shape;863;p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Ambiguity</a:t>
            </a:r>
            <a:endParaRPr/>
          </a:p>
          <a:p>
            <a:pPr indent="0" lvl="0" marL="0" rtl="0" algn="l">
              <a:spcBef>
                <a:spcPts val="0"/>
              </a:spcBef>
              <a:spcAft>
                <a:spcPts val="0"/>
              </a:spcAft>
              <a:buNone/>
            </a:pPr>
            <a:r>
              <a:rPr lang="en-US"/>
              <a:t>Resist ”x”</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9" name="Google Shape;869;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Ambiguity</a:t>
            </a:r>
            <a:endParaRPr/>
          </a:p>
          <a:p>
            <a:pPr indent="0" lvl="0" marL="0" rtl="0" algn="l">
              <a:spcBef>
                <a:spcPts val="0"/>
              </a:spcBef>
              <a:spcAft>
                <a:spcPts val="0"/>
              </a:spcAft>
              <a:buNone/>
            </a:pPr>
            <a:r>
              <a:rPr lang="en-US"/>
              <a:t>Resist ”x”</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7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 name="Google Shape;87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2" name="Google Shape;882;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Narrative prevalence differs systematically: North vs South, Urban vs Rural, Dem vs Rep areas.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North emphasizes fiscal, south cost of living and interest rates</a:t>
            </a:r>
            <a:endParaRPr/>
          </a:p>
          <a:p>
            <a:pPr indent="0" lvl="0" marL="0" rtl="0" algn="l">
              <a:spcBef>
                <a:spcPts val="0"/>
              </a:spcBef>
              <a:spcAft>
                <a:spcPts val="0"/>
              </a:spcAft>
              <a:buNone/>
            </a:pPr>
            <a:r>
              <a:rPr lang="en-US" sz="1200">
                <a:latin typeface="Arial"/>
                <a:ea typeface="Arial"/>
                <a:cs typeface="Arial"/>
                <a:sym typeface="Arial"/>
              </a:rPr>
              <a:t>Urban emphasizes savings and fiscal.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Two uses:</a:t>
            </a:r>
            <a:endParaRPr/>
          </a:p>
          <a:p>
            <a:pPr indent="0" lvl="0" marL="0" rtl="0" algn="l">
              <a:spcBef>
                <a:spcPts val="0"/>
              </a:spcBef>
              <a:spcAft>
                <a:spcPts val="0"/>
              </a:spcAft>
              <a:buNone/>
            </a:pPr>
            <a:r>
              <a:rPr lang="en-US" sz="1200">
                <a:latin typeface="Arial"/>
                <a:ea typeface="Arial"/>
                <a:cs typeface="Arial"/>
                <a:sym typeface="Arial"/>
              </a:rPr>
              <a:t>1. Descriptive: mapping narrative ecosystems.</a:t>
            </a:r>
            <a:endParaRPr/>
          </a:p>
          <a:p>
            <a:pPr indent="0" lvl="0" marL="0" rtl="0" algn="l">
              <a:spcBef>
                <a:spcPts val="0"/>
              </a:spcBef>
              <a:spcAft>
                <a:spcPts val="0"/>
              </a:spcAft>
              <a:buNone/>
            </a:pPr>
            <a:r>
              <a:rPr lang="en-US" sz="1200">
                <a:latin typeface="Arial"/>
                <a:ea typeface="Arial"/>
                <a:cs typeface="Arial"/>
                <a:sym typeface="Arial"/>
              </a:rPr>
              <a:t>2. Causal/forecasting: tying narrative variation to belief and behavior differences.</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9" name="Google Shape;889;p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Narratives don’t just describe the economy—they’re a mechanism that can change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people think is causing inflation changes what they 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if we want to forecast or understand belief formation, we need tools to measure narrative framing—not just topics or sentiment.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*CLICK*</a:t>
            </a:r>
            <a:endParaRPr/>
          </a:p>
          <a:p>
            <a:pPr indent="0" lvl="0" marL="0" rtl="0" algn="l">
              <a:spcBef>
                <a:spcPts val="0"/>
              </a:spcBef>
              <a:spcAft>
                <a:spcPts val="0"/>
              </a:spcAft>
              <a:buNone/>
            </a:pPr>
            <a:r>
              <a:rPr lang="en-US"/>
              <a:t>Shiller hypothesized this idea most prominently in 2017. </a:t>
            </a:r>
            <a:endParaRPr/>
          </a:p>
          <a:p>
            <a:pPr indent="0" lvl="0" marL="0" rtl="0" algn="l">
              <a:spcBef>
                <a:spcPts val="0"/>
              </a:spcBef>
              <a:spcAft>
                <a:spcPts val="0"/>
              </a:spcAft>
              <a:buNone/>
            </a:pPr>
            <a:r>
              <a:rPr lang="en-US"/>
              <a:t>Since then work has come out that studies beliefs about the economy that spread contagiously, optimism vs pessimism, and theoretical frame works + structural models for belief change.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this work we focus on news articles and study what narratives are conveyed in them.</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Narratives shape beliefs</a:t>
            </a:r>
            <a:endParaRPr/>
          </a:p>
          <a:p>
            <a:pPr indent="0" lvl="0" marL="0" rtl="0" algn="l">
              <a:spcBef>
                <a:spcPts val="0"/>
              </a:spcBef>
              <a:spcAft>
                <a:spcPts val="0"/>
              </a:spcAft>
              <a:buNone/>
            </a:pPr>
            <a:r>
              <a:rPr lang="en-US"/>
              <a:t>Theoretical framework + structural model [Benabou et al. 2018]</a:t>
            </a:r>
            <a:endParaRPr/>
          </a:p>
          <a:p>
            <a:pPr indent="0" lvl="0" marL="0" rtl="0" algn="l">
              <a:spcBef>
                <a:spcPts val="0"/>
              </a:spcBef>
              <a:spcAft>
                <a:spcPts val="0"/>
              </a:spcAft>
              <a:buNone/>
            </a:pPr>
            <a:r>
              <a:rPr lang="en-US"/>
              <a:t>Beliefs about the economy that spread contagiously [Flynn &amp; Sastry 2022]</a:t>
            </a:r>
            <a:endParaRPr/>
          </a:p>
          <a:p>
            <a:pPr indent="0" lvl="0" marL="0" rtl="0" algn="l">
              <a:spcBef>
                <a:spcPts val="0"/>
              </a:spcBef>
              <a:spcAft>
                <a:spcPts val="0"/>
              </a:spcAft>
              <a:buNone/>
            </a:pPr>
            <a:r>
              <a:rPr lang="en-US"/>
              <a:t>Optimism vs. pessimism [Flynn &amp; Sastry 2022]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A HYPOTHESIS - CAN WE STUDY THIS EMPIRICALLY?</a:t>
            </a:r>
            <a:endParaRPr/>
          </a:p>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9" name="Google Shape;899;p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legal experts judge the summaries, they often prefer GPT-4—despite what the overlap metrics say.</a:t>
            </a:r>
            <a:endParaRPr/>
          </a:p>
          <a:p>
            <a:pPr indent="0" lvl="0" marL="0" rtl="0" algn="l">
              <a:spcBef>
                <a:spcPts val="0"/>
              </a:spcBef>
              <a:spcAft>
                <a:spcPts val="0"/>
              </a:spcAft>
              <a:buNone/>
            </a:pPr>
            <a:r>
              <a:rPr lang="en-US"/>
              <a:t>We evaluate dimensions like:</a:t>
            </a:r>
            <a:endParaRPr/>
          </a:p>
          <a:p>
            <a:pPr indent="0" lvl="0" marL="0" rtl="0" algn="l">
              <a:spcBef>
                <a:spcPts val="0"/>
              </a:spcBef>
              <a:spcAft>
                <a:spcPts val="0"/>
              </a:spcAft>
              <a:buNone/>
            </a:pPr>
            <a:r>
              <a:rPr lang="en-US"/>
              <a:t>•Sensitivity: did you include relevant info?</a:t>
            </a:r>
            <a:endParaRPr/>
          </a:p>
          <a:p>
            <a:pPr indent="0" lvl="0" marL="0" rtl="0" algn="l">
              <a:spcBef>
                <a:spcPts val="0"/>
              </a:spcBef>
              <a:spcAft>
                <a:spcPts val="0"/>
              </a:spcAft>
              <a:buNone/>
            </a:pPr>
            <a:r>
              <a:rPr lang="en-US"/>
              <a:t>- Specificity: did you exclude irrelevant info?</a:t>
            </a:r>
            <a:endParaRPr/>
          </a:p>
          <a:p>
            <a:pPr indent="-119269" lvl="0" marL="119269" rtl="0" algn="l">
              <a:spcBef>
                <a:spcPts val="0"/>
              </a:spcBef>
              <a:spcAft>
                <a:spcPts val="0"/>
              </a:spcAft>
              <a:buSzPts val="1200"/>
              <a:buFont typeface="Arial"/>
              <a:buChar char="-"/>
            </a:pPr>
            <a:r>
              <a:rPr lang="en-US"/>
              <a:t>plus clarity/style and concrete error counts.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gets one of the core challenges with summarization, particular in this context:</a:t>
            </a:r>
            <a:endParaRPr/>
          </a:p>
          <a:p>
            <a:pPr indent="0" lvl="0" marL="0" rtl="0" algn="l">
              <a:spcBef>
                <a:spcPts val="0"/>
              </a:spcBef>
              <a:spcAft>
                <a:spcPts val="0"/>
              </a:spcAft>
              <a:buNone/>
            </a:pPr>
            <a:r>
              <a:rPr lang="en-US"/>
              <a:t> automatic metrics prefer one behavior; experts prefer another.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Mistral FT: high metric scores, but hallucinations/errors reported by experts.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did the summary contain all relevant information from the opinion (sensitivity)</a:t>
            </a:r>
            <a:endParaRPr/>
          </a:p>
          <a:p>
            <a:pPr indent="0" lvl="0" marL="0" rtl="0" algn="l">
              <a:spcBef>
                <a:spcPts val="0"/>
              </a:spcBef>
              <a:spcAft>
                <a:spcPts val="0"/>
              </a:spcAft>
              <a:buNone/>
            </a:pPr>
            <a:r>
              <a:rPr lang="en-US"/>
              <a:t>did it exclude irrelevant information (specificity)</a:t>
            </a:r>
            <a:endParaRPr/>
          </a:p>
          <a:p>
            <a:pPr indent="0" lvl="0" marL="0" rtl="0" algn="l">
              <a:spcBef>
                <a:spcPts val="0"/>
              </a:spcBef>
              <a:spcAft>
                <a:spcPts val="0"/>
              </a:spcAft>
              <a:buNone/>
            </a:pPr>
            <a:r>
              <a:rPr lang="en-US"/>
              <a:t>was the summary clear (clarity)</a:t>
            </a:r>
            <a:endParaRPr/>
          </a:p>
          <a:p>
            <a:pPr indent="0" lvl="0" marL="0" rtl="0" algn="l">
              <a:spcBef>
                <a:spcPts val="0"/>
              </a:spcBef>
              <a:spcAft>
                <a:spcPts val="0"/>
              </a:spcAft>
              <a:buNone/>
            </a:pPr>
            <a:r>
              <a:rPr lang="en-US"/>
              <a:t>did the summary have a style suggesting it was written by an experienced attorney? (style) </a:t>
            </a:r>
            <a:endParaRPr/>
          </a:p>
          <a:p>
            <a:pPr indent="0" lvl="0" marL="0" rtl="0" algn="l">
              <a:spcBef>
                <a:spcPts val="0"/>
              </a:spcBef>
              <a:spcAft>
                <a:spcPts val="0"/>
              </a:spcAft>
              <a:buNone/>
            </a:pPr>
            <a:r>
              <a:rPr lang="en-US"/>
              <a:t>Finally, we asked students to report the number of facts in the summary that were false based on their reading of the opinion (error).</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3" name="Google Shape;913;p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models improve, errors aren’t always blatant fabrications.</a:t>
            </a:r>
            <a:endParaRPr/>
          </a:p>
          <a:p>
            <a:pPr indent="0" lvl="0" marL="0" rtl="0" algn="l">
              <a:spcBef>
                <a:spcPts val="0"/>
              </a:spcBef>
              <a:spcAft>
                <a:spcPts val="0"/>
              </a:spcAft>
              <a:buNone/>
            </a:pPr>
            <a:r>
              <a:rPr lang="en-US"/>
              <a:t>They’re often subtle shifts that require expertise to and attention to catch. What *details* are key vs which are not.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consider a couple examples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Those are the “hallucinations” we see more of.</a:t>
            </a:r>
            <a:endParaRPr/>
          </a:p>
          <a:p>
            <a:pPr indent="0" lvl="0" marL="0" rtl="0" algn="l">
              <a:spcBef>
                <a:spcPts val="0"/>
              </a:spcBef>
              <a:spcAft>
                <a:spcPts val="0"/>
              </a:spcAft>
              <a:buNone/>
            </a:pPr>
            <a:r>
              <a:rPr lang="en-US"/>
              <a:t>So evaluation gets harder as models get more fluent.</a:t>
            </a:r>
            <a:endParaRPr/>
          </a:p>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3" name="Google Shape;923;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1" name="Google Shape;931;p7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Summarization requires judgment about what’s important; long documents make that harder.</a:t>
            </a:r>
            <a:endParaRPr/>
          </a:p>
          <a:p>
            <a:pPr indent="0" lvl="0" marL="0" rtl="0" algn="l">
              <a:spcBef>
                <a:spcPts val="0"/>
              </a:spcBef>
              <a:spcAft>
                <a:spcPts val="0"/>
              </a:spcAft>
              <a:buNone/>
            </a:pPr>
            <a:r>
              <a:rPr lang="en-US" sz="1200">
                <a:latin typeface="Arial"/>
                <a:ea typeface="Arial"/>
                <a:cs typeface="Arial"/>
                <a:sym typeface="Arial"/>
              </a:rPr>
              <a:t>In law, these choices matter—what you include/exclude can change interpretation.</a:t>
            </a:r>
            <a:endParaRPr/>
          </a:p>
          <a:p>
            <a:pPr indent="0" lvl="0" marL="0" rtl="0" algn="l">
              <a:spcBef>
                <a:spcPts val="0"/>
              </a:spcBef>
              <a:spcAft>
                <a:spcPts val="0"/>
              </a:spcAft>
              <a:buNone/>
            </a:pPr>
            <a:r>
              <a:rPr lang="en-US" sz="1200">
                <a:latin typeface="Arial"/>
                <a:ea typeface="Arial"/>
                <a:cs typeface="Arial"/>
                <a:sym typeface="Arial"/>
              </a:rPr>
              <a:t>LLMs are claimed to handle long-context well. The question is: how well, when carefully evaluated</a:t>
            </a:r>
            <a:endParaRPr/>
          </a:p>
          <a:p>
            <a:pPr indent="0" lvl="0" marL="0" rtl="0" algn="l">
              <a:spcBef>
                <a:spcPts val="0"/>
              </a:spcBef>
              <a:spcAft>
                <a:spcPts val="0"/>
              </a:spcAft>
              <a:buNone/>
            </a:pPr>
            <a:r>
              <a:rPr lang="en-US" sz="1200">
                <a:latin typeface="Arial"/>
                <a:ea typeface="Arial"/>
                <a:cs typeface="Arial"/>
                <a:sym typeface="Arial"/>
              </a:rPr>
              <a:t>CaseSumm is a benchmark designed around this setting.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DONE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Summarization involves judgment: what counts as “important” depends on the goal and audience.</a:t>
            </a:r>
            <a:endParaRPr/>
          </a:p>
          <a:p>
            <a:pPr indent="0" lvl="0" marL="0" rtl="0" algn="l">
              <a:spcBef>
                <a:spcPts val="0"/>
              </a:spcBef>
              <a:spcAft>
                <a:spcPts val="0"/>
              </a:spcAft>
              <a:buNone/>
            </a:pPr>
            <a:r>
              <a:rPr lang="en-US" sz="1200">
                <a:latin typeface="Arial"/>
                <a:ea typeface="Arial"/>
                <a:cs typeface="Arial"/>
                <a:sym typeface="Arial"/>
              </a:rPr>
              <a:t>Long documents make that judgment harder: there are many defensible choices about what to include, omit, and emphasize.  </a:t>
            </a:r>
            <a:endParaRPr/>
          </a:p>
          <a:p>
            <a:pPr indent="0" lvl="0" marL="0" rtl="0" algn="l">
              <a:spcBef>
                <a:spcPts val="0"/>
              </a:spcBef>
              <a:spcAft>
                <a:spcPts val="0"/>
              </a:spcAft>
              <a:buNone/>
            </a:pPr>
            <a:r>
              <a:rPr lang="en-US" sz="1200">
                <a:latin typeface="Arial"/>
                <a:ea typeface="Arial"/>
                <a:cs typeface="Arial"/>
                <a:sym typeface="Arial"/>
              </a:rPr>
              <a:t>In high-stakes settings, those choices have consequences: small omissions or shifts in emphasis can change the takeaway.  </a:t>
            </a:r>
            <a:endParaRPr/>
          </a:p>
          <a:p>
            <a:pPr indent="0" lvl="0" marL="0" rtl="0" algn="l">
              <a:spcBef>
                <a:spcPts val="0"/>
              </a:spcBef>
              <a:spcAft>
                <a:spcPts val="0"/>
              </a:spcAft>
              <a:buNone/>
            </a:pPr>
            <a:r>
              <a:rPr lang="en-US" sz="1200">
                <a:latin typeface="Arial"/>
                <a:ea typeface="Arial"/>
                <a:cs typeface="Arial"/>
                <a:sym typeface="Arial"/>
              </a:rPr>
              <a:t>So evaluation is the bottleneck: reference overlap and LLM-based judging can diverge from expert human judgments of quality. </a:t>
            </a:r>
            <a:endParaRPr/>
          </a:p>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8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 name="Google Shape;939;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p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As a starting point we investigate what our narratives can tell us about people’s inflation expectations.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Inflation expectations are important because they can end up driving real inflation and people’s behaviors.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More concretely, the target outcome we are interested in expected inflation over the next 12 months.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Start of simple – we’ll do reduced form regressions with some basic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We compute narrative shares by time × region, then relate them to survey inflation expectations controlling for realized inflation and standard predictors.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I’ll highlight some findings from these analyses.</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8" name="Google Shape;1018;p8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But summary quality varies by task and domain</a:t>
            </a:r>
            <a:endParaRPr/>
          </a:p>
          <a:p>
            <a:pPr indent="0" lvl="0" marL="0" rtl="0" algn="l">
              <a:spcBef>
                <a:spcPts val="0"/>
              </a:spcBef>
              <a:spcAft>
                <a:spcPts val="0"/>
              </a:spcAft>
              <a:buNone/>
            </a:pPr>
            <a:r>
              <a:rPr lang="en-US" sz="1200">
                <a:latin typeface="Arial"/>
                <a:ea typeface="Arial"/>
                <a:cs typeface="Arial"/>
                <a:sym typeface="Arial"/>
              </a:rPr>
              <a:t>So generic task evals are insufficient</a:t>
            </a:r>
            <a:endParaRPr/>
          </a:p>
          <a:p>
            <a:pPr indent="0" lvl="0" marL="0" rtl="0" algn="l">
              <a:spcBef>
                <a:spcPts val="0"/>
              </a:spcBef>
              <a:spcAft>
                <a:spcPts val="0"/>
              </a:spcAft>
              <a:buNone/>
            </a:pPr>
            <a:r>
              <a:rPr lang="en-US" sz="1200">
                <a:latin typeface="Arial"/>
                <a:ea typeface="Arial"/>
                <a:cs typeface="Arial"/>
                <a:sym typeface="Arial"/>
              </a:rPr>
              <a:t>So eval of summaries must be domain specific</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5" name="Google Shape;1025;p8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test three evaluation approaches:</a:t>
            </a:r>
            <a:endParaRPr/>
          </a:p>
          <a:p>
            <a:pPr indent="0" lvl="0" marL="0" rtl="0" algn="l">
              <a:spcBef>
                <a:spcPts val="0"/>
              </a:spcBef>
              <a:spcAft>
                <a:spcPts val="0"/>
              </a:spcAft>
              <a:buNone/>
            </a:pPr>
            <a:r>
              <a:rPr lang="en-US"/>
              <a:t>- Reference-overlap metrics (fast, but can reward superficial overlap),</a:t>
            </a:r>
            <a:endParaRPr/>
          </a:p>
          <a:p>
            <a:pPr indent="0" lvl="0" marL="0" rtl="0" algn="l">
              <a:spcBef>
                <a:spcPts val="0"/>
              </a:spcBef>
              <a:spcAft>
                <a:spcPts val="0"/>
              </a:spcAft>
              <a:buNone/>
            </a:pPr>
            <a:r>
              <a:rPr lang="en-US"/>
              <a:t>- Expert human evaluation (gold standard, but expensive),</a:t>
            </a:r>
            <a:endParaRPr/>
          </a:p>
          <a:p>
            <a:pPr indent="-119269" lvl="0" marL="119269" rtl="0" algn="l">
              <a:spcBef>
                <a:spcPts val="0"/>
              </a:spcBef>
              <a:spcAft>
                <a:spcPts val="0"/>
              </a:spcAft>
              <a:buSzPts val="1200"/>
              <a:buFont typeface="Arial"/>
              <a:buChar char="-"/>
            </a:pPr>
            <a:r>
              <a:rPr lang="en-US"/>
              <a:t>LLM-based evaluation (scalable, but reliability is the question).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design goal is not just to score models—it’s to measure where these paradigms disagree.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I’ll discuss more specifics about methods we use as we go through concrete. Let’s do that now.</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Evaluating long-context summarization is hard for three concrete reasons: </a:t>
            </a:r>
            <a:endParaRPr/>
          </a:p>
          <a:p>
            <a:pPr indent="0" lvl="0" marL="0" rtl="0" algn="l">
              <a:spcBef>
                <a:spcPts val="0"/>
              </a:spcBef>
              <a:spcAft>
                <a:spcPts val="0"/>
              </a:spcAft>
              <a:buNone/>
            </a:pPr>
            <a:r>
              <a:rPr lang="en-US"/>
              <a:t>(i) ground-truth summaries often aren’t available, </a:t>
            </a:r>
            <a:endParaRPr/>
          </a:p>
          <a:p>
            <a:pPr indent="0" lvl="0" marL="0" rtl="0" algn="l">
              <a:spcBef>
                <a:spcPts val="0"/>
              </a:spcBef>
              <a:spcAft>
                <a:spcPts val="0"/>
              </a:spcAft>
              <a:buNone/>
            </a:pPr>
            <a:r>
              <a:rPr lang="en-US"/>
              <a:t>(ii) even when humans write them, it’s unclear we should treat them as “ground truth,” </a:t>
            </a:r>
            <a:endParaRPr/>
          </a:p>
          <a:p>
            <a:pPr indent="0" lvl="0" marL="0" rtl="0" algn="l">
              <a:spcBef>
                <a:spcPts val="0"/>
              </a:spcBef>
              <a:spcAft>
                <a:spcPts val="0"/>
              </a:spcAft>
              <a:buNone/>
            </a:pPr>
            <a:r>
              <a:rPr lang="en-US"/>
              <a:t>and </a:t>
            </a:r>
            <a:endParaRPr/>
          </a:p>
          <a:p>
            <a:pPr indent="0" lvl="0" marL="0" rtl="0" algn="l">
              <a:spcBef>
                <a:spcPts val="0"/>
              </a:spcBef>
              <a:spcAft>
                <a:spcPts val="0"/>
              </a:spcAft>
              <a:buNone/>
            </a:pPr>
            <a:r>
              <a:rPr lang="en-US"/>
              <a:t>(iii) “good summary” depends on domain/setting and often requires expertise.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Lexical:</a:t>
            </a:r>
            <a:endParaRPr/>
          </a:p>
          <a:p>
            <a:pPr indent="0" lvl="0" marL="0" rtl="0" algn="l">
              <a:spcBef>
                <a:spcPts val="0"/>
              </a:spcBef>
              <a:spcAft>
                <a:spcPts val="0"/>
              </a:spcAft>
              <a:buNone/>
            </a:pPr>
            <a:r>
              <a:rPr lang="en-US"/>
              <a:t>ROUGE, BLEU, METEOR,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Semantic:</a:t>
            </a:r>
            <a:endParaRPr/>
          </a:p>
          <a:p>
            <a:pPr indent="0" lvl="0" marL="0" rtl="0" algn="l">
              <a:spcBef>
                <a:spcPts val="0"/>
              </a:spcBef>
              <a:spcAft>
                <a:spcPts val="0"/>
              </a:spcAft>
              <a:buNone/>
            </a:pPr>
            <a:r>
              <a:rPr lang="en-US"/>
              <a:t>BERTScore, BARTScore, etc.</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4" name="Google Shape;1044;p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you optimize for ROUGE/BERTScore, you tend to produce syllabus-shaped summaries.</a:t>
            </a:r>
            <a:endParaRPr/>
          </a:p>
          <a:p>
            <a:pPr indent="0" lvl="0" marL="0" rtl="0" algn="l">
              <a:spcBef>
                <a:spcPts val="0"/>
              </a:spcBef>
              <a:spcAft>
                <a:spcPts val="0"/>
              </a:spcAft>
              <a:buNone/>
            </a:pPr>
            <a:r>
              <a:rPr lang="en-US"/>
              <a:t>A fine-tuned model can ‘win’ on overlap metrics.</a:t>
            </a:r>
            <a:endParaRPr/>
          </a:p>
          <a:p>
            <a:pPr indent="0" lvl="0" marL="0" rtl="0" algn="l">
              <a:spcBef>
                <a:spcPts val="0"/>
              </a:spcBef>
              <a:spcAft>
                <a:spcPts val="0"/>
              </a:spcAft>
              <a:buNone/>
            </a:pPr>
            <a:r>
              <a:rPr lang="en-US"/>
              <a:t>But overlap isn’t the same as capturing the opinion’s substance for human readers.</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5" name="Google Shape;1055;p8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tempting fix is: use an LLM as judge.</a:t>
            </a:r>
            <a:endParaRPr/>
          </a:p>
          <a:p>
            <a:pPr indent="0" lvl="0" marL="0" rtl="0" algn="l">
              <a:spcBef>
                <a:spcPts val="0"/>
              </a:spcBef>
              <a:spcAft>
                <a:spcPts val="0"/>
              </a:spcAft>
              <a:buNone/>
            </a:pPr>
            <a:r>
              <a:rPr lang="en-US"/>
              <a:t>But agreement with expert judgments is weak and inconsistent—sometimes near zero or even negative.</a:t>
            </a:r>
            <a:endParaRPr/>
          </a:p>
          <a:p>
            <a:pPr indent="0" lvl="0" marL="0" rtl="0" algn="l">
              <a:spcBef>
                <a:spcPts val="0"/>
              </a:spcBef>
              <a:spcAft>
                <a:spcPts val="0"/>
              </a:spcAft>
              <a:buNone/>
            </a:pPr>
            <a:r>
              <a:rPr lang="en-US"/>
              <a:t>So we can’t just swap human experts with LLMs without careful validation.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use G-Eval, which is/was a commonly used LLM-as-a-judge framework.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All G-eval scores correlate with Sensitivity the most. As well as Clarity and Style to a lesser extent.</a:t>
            </a:r>
            <a:endParaRPr/>
          </a:p>
          <a:p>
            <a:pPr indent="0" lvl="0" marL="0" rtl="0" algn="l">
              <a:spcBef>
                <a:spcPts val="0"/>
              </a:spcBef>
              <a:spcAft>
                <a:spcPts val="0"/>
              </a:spcAft>
              <a:buNone/>
            </a:pPr>
            <a:r>
              <a:rPr lang="en-US"/>
              <a:t>No G-eval criteria correlates with Specificity.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did the summary contain all relevant information from the opinion (sensitivity)</a:t>
            </a:r>
            <a:endParaRPr/>
          </a:p>
          <a:p>
            <a:pPr indent="0" lvl="0" marL="0" rtl="0" algn="l">
              <a:spcBef>
                <a:spcPts val="0"/>
              </a:spcBef>
              <a:spcAft>
                <a:spcPts val="0"/>
              </a:spcAft>
              <a:buNone/>
            </a:pPr>
            <a:r>
              <a:rPr lang="en-US"/>
              <a:t>did it exclude irrelevant information (specificity)</a:t>
            </a:r>
            <a:endParaRPr/>
          </a:p>
          <a:p>
            <a:pPr indent="0" lvl="0" marL="0" rtl="0" algn="l">
              <a:spcBef>
                <a:spcPts val="0"/>
              </a:spcBef>
              <a:spcAft>
                <a:spcPts val="0"/>
              </a:spcAft>
              <a:buNone/>
            </a:pPr>
            <a:r>
              <a:rPr lang="en-US"/>
              <a:t>was the summary clear (clarity)</a:t>
            </a:r>
            <a:endParaRPr/>
          </a:p>
          <a:p>
            <a:pPr indent="0" lvl="0" marL="0" rtl="0" algn="l">
              <a:spcBef>
                <a:spcPts val="0"/>
              </a:spcBef>
              <a:spcAft>
                <a:spcPts val="0"/>
              </a:spcAft>
              <a:buNone/>
            </a:pPr>
            <a:r>
              <a:rPr lang="en-US"/>
              <a:t>did the summary have a style suggesting it was written by an experienced attorney? (style) </a:t>
            </a:r>
            <a:endParaRPr/>
          </a:p>
          <a:p>
            <a:pPr indent="0" lvl="0" marL="0" rtl="0" algn="l">
              <a:spcBef>
                <a:spcPts val="0"/>
              </a:spcBef>
              <a:spcAft>
                <a:spcPts val="0"/>
              </a:spcAft>
              <a:buNone/>
            </a:pPr>
            <a:r>
              <a:rPr lang="en-US"/>
              <a:t>Finally, we asked students to report the number of facts in the summary that were false based on their reading of the opinion (error).</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3" name="Google Shape;1063;p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My dissertation agenda: develop methods to model language that shapes decisions—especially in consequential settings.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Three main threads:</a:t>
            </a:r>
            <a:endParaRPr/>
          </a:p>
          <a:p>
            <a:pPr indent="0" lvl="0" marL="0" rtl="0" algn="l">
              <a:spcBef>
                <a:spcPts val="0"/>
              </a:spcBef>
              <a:spcAft>
                <a:spcPts val="0"/>
              </a:spcAft>
              <a:buNone/>
            </a:pPr>
            <a:r>
              <a:rPr lang="en-US" sz="1200">
                <a:latin typeface="Arial"/>
                <a:ea typeface="Arial"/>
                <a:cs typeface="Arial"/>
                <a:sym typeface="Arial"/>
              </a:rPr>
              <a:t>1. Extract decision-relevant language at scale (Causal Micro-Narratives).</a:t>
            </a:r>
            <a:endParaRPr/>
          </a:p>
          <a:p>
            <a:pPr indent="0" lvl="0" marL="0" rtl="0" algn="l">
              <a:spcBef>
                <a:spcPts val="0"/>
              </a:spcBef>
              <a:spcAft>
                <a:spcPts val="0"/>
              </a:spcAft>
              <a:buNone/>
            </a:pPr>
            <a:r>
              <a:rPr lang="en-US" sz="1200">
                <a:latin typeface="Arial"/>
                <a:ea typeface="Arial"/>
                <a:cs typeface="Arial"/>
                <a:sym typeface="Arial"/>
              </a:rPr>
              <a:t>2. Evaluate LLM outputs in consequential domains (CaseSumm + related eval work).</a:t>
            </a:r>
            <a:endParaRPr/>
          </a:p>
          <a:p>
            <a:pPr indent="0" lvl="0" marL="0" rtl="0" algn="l">
              <a:spcBef>
                <a:spcPts val="0"/>
              </a:spcBef>
              <a:spcAft>
                <a:spcPts val="0"/>
              </a:spcAft>
              <a:buNone/>
            </a:pPr>
            <a:r>
              <a:rPr lang="en-US" sz="1200">
                <a:latin typeface="Arial"/>
                <a:ea typeface="Arial"/>
                <a:cs typeface="Arial"/>
                <a:sym typeface="Arial"/>
              </a:rPr>
              <a:t>3. Build AI that supports human deliberation (ongoing/proposed).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I’ll spend most time on the first two, then end with the deliberation direction.</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8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0" name="Google Shape;1070;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8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2" name="Google Shape;1082;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8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9" name="Google Shape;1089;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2" name="Google Shape;1102;p9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Two shorter threads that connect to the same theme—how language model behavior diverges from what humans need.</a:t>
            </a:r>
            <a:endParaRPr/>
          </a:p>
          <a:p>
            <a:pPr indent="0" lvl="0" marL="0" rtl="0" algn="l">
              <a:spcBef>
                <a:spcPts val="0"/>
              </a:spcBef>
              <a:spcAft>
                <a:spcPts val="0"/>
              </a:spcAft>
              <a:buNone/>
            </a:pPr>
            <a:r>
              <a:t/>
            </a:r>
            <a:endParaRPr/>
          </a:p>
          <a:p>
            <a:pPr indent="-160421" lvl="0" marL="160421" rtl="0" algn="l">
              <a:spcBef>
                <a:spcPts val="0"/>
              </a:spcBef>
              <a:spcAft>
                <a:spcPts val="0"/>
              </a:spcAft>
              <a:buSzPts val="1200"/>
              <a:buFont typeface="Arial"/>
              <a:buAutoNum type="arabicPeriod"/>
            </a:pPr>
            <a:r>
              <a:rPr lang="en-US" sz="1200">
                <a:latin typeface="Arial"/>
                <a:ea typeface="Arial"/>
                <a:cs typeface="Arial"/>
                <a:sym typeface="Arial"/>
              </a:rPr>
              <a:t>LLMs as negotiators: they anchor at extremes and don’t adapt leverage/context like humans.</a:t>
            </a:r>
            <a:endParaRPr/>
          </a:p>
          <a:p>
            <a:pPr indent="-160421" lvl="0" marL="160421" rtl="0" algn="l">
              <a:spcBef>
                <a:spcPts val="0"/>
              </a:spcBef>
              <a:spcAft>
                <a:spcPts val="0"/>
              </a:spcAft>
              <a:buSzPts val="1200"/>
              <a:buFont typeface="Arial"/>
              <a:buAutoNum type="arabicPeriod"/>
            </a:pPr>
            <a:r>
              <a:rPr lang="en-US" sz="1200">
                <a:latin typeface="Arial"/>
                <a:ea typeface="Arial"/>
                <a:cs typeface="Arial"/>
                <a:sym typeface="Arial"/>
              </a:rPr>
              <a:t>Compressing reasoning traces: reasoning models are expensive; full internalization doesn’t scale; but you can compress reasoning with manageable tradeoffs.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 Both reinforce: evaluation has to reflect human goals, not just model-internal proxies.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 want to briefly mention to additional works I’ve done which contribute to my overall research agenda.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This first project supports my aim of evaluating LLMs in consequential domains.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The second is about efficiency and real world utility of LLMs, an important consideration when deploying this systems in practice.</a:t>
            </a:r>
            <a:endParaRPr/>
          </a:p>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9" name="Google Shape;1109;p9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we've seen two pieces of the story: any treatment reduces abstention, and the</a:t>
            </a:r>
            <a:endParaRPr/>
          </a:p>
          <a:p>
            <a:pPr indent="0" lvl="0" marL="0" rtl="0" algn="l">
              <a:spcBef>
                <a:spcPts val="0"/>
              </a:spcBef>
              <a:spcAft>
                <a:spcPts val="0"/>
              </a:spcAft>
              <a:buNone/>
            </a:pPr>
            <a:r>
              <a:rPr lang="en-US"/>
              <a:t>  ▎ direction of vote shift is set by the topic. But there's something the first two</a:t>
            </a:r>
            <a:endParaRPr/>
          </a:p>
          <a:p>
            <a:pPr indent="0" lvl="0" marL="0" rtl="0" algn="l">
              <a:spcBef>
                <a:spcPts val="0"/>
              </a:spcBef>
              <a:spcAft>
                <a:spcPts val="0"/>
              </a:spcAft>
              <a:buNone/>
            </a:pPr>
            <a:r>
              <a:rPr lang="en-US"/>
              <a:t>  ▎ mechanisms can't explain. Look at just the chat conditions. In Colorado, the</a:t>
            </a:r>
            <a:endParaRPr/>
          </a:p>
          <a:p>
            <a:pPr indent="0" lvl="0" marL="0" rtl="0" algn="l">
              <a:spcBef>
                <a:spcPts val="0"/>
              </a:spcBef>
              <a:spcAft>
                <a:spcPts val="0"/>
              </a:spcAft>
              <a:buNone/>
            </a:pPr>
            <a:r>
              <a:rPr lang="en-US"/>
              <a:t>  ▎ reflective chatbot produces a dramatic shift — three out of four participants vote</a:t>
            </a:r>
            <a:endParaRPr/>
          </a:p>
          <a:p>
            <a:pPr indent="0" lvl="0" marL="0" rtl="0" algn="l">
              <a:spcBef>
                <a:spcPts val="0"/>
              </a:spcBef>
              <a:spcAft>
                <a:spcPts val="0"/>
              </a:spcAft>
              <a:buNone/>
            </a:pPr>
            <a:r>
              <a:rPr lang="en-US"/>
              <a:t>  ▎ no, more than even the argumentative bot achieves. But in Florida, that same</a:t>
            </a:r>
            <a:endParaRPr/>
          </a:p>
          <a:p>
            <a:pPr indent="0" lvl="0" marL="0" rtl="0" algn="l">
              <a:spcBef>
                <a:spcPts val="0"/>
              </a:spcBef>
              <a:spcAft>
                <a:spcPts val="0"/>
              </a:spcAft>
              <a:buNone/>
            </a:pPr>
            <a:r>
              <a:rPr lang="en-US"/>
              <a:t>  ▎ reflective chatbot is no different from the simple Q&amp;A bot. Same prompt, same model</a:t>
            </a:r>
            <a:endParaRPr/>
          </a:p>
          <a:p>
            <a:pPr indent="0" lvl="0" marL="0" rtl="0" algn="l">
              <a:spcBef>
                <a:spcPts val="0"/>
              </a:spcBef>
              <a:spcAft>
                <a:spcPts val="0"/>
              </a:spcAft>
              <a:buNone/>
            </a:pPr>
            <a:r>
              <a:rPr lang="en-US"/>
              <a:t>  ▎ — different result. Whatever's going on with the chat conditions depends on the</a:t>
            </a:r>
            <a:endParaRPr/>
          </a:p>
          <a:p>
            <a:pPr indent="0" lvl="0" marL="0" rtl="0" algn="l">
              <a:spcBef>
                <a:spcPts val="0"/>
              </a:spcBef>
              <a:spcAft>
                <a:spcPts val="0"/>
              </a:spcAft>
              <a:buNone/>
            </a:pPr>
            <a:r>
              <a:rPr lang="en-US"/>
              <a:t>  ▎ topic itself."</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2" name="Google Shape;1122;p9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Now Ill discuss some ongoing work that asks if language shapes decisions, can we build AI that helps people learn and deliberate—not just consume text?</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9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9" name="Google Shape;1129;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8" name="Google Shape;1138;p9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AI doesn’t just summarize it can serve as an interaction partner.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So the question becomes: how do different interaction styles shape understanding—especially for complex, consequential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I’m focused on concrete measurable outcomes: comprehension, reasoning quality.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A particular relevant domain for this we’ve found is voting. One specific context of this is ballot measures.</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5" name="Google Shape;1145;p9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Ballot measures are a good stress test: high stakes, dense legal language, little support.</a:t>
            </a:r>
            <a:endParaRPr/>
          </a:p>
          <a:p>
            <a:pPr indent="0" lvl="0" marL="0" rtl="0" algn="l">
              <a:spcBef>
                <a:spcPts val="0"/>
              </a:spcBef>
              <a:spcAft>
                <a:spcPts val="0"/>
              </a:spcAft>
              <a:buNone/>
            </a:pPr>
            <a:r>
              <a:rPr lang="en-US" sz="1200">
                <a:latin typeface="Arial"/>
                <a:ea typeface="Arial"/>
                <a:cs typeface="Arial"/>
                <a:sym typeface="Arial"/>
              </a:rPr>
              <a:t>People are asked to vote based on text that’s hard to parse.</a:t>
            </a:r>
            <a:endParaRPr/>
          </a:p>
          <a:p>
            <a:pPr indent="0" lvl="0" marL="0" rtl="0" algn="l">
              <a:spcBef>
                <a:spcPts val="0"/>
              </a:spcBef>
              <a:spcAft>
                <a:spcPts val="0"/>
              </a:spcAft>
              <a:buNone/>
            </a:pPr>
            <a:r>
              <a:rPr lang="en-US" sz="1200">
                <a:latin typeface="Arial"/>
                <a:ea typeface="Arial"/>
                <a:cs typeface="Arial"/>
                <a:sym typeface="Arial"/>
              </a:rPr>
              <a:t>Goal statement: support informed judgment without steering preferences.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2"/>
              </a:rPr>
              <a:t>https://news.uark.edu/articles/46345/study-finds-majority-of-public-is-unfamiliar-with-ballot-measures</a:t>
            </a:r>
            <a:endParaRPr/>
          </a:p>
          <a:p>
            <a:pPr indent="0" lvl="0" marL="0" rtl="0" algn="l">
              <a:spcBef>
                <a:spcPts val="0"/>
              </a:spcBef>
              <a:spcAft>
                <a:spcPts val="0"/>
              </a:spcAft>
              <a:buNone/>
            </a:pPr>
            <a:r>
              <a:t/>
            </a:r>
            <a:endParaRPr u="sng">
              <a:solidFill>
                <a:schemeClr val="hlink"/>
              </a:solidFill>
              <a:hlinkClick r:id="rId3"/>
            </a:endParaRPr>
          </a:p>
          <a:p>
            <a:pPr indent="0" lvl="0" marL="0" rtl="0" algn="l">
              <a:spcBef>
                <a:spcPts val="0"/>
              </a:spcBef>
              <a:spcAft>
                <a:spcPts val="0"/>
              </a:spcAft>
              <a:buNone/>
            </a:pPr>
            <a:r>
              <a:rPr lang="en-US" sz="1200">
                <a:latin typeface="Arial"/>
                <a:ea typeface="Arial"/>
                <a:cs typeface="Arial"/>
                <a:sym typeface="Arial"/>
              </a:rPr>
              <a:t>Can result in abstention and shallow or overconfidence decisions.</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9" name="Google Shape;1159;p9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lot of prior work shows chatbots can boost engagement—even shift beliefs in some contexts.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deeper comprehension effects are inconsistent: interactivity might entertain without actually improving understanding.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interaction style matters:</a:t>
            </a:r>
            <a:endParaRPr/>
          </a:p>
          <a:p>
            <a:pPr indent="0" lvl="0" marL="0" rtl="0" algn="l">
              <a:spcBef>
                <a:spcPts val="0"/>
              </a:spcBef>
              <a:spcAft>
                <a:spcPts val="0"/>
              </a:spcAft>
              <a:buNone/>
            </a:pPr>
            <a:r>
              <a:rPr lang="en-US"/>
              <a:t>- deliberation can increase openness,</a:t>
            </a:r>
            <a:endParaRPr/>
          </a:p>
          <a:p>
            <a:pPr indent="0" lvl="0" marL="0" rtl="0" algn="l">
              <a:spcBef>
                <a:spcPts val="0"/>
              </a:spcBef>
              <a:spcAft>
                <a:spcPts val="0"/>
              </a:spcAft>
              <a:buNone/>
            </a:pPr>
            <a:r>
              <a:rPr lang="en-US"/>
              <a:t>- but opposing views can backfire,</a:t>
            </a:r>
            <a:endParaRPr/>
          </a:p>
          <a:p>
            <a:pPr indent="0" lvl="0" marL="0" rtl="0" algn="l">
              <a:spcBef>
                <a:spcPts val="0"/>
              </a:spcBef>
              <a:spcAft>
                <a:spcPts val="0"/>
              </a:spcAft>
              <a:buNone/>
            </a:pPr>
            <a:r>
              <a:rPr lang="en-US"/>
              <a:t>- Socratic questioning may work better than direct challenge.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we need experiments that separate engagement from understanding.</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6" name="Google Shape;1166;p9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In our initial experiments we find that aI increases engagement and can cause ppl to learn more about possible negative consequence of ballot measures.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Now the key test is do specific discourse styles improve comprehension?”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Three conditions:</a:t>
            </a:r>
            <a:endParaRPr/>
          </a:p>
          <a:p>
            <a:pPr indent="0" lvl="0" marL="0" rtl="0" algn="l">
              <a:spcBef>
                <a:spcPts val="0"/>
              </a:spcBef>
              <a:spcAft>
                <a:spcPts val="0"/>
              </a:spcAft>
              <a:buNone/>
            </a:pPr>
            <a:r>
              <a:rPr lang="en-US" sz="1200">
                <a:latin typeface="Arial"/>
                <a:ea typeface="Arial"/>
                <a:cs typeface="Arial"/>
                <a:sym typeface="Arial"/>
              </a:rPr>
              <a:t>- Q&amp;A chatbot (information delivery),</a:t>
            </a:r>
            <a:endParaRPr/>
          </a:p>
          <a:p>
            <a:pPr indent="0" lvl="0" marL="0" rtl="0" algn="l">
              <a:spcBef>
                <a:spcPts val="0"/>
              </a:spcBef>
              <a:spcAft>
                <a:spcPts val="0"/>
              </a:spcAft>
              <a:buNone/>
            </a:pPr>
            <a:r>
              <a:rPr lang="en-US" sz="1200">
                <a:latin typeface="Arial"/>
                <a:ea typeface="Arial"/>
                <a:cs typeface="Arial"/>
                <a:sym typeface="Arial"/>
              </a:rPr>
              <a:t>- Argumentative chatbot (explicit pushback),</a:t>
            </a:r>
            <a:endParaRPr/>
          </a:p>
          <a:p>
            <a:pPr indent="-119269" lvl="0" marL="119269" rtl="0" algn="l">
              <a:spcBef>
                <a:spcPts val="0"/>
              </a:spcBef>
              <a:spcAft>
                <a:spcPts val="0"/>
              </a:spcAft>
              <a:buSzPts val="1200"/>
              <a:buFont typeface="Arial"/>
              <a:buChar char="-"/>
            </a:pPr>
            <a:r>
              <a:rPr lang="en-US" sz="1200">
                <a:latin typeface="Arial"/>
                <a:ea typeface="Arial"/>
                <a:cs typeface="Arial"/>
                <a:sym typeface="Arial"/>
              </a:rPr>
              <a:t>Socratic chatbot (guided questioning).”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We can hold the content constant and vary interaction style.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https://journalistsresource.org/politics-and-government/ballot-measures-election-research/</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4" name="Google Shape;1174;p9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Parallel piece: a public platform where people browse measures and discuss with AI.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two roles:</a:t>
            </a:r>
            <a:endParaRPr/>
          </a:p>
          <a:p>
            <a:pPr indent="0" lvl="0" marL="0" rtl="0" algn="l">
              <a:spcBef>
                <a:spcPts val="0"/>
              </a:spcBef>
              <a:spcAft>
                <a:spcPts val="0"/>
              </a:spcAft>
              <a:buNone/>
            </a:pPr>
            <a:r>
              <a:rPr lang="en-US" sz="1200">
                <a:latin typeface="Arial"/>
                <a:ea typeface="Arial"/>
                <a:cs typeface="Arial"/>
                <a:sym typeface="Arial"/>
              </a:rPr>
              <a:t>1. real-world deployment for access,</a:t>
            </a:r>
            <a:endParaRPr/>
          </a:p>
          <a:p>
            <a:pPr indent="0" lvl="0" marL="0" rtl="0" algn="l">
              <a:spcBef>
                <a:spcPts val="0"/>
              </a:spcBef>
              <a:spcAft>
                <a:spcPts val="0"/>
              </a:spcAft>
              <a:buNone/>
            </a:pPr>
            <a:r>
              <a:rPr lang="en-US" sz="1200">
                <a:latin typeface="Arial"/>
                <a:ea typeface="Arial"/>
                <a:cs typeface="Arial"/>
                <a:sym typeface="Arial"/>
              </a:rPr>
              <a:t>2. additional data stream for studying deliberative dialogue and what ‘helpful’ looks like in practice.</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2" name="Google Shape;1182;p9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This challenge of getting people to productively engage in disagreement or push back motived an extension. </a:t>
            </a:r>
            <a:endParaRPr/>
          </a:p>
          <a:p>
            <a:pPr indent="0" lvl="0" marL="0" rtl="0" algn="l">
              <a:spcBef>
                <a:spcPts val="0"/>
              </a:spcBef>
              <a:spcAft>
                <a:spcPts val="0"/>
              </a:spcAft>
              <a:buNone/>
            </a:pPr>
            <a:r>
              <a:rPr lang="en-US" sz="1200">
                <a:latin typeface="Arial"/>
                <a:ea typeface="Arial"/>
                <a:cs typeface="Arial"/>
                <a:sym typeface="Arial"/>
              </a:rPr>
              <a:t>A so-called ‘Friction bot’—an assistant that doesn’t just comply, but introduces productive friction at the right moments.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The challenge is making friction useful, not annoying.</a:t>
            </a:r>
            <a:endParaRPr/>
          </a:p>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9" name="Google Shape;1189;p10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Baseline problem: LLMs are trained to be helpful, and that often becomes agreeable.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They mirror user beliefs back—even when those beliefs should be examined.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In deliberation settings, sycophancy is dangerous: it can amplify weak reasoning rather than improve it.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https://arxiv.org/pdf/2310.13548</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7" name="Google Shape;1197;p10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What I want instead is productive disagreement: pushback that helps people clarify reasons or update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But naive ‘devil’s advocate’ tends to backfire—people get annoyed or dig 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Plan:</a:t>
            </a:r>
            <a:endParaRPr/>
          </a:p>
          <a:p>
            <a:pPr indent="0" lvl="0" marL="0" rtl="0" algn="l">
              <a:spcBef>
                <a:spcPts val="0"/>
              </a:spcBef>
              <a:spcAft>
                <a:spcPts val="0"/>
              </a:spcAft>
              <a:buNone/>
            </a:pPr>
            <a:r>
              <a:rPr lang="en-US" sz="1200">
                <a:latin typeface="Arial"/>
                <a:ea typeface="Arial"/>
                <a:cs typeface="Arial"/>
                <a:sym typeface="Arial"/>
              </a:rPr>
              <a:t>- identify cases of productive pushback in real dialogues,</a:t>
            </a:r>
            <a:endParaRPr/>
          </a:p>
          <a:p>
            <a:pPr indent="0" lvl="0" marL="0" rtl="0" algn="l">
              <a:spcBef>
                <a:spcPts val="0"/>
              </a:spcBef>
              <a:spcAft>
                <a:spcPts val="0"/>
              </a:spcAft>
              <a:buNone/>
            </a:pPr>
            <a:r>
              <a:rPr lang="en-US" sz="1200">
                <a:latin typeface="Arial"/>
                <a:ea typeface="Arial"/>
                <a:cs typeface="Arial"/>
                <a:sym typeface="Arial"/>
              </a:rPr>
              <a:t>- use that as training/eval data,</a:t>
            </a:r>
            <a:endParaRPr/>
          </a:p>
          <a:p>
            <a:pPr indent="0" lvl="0" marL="0" rtl="0" algn="l">
              <a:spcBef>
                <a:spcPts val="0"/>
              </a:spcBef>
              <a:spcAft>
                <a:spcPts val="0"/>
              </a:spcAft>
              <a:buNone/>
            </a:pPr>
            <a:r>
              <a:rPr lang="en-US" sz="1200">
                <a:latin typeface="Arial"/>
                <a:ea typeface="Arial"/>
                <a:cs typeface="Arial"/>
                <a:sym typeface="Arial"/>
              </a:rPr>
              <a:t>- develop methods for assistants that challenge in a way that improves reasoning rather than escalating conflict.</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10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4" name="Google Shape;1204;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10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1" name="Google Shape;1211;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8" name="Google Shape;1218;p10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This is crude but illustrates the point well enough I think.</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p10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7" name="Google Shape;1227;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10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4" name="Google Shape;1234;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10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10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8" name="Google Shape;1248;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p10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7" name="Google Shape;1257;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1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7" name="Google Shape;1267;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8" name="Google Shape;1278;p1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Kendall &amp; Charles + morag &amp; loewenstein – they run a controlled experiment with participants</a:t>
            </a:r>
            <a:endParaRPr/>
          </a:p>
          <a:p>
            <a:pPr indent="0" lvl="0" marL="0" rtl="0" algn="l">
              <a:spcBef>
                <a:spcPts val="0"/>
              </a:spcBef>
              <a:spcAft>
                <a:spcPts val="0"/>
              </a:spcAft>
              <a:buNone/>
            </a:pPr>
            <a:r>
              <a:rPr lang="en-US"/>
              <a:t>Akerloff &amp; Snower – case study on narratives about the soviet economy</a:t>
            </a:r>
            <a:endParaRPr/>
          </a:p>
          <a:p>
            <a:pPr indent="0" lvl="0" marL="0" rtl="0" algn="l">
              <a:spcBef>
                <a:spcPts val="0"/>
              </a:spcBef>
              <a:spcAft>
                <a:spcPts val="0"/>
              </a:spcAft>
              <a:buNone/>
            </a:pPr>
            <a:r>
              <a:rPr lang="en-US"/>
              <a:t>Eliaz &amp; Spiegler – theoretical analysis of their causal model</a:t>
            </a:r>
            <a:endParaRPr/>
          </a:p>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1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5" name="Google Shape;1285;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p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2" name="Google Shape;1292;p1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There is no “true” discovery. But there is still a meaningful distinction</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p1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4" name="Google Shape;1304;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1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1" name="Google Shape;1311;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8" name="Google Shape;1318;p1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Note that when we test big LLMs in zero and few-shot settings and we test smaller LLMs in fine-tuning setting.</a:t>
            </a:r>
            <a:endParaRPr/>
          </a:p>
          <a:p>
            <a:pPr indent="0" lvl="0" marL="0" rtl="0" algn="l">
              <a:spcBef>
                <a:spcPts val="0"/>
              </a:spcBef>
              <a:spcAft>
                <a:spcPts val="0"/>
              </a:spcAft>
              <a:buNone/>
            </a:pPr>
            <a:r>
              <a:rPr lang="en-US" sz="1200">
                <a:latin typeface="Arial"/>
                <a:ea typeface="Arial"/>
                <a:cs typeface="Arial"/>
                <a:sym typeface="Arial"/>
              </a:rPr>
              <a:t>Some tradeoffs: latency vs performance vs labeled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Add some message around “when you know what you want”, ”when you know what you want”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Replace blue with green yellow pairs?</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p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8" name="Google Shape;1388;p1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We conducted an error analysis of the misclassifications from models vs disagreements between humans and found that fine-tuned better reflect the reasonable human disagreements – SUCCESSFULLY LEARNS OUR INTENDED TASK AND PERSPECTIVE</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p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9" name="Google Shape;1399;p1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Apologize for the small axes labels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Over time we see fluctuations is the relative proportions of narratives being expressed in newspapers. </a:t>
            </a:r>
            <a:endParaRPr/>
          </a:p>
          <a:p>
            <a:pPr indent="0" lvl="0" marL="0" rtl="0" algn="l">
              <a:spcBef>
                <a:spcPts val="0"/>
              </a:spcBef>
              <a:spcAft>
                <a:spcPts val="0"/>
              </a:spcAft>
              <a:buNone/>
            </a:pPr>
            <a:r>
              <a:rPr lang="en-US" sz="1200">
                <a:latin typeface="Arial"/>
                <a:ea typeface="Arial"/>
                <a:cs typeface="Arial"/>
                <a:sym typeface="Arial"/>
              </a:rPr>
              <a:t>For example monetary policy becomes an increasingly popular narratives and fiscal policy is discussed significantly less starting the 1990s.</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6" name="Google Shape;1406;p1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Again, we see fluctuations with savings and interest rates (monetary policy) and cost of living being the most popular narratives.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An interesting observation that we found, not present on this plot, is that narratives related to the effects of inflation have become significantly more popular over time than those about the causes of inflation.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But this is not our ultimate goal, as we’re interested in modeling if these narratives spread and whether they are predictive of economic outcomes.</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p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3" name="Google Shape;1413;p1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People think the syllabus 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Non obvious to get this data</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p1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7" name="Google Shape;1427;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p1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4" name="Google Shape;1434;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p1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2" name="Google Shape;1442;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p1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0" name="Google Shape;1450;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7" name="Google Shape;1457;p1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Correctly learns the distribution of human predictions and errors (“perspective”</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p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3" name="Google Shape;1483;p1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https://philosophybear.substack.com/p/we-need-to-do-something-about-ai</a:t>
            </a:r>
            <a:endParaRPr/>
          </a:p>
          <a:p>
            <a:pPr indent="0" lvl="0" marL="0" rtl="0" algn="l">
              <a:spcBef>
                <a:spcPts val="0"/>
              </a:spcBef>
              <a:spcAft>
                <a:spcPts val="0"/>
              </a:spcAft>
              <a:buNone/>
            </a:pPr>
            <a:r>
              <a:rPr lang="en-US" sz="1200">
                <a:latin typeface="Arial"/>
                <a:ea typeface="Arial"/>
                <a:cs typeface="Arial"/>
                <a:sym typeface="Arial"/>
              </a:rPr>
              <a:t>https://x.com/natolambert/status/1865100884083982560/photo/1</a:t>
            </a:r>
            <a:endParaRPr/>
          </a:p>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p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0" name="Google Shape;1490;p1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Social scientist recognize the power of narratives (i.e., popular stories about economic, political, or social topics) to shape individual and collective behavior.</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p1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8" name="Google Shape;1498;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1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5" name="Google Shape;1505;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p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2" name="Google Shape;1512;p1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prior work on this kind of causal relationship data was priorly available?</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p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9" name="Google Shape;1519;p1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Add specific datasets in each quadrant</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p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4" name="Google Shape;1534;p1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Conundrum:</a:t>
            </a:r>
            <a:endParaRPr/>
          </a:p>
          <a:p>
            <a:pPr indent="0" lvl="0" marL="0" rtl="0" algn="l">
              <a:spcBef>
                <a:spcPts val="0"/>
              </a:spcBef>
              <a:spcAft>
                <a:spcPts val="0"/>
              </a:spcAft>
              <a:buNone/>
            </a:pPr>
            <a:r>
              <a:rPr lang="en-US" sz="1200">
                <a:latin typeface="Arial"/>
                <a:ea typeface="Arial"/>
                <a:cs typeface="Arial"/>
                <a:sym typeface="Arial"/>
              </a:rPr>
              <a:t>Pure contagion effect, not the pure macro-effect</a:t>
            </a:r>
            <a:endParaRPr/>
          </a:p>
          <a:p>
            <a:pPr indent="0" lvl="0" marL="0" rtl="0" algn="l">
              <a:spcBef>
                <a:spcPts val="0"/>
              </a:spcBef>
              <a:spcAft>
                <a:spcPts val="0"/>
              </a:spcAft>
              <a:buNone/>
            </a:pPr>
            <a:r>
              <a:rPr lang="en-US" sz="1200">
                <a:latin typeface="Arial"/>
                <a:ea typeface="Arial"/>
                <a:cs typeface="Arial"/>
                <a:sym typeface="Arial"/>
              </a:rPr>
              <a:t>We wanna capture the notion of spread (like a diseases) like ”im doing it because youre doing it”, not “im doing it just because I see someone else doing it and im gonna do it bc of that”. That tricky.</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p1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2" name="Google Shape;1542;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p1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9" name="Google Shape;1549;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p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6" name="Google Shape;1556;p1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GOES BACK TO SIMPLIFICATION PROBLEM!!!! - TRADE OFF BETWEEN CONCEPTUALLY SATISFYING DEFINITION AND AN OPERATIONALIZATION</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p1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3" name="Google Shape;1563;p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p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0" name="Google Shape;1570;p1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Panel A: When the diversity of inflation narratives in the media increases by one standard deviation, consumers’ average expected inflation over the next year rises by 0.045 standard deviations.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Panel B: “A one-standard-deviation increase in narrative dispersion increases the standard deviation of 1-year inflation expectations by 0.041 standard deviations.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p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0" name="Google Shape;1580;p1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Summaries are used for</a:t>
            </a:r>
            <a:endParaRPr/>
          </a:p>
          <a:p>
            <a:pPr indent="0" lvl="0" marL="0" rtl="0" algn="l">
              <a:spcBef>
                <a:spcPts val="0"/>
              </a:spcBef>
              <a:spcAft>
                <a:spcPts val="0"/>
              </a:spcAft>
              <a:buNone/>
            </a:pPr>
            <a:r>
              <a:rPr lang="en-US" sz="1200">
                <a:latin typeface="Arial"/>
                <a:ea typeface="Arial"/>
                <a:cs typeface="Arial"/>
                <a:sym typeface="Arial"/>
              </a:rPr>
              <a:t>- Producing legal judgments</a:t>
            </a:r>
            <a:endParaRPr/>
          </a:p>
          <a:p>
            <a:pPr indent="0" lvl="0" marL="0" rtl="0" algn="l">
              <a:spcBef>
                <a:spcPts val="0"/>
              </a:spcBef>
              <a:spcAft>
                <a:spcPts val="0"/>
              </a:spcAft>
              <a:buNone/>
            </a:pPr>
            <a:r>
              <a:rPr lang="en-US" sz="1200">
                <a:latin typeface="Arial"/>
                <a:ea typeface="Arial"/>
                <a:cs typeface="Arial"/>
                <a:sym typeface="Arial"/>
              </a:rPr>
              <a:t>- Provision of legal services</a:t>
            </a:r>
            <a:endParaRPr/>
          </a:p>
          <a:p>
            <a:pPr indent="0" lvl="0" marL="0" rtl="0" algn="l">
              <a:spcBef>
                <a:spcPts val="0"/>
              </a:spcBef>
              <a:spcAft>
                <a:spcPts val="0"/>
              </a:spcAft>
              <a:buNone/>
            </a:pPr>
            <a:r>
              <a:rPr lang="en-US" sz="1200">
                <a:latin typeface="Arial"/>
                <a:ea typeface="Arial"/>
                <a:cs typeface="Arial"/>
                <a:sym typeface="Arial"/>
              </a:rPr>
              <a:t>- Public education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Summaries are difficult to produce.</a:t>
            </a:r>
            <a:endParaRPr/>
          </a:p>
          <a:p>
            <a:pPr indent="0" lvl="0" marL="0" rtl="0" algn="l">
              <a:spcBef>
                <a:spcPts val="0"/>
              </a:spcBef>
              <a:spcAft>
                <a:spcPts val="0"/>
              </a:spcAft>
              <a:buNone/>
            </a:pPr>
            <a:r>
              <a:rPr lang="en-US" sz="1200">
                <a:latin typeface="Arial"/>
                <a:ea typeface="Arial"/>
                <a:cs typeface="Arial"/>
                <a:sym typeface="Arial"/>
              </a:rPr>
              <a:t>- Legal text can be very long and dense.</a:t>
            </a:r>
            <a:endParaRPr/>
          </a:p>
          <a:p>
            <a:pPr indent="0" lvl="0" marL="0" rtl="0" algn="l">
              <a:spcBef>
                <a:spcPts val="0"/>
              </a:spcBef>
              <a:spcAft>
                <a:spcPts val="0"/>
              </a:spcAft>
              <a:buNone/>
            </a:pPr>
            <a:r>
              <a:rPr lang="en-US" sz="1200">
                <a:latin typeface="Arial"/>
                <a:ea typeface="Arial"/>
                <a:cs typeface="Arial"/>
                <a:sym typeface="Arial"/>
              </a:rPr>
              <a:t>- Low-tolerance for errors.</a:t>
            </a:r>
            <a:endParaRPr/>
          </a:p>
          <a:p>
            <a:pPr indent="0" lvl="0" marL="0" rtl="0" algn="l">
              <a:spcBef>
                <a:spcPts val="0"/>
              </a:spcBef>
              <a:spcAft>
                <a:spcPts val="0"/>
              </a:spcAft>
              <a:buNone/>
            </a:pPr>
            <a:r>
              <a:rPr lang="en-US" sz="1200">
                <a:latin typeface="Arial"/>
                <a:ea typeface="Arial"/>
                <a:cs typeface="Arial"/>
                <a:sym typeface="Arial"/>
              </a:rPr>
              <a:t>- Domain-specific language and style.</a:t>
            </a:r>
            <a:endParaRPr/>
          </a:p>
          <a:p>
            <a:pPr indent="0" lvl="0" marL="0" rtl="0" algn="l">
              <a:spcBef>
                <a:spcPts val="0"/>
              </a:spcBef>
              <a:spcAft>
                <a:spcPts val="0"/>
              </a:spcAft>
              <a:buNone/>
            </a:pPr>
            <a:r>
              <a:rPr lang="en-US" sz="1200">
                <a:latin typeface="Arial"/>
                <a:ea typeface="Arial"/>
                <a:cs typeface="Arial"/>
                <a:sym typeface="Arial"/>
              </a:rPr>
              <a:t>- Summarization is an open-ended problem.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In discussing this work, Ill take a slightly different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So, first thing is to start with some data.</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5" name="Shape 1585"/>
        <p:cNvGrpSpPr/>
        <p:nvPr/>
      </p:nvGrpSpPr>
      <p:grpSpPr>
        <a:xfrm>
          <a:off x="0" y="0"/>
          <a:ext cx="0" cy="0"/>
          <a:chOff x="0" y="0"/>
          <a:chExt cx="0" cy="0"/>
        </a:xfrm>
      </p:grpSpPr>
      <p:sp>
        <p:nvSpPr>
          <p:cNvPr id="1586" name="Google Shape;1586;p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7" name="Google Shape;1587;p1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Well people usually think human written summaries are pretty good right? So let’s start there.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Non obvious to get this data</a:t>
            </a:r>
            <a:endParaRPr/>
          </a:p>
          <a:p>
            <a:pPr indent="-171450" lvl="0" marL="171450" rtl="0" algn="l">
              <a:spcBef>
                <a:spcPts val="0"/>
              </a:spcBef>
              <a:spcAft>
                <a:spcPts val="0"/>
              </a:spcAft>
              <a:buSzPts val="1200"/>
              <a:buFont typeface="Arial"/>
              <a:buChar char="-"/>
            </a:pPr>
            <a:r>
              <a:rPr lang="en-US" sz="1200">
                <a:latin typeface="Arial"/>
                <a:ea typeface="Arial"/>
                <a:cs typeface="Arial"/>
                <a:sym typeface="Arial"/>
              </a:rPr>
              <a:t>A meaningful contribution to the legal AI field</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p1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7" name="Google Shape;1607;p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p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1" name="Google Shape;1641;p1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457200" lvl="1" marL="0" rtl="0" algn="l">
              <a:spcBef>
                <a:spcPts val="0"/>
              </a:spcBef>
              <a:spcAft>
                <a:spcPts val="0"/>
              </a:spcAft>
              <a:buNone/>
            </a:pPr>
            <a:r>
              <a:rPr lang="en-US" sz="1200">
                <a:latin typeface="Arial"/>
                <a:ea typeface="Arial"/>
                <a:cs typeface="Arial"/>
                <a:sym typeface="Arial"/>
              </a:rPr>
              <a:t>But maybe you use more complex examples that ambiguous (give examples of each)</a:t>
            </a:r>
            <a:endParaRPr/>
          </a:p>
          <a:p>
            <a:pPr indent="457200" lvl="1" marL="0" rtl="0" algn="l">
              <a:spcBef>
                <a:spcPts val="0"/>
              </a:spcBef>
              <a:spcAft>
                <a:spcPts val="0"/>
              </a:spcAft>
              <a:buNone/>
            </a:pPr>
            <a:r>
              <a:rPr lang="en-US" sz="1200">
                <a:latin typeface="Arial"/>
                <a:ea typeface="Arial"/>
                <a:cs typeface="Arial"/>
                <a:sym typeface="Arial"/>
              </a:rPr>
              <a:t>Why cant model do this right? How we provide this prior knowledge about what makes a narrative or not?</a:t>
            </a:r>
            <a:endParaRPr/>
          </a:p>
          <a:p>
            <a:pPr indent="914400" lvl="2" marL="0" rtl="0" algn="l">
              <a:spcBef>
                <a:spcPts val="0"/>
              </a:spcBef>
              <a:spcAft>
                <a:spcPts val="0"/>
              </a:spcAft>
              <a:buNone/>
            </a:pPr>
            <a:r>
              <a:rPr lang="en-US" sz="1200">
                <a:latin typeface="Arial"/>
                <a:ea typeface="Arial"/>
                <a:cs typeface="Arial"/>
                <a:sym typeface="Arial"/>
              </a:rPr>
              <a:t>Behavior cloning (SFT)</a:t>
            </a:r>
            <a:endParaRPr/>
          </a:p>
          <a:p>
            <a:pPr indent="457200" lvl="1" marL="0" rtl="0" algn="l">
              <a:spcBef>
                <a:spcPts val="0"/>
              </a:spcBef>
              <a:spcAft>
                <a:spcPts val="0"/>
              </a:spcAft>
              <a:buNone/>
            </a:pPr>
            <a:r>
              <a:rPr lang="en-US" sz="1200">
                <a:latin typeface="Arial"/>
                <a:ea typeface="Arial"/>
                <a:cs typeface="Arial"/>
                <a:sym typeface="Arial"/>
              </a:rPr>
              <a:t>Ideas: show what process is like for a human determining a narrative</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6" name="Google Shape;1656;p1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For option 1: Text semantics reveal narratives [Ash et al. 2022]</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p1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8" name="Google Shape;1718;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p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1" name="Google Shape;1781;p1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Summarization involves judgment: what counts as “important” depends on the goal and audience.</a:t>
            </a:r>
            <a:endParaRPr/>
          </a:p>
          <a:p>
            <a:pPr indent="0" lvl="0" marL="0" rtl="0" algn="l">
              <a:spcBef>
                <a:spcPts val="0"/>
              </a:spcBef>
              <a:spcAft>
                <a:spcPts val="0"/>
              </a:spcAft>
              <a:buNone/>
            </a:pPr>
            <a:r>
              <a:rPr lang="en-US" sz="1200">
                <a:latin typeface="Arial"/>
                <a:ea typeface="Arial"/>
                <a:cs typeface="Arial"/>
                <a:sym typeface="Arial"/>
              </a:rPr>
              <a:t>Long documents make that judgment harder: there are many defensible choices about what to include, omit, and emphasize.  </a:t>
            </a:r>
            <a:endParaRPr/>
          </a:p>
          <a:p>
            <a:pPr indent="0" lvl="0" marL="0" rtl="0" algn="l">
              <a:spcBef>
                <a:spcPts val="0"/>
              </a:spcBef>
              <a:spcAft>
                <a:spcPts val="0"/>
              </a:spcAft>
              <a:buNone/>
            </a:pPr>
            <a:r>
              <a:rPr lang="en-US" sz="1200">
                <a:latin typeface="Arial"/>
                <a:ea typeface="Arial"/>
                <a:cs typeface="Arial"/>
                <a:sym typeface="Arial"/>
              </a:rPr>
              <a:t>In high-stakes settings, those choices have consequences: small omissions or shifts in emphasis can change the takeaway.  </a:t>
            </a:r>
            <a:endParaRPr/>
          </a:p>
          <a:p>
            <a:pPr indent="0" lvl="0" marL="0" rtl="0" algn="l">
              <a:spcBef>
                <a:spcPts val="0"/>
              </a:spcBef>
              <a:spcAft>
                <a:spcPts val="0"/>
              </a:spcAft>
              <a:buNone/>
            </a:pPr>
            <a:r>
              <a:rPr lang="en-US" sz="1200">
                <a:latin typeface="Arial"/>
                <a:ea typeface="Arial"/>
                <a:cs typeface="Arial"/>
                <a:sym typeface="Arial"/>
              </a:rPr>
              <a:t>So evaluation is the bottleneck: reference overlap and LLM-based judging can diverge from expert human judgments of quality.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Evaluating long-context summarization is hard for three concrete reasons: (i) ground-truth summaries often aren’t available, (ii) even when humans write them, it’s unclear we should treat them as “ground truth,” and (iii) “good summary” depends on domain/setting and often requires expertise.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7" name="Shape 1787"/>
        <p:cNvGrpSpPr/>
        <p:nvPr/>
      </p:nvGrpSpPr>
      <p:grpSpPr>
        <a:xfrm>
          <a:off x="0" y="0"/>
          <a:ext cx="0" cy="0"/>
          <a:chOff x="0" y="0"/>
          <a:chExt cx="0" cy="0"/>
        </a:xfrm>
      </p:grpSpPr>
      <p:sp>
        <p:nvSpPr>
          <p:cNvPr id="1788" name="Google Shape;1788;p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9" name="Google Shape;1789;p1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Lexical:</a:t>
            </a:r>
            <a:endParaRPr/>
          </a:p>
          <a:p>
            <a:pPr indent="0" lvl="0" marL="0" rtl="0" algn="l">
              <a:spcBef>
                <a:spcPts val="0"/>
              </a:spcBef>
              <a:spcAft>
                <a:spcPts val="0"/>
              </a:spcAft>
              <a:buNone/>
            </a:pPr>
            <a:r>
              <a:rPr lang="en-US"/>
              <a:t>ROUGE, BLEU, METEOR,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Semantic:</a:t>
            </a:r>
            <a:endParaRPr/>
          </a:p>
          <a:p>
            <a:pPr indent="0" lvl="0" marL="0" rtl="0" algn="l">
              <a:spcBef>
                <a:spcPts val="0"/>
              </a:spcBef>
              <a:spcAft>
                <a:spcPts val="0"/>
              </a:spcAft>
              <a:buNone/>
            </a:pPr>
            <a:r>
              <a:rPr lang="en-US"/>
              <a:t>BERTScore, BARTScore, etc.</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p1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6" name="Google Shape;1796;p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1" name="Shape 1801"/>
        <p:cNvGrpSpPr/>
        <p:nvPr/>
      </p:nvGrpSpPr>
      <p:grpSpPr>
        <a:xfrm>
          <a:off x="0" y="0"/>
          <a:ext cx="0" cy="0"/>
          <a:chOff x="0" y="0"/>
          <a:chExt cx="0" cy="0"/>
        </a:xfrm>
      </p:grpSpPr>
      <p:sp>
        <p:nvSpPr>
          <p:cNvPr id="1802" name="Google Shape;1802;p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3" name="Google Shape;1803;p1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I’ll start by highlight recent trends in LLM capabilities and how they relate to this topic.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https://philosophybear.substack.com/p/we-need-to-do-something-about-ai</a:t>
            </a:r>
            <a:endParaRPr/>
          </a:p>
          <a:p>
            <a:pPr indent="0" lvl="0" marL="0" rtl="0" algn="l">
              <a:spcBef>
                <a:spcPts val="0"/>
              </a:spcBef>
              <a:spcAft>
                <a:spcPts val="0"/>
              </a:spcAft>
              <a:buNone/>
            </a:pPr>
            <a:r>
              <a:rPr lang="en-US" sz="1200">
                <a:latin typeface="Arial"/>
                <a:ea typeface="Arial"/>
                <a:cs typeface="Arial"/>
                <a:sym typeface="Arial"/>
              </a:rPr>
              <a:t>https://x.com/natolambert/status/1865100884083982560/photo/1</a:t>
            </a:r>
            <a:endParaRPr/>
          </a:p>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1" name="Shape 1811"/>
        <p:cNvGrpSpPr/>
        <p:nvPr/>
      </p:nvGrpSpPr>
      <p:grpSpPr>
        <a:xfrm>
          <a:off x="0" y="0"/>
          <a:ext cx="0" cy="0"/>
          <a:chOff x="0" y="0"/>
          <a:chExt cx="0" cy="0"/>
        </a:xfrm>
      </p:grpSpPr>
      <p:sp>
        <p:nvSpPr>
          <p:cNvPr id="1812" name="Google Shape;1812;p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3" name="Google Shape;1813;p1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Historically we simplified tasks, like translation, to reduce their ambiguity and make it easier to optimize a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But many things we care about as researchers and scientists don’t live in the world of automatic verification and require studying something from a particular angle or perspective</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p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0" name="Google Shape;1820;p1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Historically, we simplified tasks to reduce natural ambiguity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E.g., translation, sentiment analysis, natural language inference, extractive summarization,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Makes tasks design and evaluation easier → quick optimization.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More performant LLMs invite us to revisit some of these simplifications and tackle more interesting questions directly.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But models become increasingly competent, progress increasingly depends on specifying the objective and evaluating it reliably—not just generating good text.</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p1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7" name="Google Shape;1827;p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p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4" name="Google Shape;1834;p1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Here’s the core problem in one picture: two humans can summarize the same long opinion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Both might be ‘good’—but for different audiences and purposes.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So benchmarks that assume a single reference summary miss what’s actually hard here.</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p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9" name="Google Shape;1849;p1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Michigan survey ask inflation expectations over next year. Get average over everyone.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People overestimate on average</a:t>
            </a:r>
            <a:endParaRPr/>
          </a:p>
          <a:p>
            <a:pPr indent="0" lvl="0" marL="0" rtl="0" algn="l">
              <a:spcBef>
                <a:spcPts val="0"/>
              </a:spcBef>
              <a:spcAft>
                <a:spcPts val="0"/>
              </a:spcAft>
              <a:buNone/>
            </a:pPr>
            <a:r>
              <a:rPr lang="en-US" sz="1200">
                <a:latin typeface="Arial"/>
                <a:ea typeface="Arial"/>
                <a:cs typeface="Arial"/>
                <a:sym typeface="Arial"/>
              </a:rPr>
              <a:t>Wide dispersion</a:t>
            </a:r>
            <a:endParaRPr/>
          </a:p>
          <a:p>
            <a:pPr indent="0" lvl="0" marL="0" rtl="0" algn="l">
              <a:spcBef>
                <a:spcPts val="0"/>
              </a:spcBef>
              <a:spcAft>
                <a:spcPts val="0"/>
              </a:spcAft>
              <a:buNone/>
            </a:pPr>
            <a:r>
              <a:rPr lang="en-US" sz="1200">
                <a:latin typeface="Arial"/>
                <a:ea typeface="Arial"/>
                <a:cs typeface="Arial"/>
                <a:sym typeface="Arial"/>
              </a:rPr>
              <a:t>People are affected by what they see in grocery store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Numbers of “inflation” mentions is not predictive – log to look at pct change bc trends high over time – get rid of spurious correlations from consistent upward trends (autocorrelation)</a:t>
            </a:r>
            <a:endParaRPr/>
          </a:p>
          <a:p>
            <a:pPr indent="0" lvl="0" marL="0" rtl="0" algn="l">
              <a:spcBef>
                <a:spcPts val="0"/>
              </a:spcBef>
              <a:spcAft>
                <a:spcPts val="0"/>
              </a:spcAft>
              <a:buNone/>
            </a:pPr>
            <a:r>
              <a:rPr lang="en-US" sz="1200">
                <a:latin typeface="Arial"/>
                <a:ea typeface="Arial"/>
                <a:cs typeface="Arial"/>
                <a:sym typeface="Arial"/>
              </a:rPr>
              <a:t>But there are narrative!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Share of n-grams vs share of narratives chart (each x-tick would be a month)</a:t>
            </a:r>
            <a:endParaRPr/>
          </a:p>
          <a:p>
            <a:pPr indent="0" lvl="0" marL="0" rtl="0" algn="l">
              <a:spcBef>
                <a:spcPts val="0"/>
              </a:spcBef>
              <a:spcAft>
                <a:spcPts val="0"/>
              </a:spcAft>
              <a:buNone/>
            </a:pPr>
            <a:r>
              <a:rPr lang="en-US" sz="1200">
                <a:latin typeface="Arial"/>
                <a:ea typeface="Arial"/>
                <a:cs typeface="Arial"/>
                <a:sym typeface="Arial"/>
              </a:rPr>
              <a:t>Maybe also show how narratives change over time some increase some go dwon (vs eg raw counts of inflation mentons)</a:t>
            </a:r>
            <a:endParaRPr/>
          </a:p>
          <a:p>
            <a:pPr indent="0" lvl="0" marL="0" rtl="0" algn="l">
              <a:spcBef>
                <a:spcPts val="0"/>
              </a:spcBef>
              <a:spcAft>
                <a:spcPts val="0"/>
              </a:spcAft>
              <a:buNone/>
            </a:pPr>
            <a:r>
              <a:rPr lang="en-US" sz="1200">
                <a:latin typeface="Arial"/>
                <a:ea typeface="Arial"/>
                <a:cs typeface="Arial"/>
                <a:sym typeface="Arial"/>
              </a:rPr>
              <a:t>Scatter plot</a:t>
            </a:r>
            <a:endParaRPr/>
          </a:p>
          <a:p>
            <a:pPr indent="0" lvl="0" marL="0" rtl="0" algn="l">
              <a:spcBef>
                <a:spcPts val="0"/>
              </a:spcBef>
              <a:spcAft>
                <a:spcPts val="0"/>
              </a:spcAft>
              <a:buNone/>
            </a:pPr>
            <a:r>
              <a:rPr lang="en-US" sz="1200">
                <a:latin typeface="Arial"/>
                <a:ea typeface="Arial"/>
                <a:cs typeface="Arial"/>
                <a:sym typeface="Arial"/>
              </a:rPr>
              <a:t>Pearson correlation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Table 2: disagreement in inflation expectations on two horizons</a:t>
            </a:r>
            <a:endParaRPr/>
          </a:p>
          <a:p>
            <a:pPr indent="0" lvl="0" marL="0" rtl="0" algn="l">
              <a:spcBef>
                <a:spcPts val="0"/>
              </a:spcBef>
              <a:spcAft>
                <a:spcPts val="0"/>
              </a:spcAft>
              <a:buNone/>
            </a:pPr>
            <a:r>
              <a:rPr b="1" lang="en-US"/>
              <a:t>More than the yoy realization inflation – more than in Table 1 (just 1/3)</a:t>
            </a:r>
            <a:endParaRPr/>
          </a:p>
          <a:p>
            <a:pPr indent="0" lvl="0" marL="0" rtl="0" algn="l">
              <a:spcBef>
                <a:spcPts val="0"/>
              </a:spcBef>
              <a:spcAft>
                <a:spcPts val="0"/>
              </a:spcAft>
              <a:buNone/>
            </a:pPr>
            <a:r>
              <a:rPr lang="en-US" sz="1200">
                <a:latin typeface="Arial"/>
                <a:ea typeface="Arial"/>
                <a:cs typeface="Arial"/>
                <a:sym typeface="Arial"/>
              </a:rPr>
              <a:t>Fiscal -&gt; more uncertainty</a:t>
            </a:r>
            <a:endParaRPr/>
          </a:p>
          <a:p>
            <a:pPr indent="0" lvl="0" marL="0" rtl="0" algn="l">
              <a:spcBef>
                <a:spcPts val="0"/>
              </a:spcBef>
              <a:spcAft>
                <a:spcPts val="0"/>
              </a:spcAft>
              <a:buNone/>
            </a:pPr>
            <a:r>
              <a:rPr lang="en-US" sz="1200">
                <a:latin typeface="Arial"/>
                <a:ea typeface="Arial"/>
                <a:cs typeface="Arial"/>
                <a:sym typeface="Arial"/>
              </a:rPr>
              <a:t>Negative coefficients? (maybe bc with increase of one, that means others go down so less contention among narratives?)</a:t>
            </a:r>
            <a:endParaRPr/>
          </a:p>
          <a:p>
            <a:pPr indent="0" lvl="0" marL="0" rtl="0" algn="l">
              <a:spcBef>
                <a:spcPts val="0"/>
              </a:spcBef>
              <a:spcAft>
                <a:spcPts val="0"/>
              </a:spcAft>
              <a:buNone/>
            </a:pPr>
            <a:r>
              <a:rPr lang="en-US" sz="1200">
                <a:latin typeface="Arial"/>
                <a:ea typeface="Arial"/>
                <a:cs typeface="Arial"/>
                <a:sym typeface="Arial"/>
              </a:rPr>
              <a:t>Social is high</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Obivously need more robustnss (what robustness?)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Do regional bc less persistent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Table 3: entropy</a:t>
            </a:r>
            <a:endParaRPr/>
          </a:p>
          <a:p>
            <a:pPr indent="0" lvl="0" marL="0" rtl="0" algn="l">
              <a:spcBef>
                <a:spcPts val="0"/>
              </a:spcBef>
              <a:spcAft>
                <a:spcPts val="0"/>
              </a:spcAft>
              <a:buNone/>
            </a:pPr>
            <a:r>
              <a:rPr lang="en-US" sz="1200">
                <a:latin typeface="Arial"/>
                <a:ea typeface="Arial"/>
                <a:cs typeface="Arial"/>
                <a:sym typeface="Arial"/>
              </a:rPr>
              <a:t>If more uncertainty, higher expectations</a:t>
            </a:r>
            <a:endParaRPr/>
          </a:p>
          <a:p>
            <a:pPr indent="0" lvl="0" marL="0" rtl="0" algn="l">
              <a:spcBef>
                <a:spcPts val="0"/>
              </a:spcBef>
              <a:spcAft>
                <a:spcPts val="0"/>
              </a:spcAft>
              <a:buNone/>
            </a:pPr>
            <a:r>
              <a:rPr lang="en-US" sz="1200">
                <a:latin typeface="Arial"/>
                <a:ea typeface="Arial"/>
                <a:cs typeface="Arial"/>
                <a:sym typeface="Arial"/>
              </a:rPr>
              <a:t>And high uncertainty in the expectations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We normalize shares so they add to 1 then we calculate the entropy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Disagreement is the more novel stuff – survives robustness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FRAMING: Media econ and macro-econ. How do newspapers choose competing narratives and how does it affect beliefs</a:t>
            </a:r>
            <a:endParaRPr/>
          </a:p>
          <a:p>
            <a:pPr indent="0" lvl="0" marL="0" rtl="0" algn="l">
              <a:spcBef>
                <a:spcPts val="0"/>
              </a:spcBef>
              <a:spcAft>
                <a:spcPts val="0"/>
              </a:spcAft>
              <a:buNone/>
            </a:pPr>
            <a:r>
              <a:rPr lang="en-US" sz="1200">
                <a:latin typeface="Arial"/>
                <a:ea typeface="Arial"/>
                <a:cs typeface="Arial"/>
                <a:sym typeface="Arial"/>
              </a:rPr>
              <a:t>Reduced form bc no structural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We don’t have a model here (no causal) so model could address this</a:t>
            </a:r>
            <a:endParaRPr/>
          </a:p>
          <a:p>
            <a:pPr indent="0" lvl="0" marL="0" rtl="0" algn="l">
              <a:spcBef>
                <a:spcPts val="0"/>
              </a:spcBef>
              <a:spcAft>
                <a:spcPts val="0"/>
              </a:spcAft>
              <a:buNone/>
            </a:pPr>
            <a:r>
              <a:rPr lang="en-US" sz="1200">
                <a:latin typeface="Arial"/>
                <a:ea typeface="Arial"/>
                <a:cs typeface="Arial"/>
                <a:sym typeface="Arial"/>
              </a:rPr>
              <a:t>Reverse causation, inflation high -&gt; writing about it -&gt; persistence to it -&gt; affecting expectations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Not causal (eg newspaper could be writing because people believe something and they want to write about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Conundrum:</a:t>
            </a:r>
            <a:endParaRPr/>
          </a:p>
          <a:p>
            <a:pPr indent="0" lvl="0" marL="0" rtl="0" algn="l">
              <a:spcBef>
                <a:spcPts val="0"/>
              </a:spcBef>
              <a:spcAft>
                <a:spcPts val="0"/>
              </a:spcAft>
              <a:buNone/>
            </a:pPr>
            <a:r>
              <a:rPr lang="en-US" sz="1200">
                <a:latin typeface="Arial"/>
                <a:ea typeface="Arial"/>
                <a:cs typeface="Arial"/>
                <a:sym typeface="Arial"/>
              </a:rPr>
              <a:t>Pure contagion effect, not the pure macro-effect</a:t>
            </a:r>
            <a:endParaRPr/>
          </a:p>
          <a:p>
            <a:pPr indent="0" lvl="0" marL="0" rtl="0" algn="l">
              <a:spcBef>
                <a:spcPts val="0"/>
              </a:spcBef>
              <a:spcAft>
                <a:spcPts val="0"/>
              </a:spcAft>
              <a:buNone/>
            </a:pPr>
            <a:r>
              <a:rPr lang="en-US" sz="1200">
                <a:latin typeface="Arial"/>
                <a:ea typeface="Arial"/>
                <a:cs typeface="Arial"/>
                <a:sym typeface="Arial"/>
              </a:rPr>
              <a:t>We wanna capture the notion of spread (like a diseases) like ”im doing it because youre doing it”, not “im doing it just because I see someone else doing it and im gonna do it bc of that”. That tricky.</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8" name="Shape 1878"/>
        <p:cNvGrpSpPr/>
        <p:nvPr/>
      </p:nvGrpSpPr>
      <p:grpSpPr>
        <a:xfrm>
          <a:off x="0" y="0"/>
          <a:ext cx="0" cy="0"/>
          <a:chOff x="0" y="0"/>
          <a:chExt cx="0" cy="0"/>
        </a:xfrm>
      </p:grpSpPr>
      <p:sp>
        <p:nvSpPr>
          <p:cNvPr id="1879" name="Google Shape;1879;p1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0" name="Google Shape;1880;p1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p1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2" name="Google Shape;1902;p1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p1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9" name="Google Shape;1909;p1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4" name="Shape 1914"/>
        <p:cNvGrpSpPr/>
        <p:nvPr/>
      </p:nvGrpSpPr>
      <p:grpSpPr>
        <a:xfrm>
          <a:off x="0" y="0"/>
          <a:ext cx="0" cy="0"/>
          <a:chOff x="0" y="0"/>
          <a:chExt cx="0" cy="0"/>
        </a:xfrm>
      </p:grpSpPr>
      <p:sp>
        <p:nvSpPr>
          <p:cNvPr id="1915" name="Google Shape;1915;p1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6" name="Google Shape;1916;p1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1" name="Shape 1921"/>
        <p:cNvGrpSpPr/>
        <p:nvPr/>
      </p:nvGrpSpPr>
      <p:grpSpPr>
        <a:xfrm>
          <a:off x="0" y="0"/>
          <a:ext cx="0" cy="0"/>
          <a:chOff x="0" y="0"/>
          <a:chExt cx="0" cy="0"/>
        </a:xfrm>
      </p:grpSpPr>
      <p:sp>
        <p:nvSpPr>
          <p:cNvPr id="1922" name="Google Shape;1922;p1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3" name="Google Shape;1923;p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p1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0" name="Google Shape;1930;p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5" name="Shape 1935"/>
        <p:cNvGrpSpPr/>
        <p:nvPr/>
      </p:nvGrpSpPr>
      <p:grpSpPr>
        <a:xfrm>
          <a:off x="0" y="0"/>
          <a:ext cx="0" cy="0"/>
          <a:chOff x="0" y="0"/>
          <a:chExt cx="0" cy="0"/>
        </a:xfrm>
      </p:grpSpPr>
      <p:sp>
        <p:nvSpPr>
          <p:cNvPr id="1936" name="Google Shape;1936;p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7" name="Google Shape;1937;p1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But lots of language tasks don’t have a single correct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Even summarizing the same book or document can yield multiple valid summaries—depending on goals.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That means evaluation becomes the bottleneck: what does ‘good’ mean?</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0" name="Shape 1960"/>
        <p:cNvGrpSpPr/>
        <p:nvPr/>
      </p:nvGrpSpPr>
      <p:grpSpPr>
        <a:xfrm>
          <a:off x="0" y="0"/>
          <a:ext cx="0" cy="0"/>
          <a:chOff x="0" y="0"/>
          <a:chExt cx="0" cy="0"/>
        </a:xfrm>
      </p:grpSpPr>
      <p:sp>
        <p:nvSpPr>
          <p:cNvPr id="1961" name="Google Shape;1961;p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2" name="Google Shape;1962;p1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The ambiguity isn’t random—it comes from different readers / audiences / objectives.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So the challenge isn’t just generating text. It’s: how do we evaluate language when multiple outputs can be reasonable?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Indeed many things we care about as researchers and scientists don’t live in the world of easily verifiable outputs and require considering a particular angle or perspective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latin typeface="Arial"/>
                <a:ea typeface="Arial"/>
                <a:cs typeface="Arial"/>
                <a:sym typeface="Arial"/>
              </a:rPr>
              <a:t>That’s the problem framing I’m going to build 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spTree>
      <p:nvGrpSpPr>
        <p:cNvPr id="9" name="Shape 9"/>
        <p:cNvGrpSpPr/>
        <p:nvPr/>
      </p:nvGrpSpPr>
      <p:grpSpPr>
        <a:xfrm>
          <a:off x="0" y="0"/>
          <a:ext cx="0" cy="0"/>
          <a:chOff x="0" y="0"/>
          <a:chExt cx="0" cy="0"/>
        </a:xfrm>
      </p:grpSpPr>
      <p:sp>
        <p:nvSpPr>
          <p:cNvPr id="10" name="Google Shape;10;p2"/>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Play"/>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2"/>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757575"/>
              </a:buClr>
              <a:buSzPts val="2400"/>
              <a:buFont typeface="Arial"/>
              <a:buNone/>
              <a:defRPr sz="2400">
                <a:solidFill>
                  <a:srgbClr val="757575"/>
                </a:solidFill>
              </a:defRPr>
            </a:lvl1pPr>
            <a:lvl2pPr indent="-228600" lvl="1" marL="914400" algn="l">
              <a:lnSpc>
                <a:spcPct val="90000"/>
              </a:lnSpc>
              <a:spcBef>
                <a:spcPts val="1000"/>
              </a:spcBef>
              <a:spcAft>
                <a:spcPts val="0"/>
              </a:spcAft>
              <a:buClr>
                <a:srgbClr val="757575"/>
              </a:buClr>
              <a:buSzPts val="2400"/>
              <a:buFont typeface="Arial"/>
              <a:buNone/>
              <a:defRPr sz="2400">
                <a:solidFill>
                  <a:srgbClr val="757575"/>
                </a:solidFill>
              </a:defRPr>
            </a:lvl2pPr>
            <a:lvl3pPr indent="-228600" lvl="2" marL="1371600" algn="l">
              <a:lnSpc>
                <a:spcPct val="90000"/>
              </a:lnSpc>
              <a:spcBef>
                <a:spcPts val="1000"/>
              </a:spcBef>
              <a:spcAft>
                <a:spcPts val="0"/>
              </a:spcAft>
              <a:buClr>
                <a:srgbClr val="757575"/>
              </a:buClr>
              <a:buSzPts val="2400"/>
              <a:buFont typeface="Arial"/>
              <a:buNone/>
              <a:defRPr sz="2400">
                <a:solidFill>
                  <a:srgbClr val="757575"/>
                </a:solidFill>
              </a:defRPr>
            </a:lvl3pPr>
            <a:lvl4pPr indent="-228600" lvl="3" marL="1828800" algn="l">
              <a:lnSpc>
                <a:spcPct val="90000"/>
              </a:lnSpc>
              <a:spcBef>
                <a:spcPts val="1000"/>
              </a:spcBef>
              <a:spcAft>
                <a:spcPts val="0"/>
              </a:spcAft>
              <a:buClr>
                <a:srgbClr val="757575"/>
              </a:buClr>
              <a:buSzPts val="2400"/>
              <a:buFont typeface="Arial"/>
              <a:buNone/>
              <a:defRPr sz="2400">
                <a:solidFill>
                  <a:srgbClr val="757575"/>
                </a:solidFill>
              </a:defRPr>
            </a:lvl4pPr>
            <a:lvl5pPr indent="-228600" lvl="4" marL="2286000" algn="l">
              <a:lnSpc>
                <a:spcPct val="90000"/>
              </a:lnSpc>
              <a:spcBef>
                <a:spcPts val="1000"/>
              </a:spcBef>
              <a:spcAft>
                <a:spcPts val="0"/>
              </a:spcAft>
              <a:buClr>
                <a:srgbClr val="757575"/>
              </a:buClr>
              <a:buSzPts val="2400"/>
              <a:buFont typeface="Arial"/>
              <a:buNone/>
              <a:defRPr sz="2400">
                <a:solidFill>
                  <a:srgbClr val="757575"/>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2" name="Google Shape;12;p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757575"/>
              </a:buClr>
              <a:buSzPts val="1200"/>
              <a:buFont typeface="Arial"/>
              <a:buNone/>
              <a:defRPr sz="1200">
                <a:solidFill>
                  <a:srgbClr val="757575"/>
                </a:solidFill>
              </a:defRPr>
            </a:lvl1pPr>
            <a:lvl2pPr indent="0" lvl="1" marL="0" algn="r">
              <a:lnSpc>
                <a:spcPct val="100000"/>
              </a:lnSpc>
              <a:spcBef>
                <a:spcPts val="0"/>
              </a:spcBef>
              <a:spcAft>
                <a:spcPts val="0"/>
              </a:spcAft>
              <a:buClr>
                <a:srgbClr val="757575"/>
              </a:buClr>
              <a:buSzPts val="1200"/>
              <a:buFont typeface="Arial"/>
              <a:buNone/>
              <a:defRPr sz="1200">
                <a:solidFill>
                  <a:srgbClr val="757575"/>
                </a:solidFill>
              </a:defRPr>
            </a:lvl2pPr>
            <a:lvl3pPr indent="0" lvl="2" marL="0" algn="r">
              <a:lnSpc>
                <a:spcPct val="100000"/>
              </a:lnSpc>
              <a:spcBef>
                <a:spcPts val="0"/>
              </a:spcBef>
              <a:spcAft>
                <a:spcPts val="0"/>
              </a:spcAft>
              <a:buClr>
                <a:srgbClr val="757575"/>
              </a:buClr>
              <a:buSzPts val="1200"/>
              <a:buFont typeface="Arial"/>
              <a:buNone/>
              <a:defRPr sz="1200">
                <a:solidFill>
                  <a:srgbClr val="757575"/>
                </a:solidFill>
              </a:defRPr>
            </a:lvl3pPr>
            <a:lvl4pPr indent="0" lvl="3" marL="0" algn="r">
              <a:lnSpc>
                <a:spcPct val="100000"/>
              </a:lnSpc>
              <a:spcBef>
                <a:spcPts val="0"/>
              </a:spcBef>
              <a:spcAft>
                <a:spcPts val="0"/>
              </a:spcAft>
              <a:buClr>
                <a:srgbClr val="757575"/>
              </a:buClr>
              <a:buSzPts val="1200"/>
              <a:buFont typeface="Arial"/>
              <a:buNone/>
              <a:defRPr sz="1200">
                <a:solidFill>
                  <a:srgbClr val="757575"/>
                </a:solidFill>
              </a:defRPr>
            </a:lvl4pPr>
            <a:lvl5pPr indent="0" lvl="4" marL="0" algn="r">
              <a:lnSpc>
                <a:spcPct val="100000"/>
              </a:lnSpc>
              <a:spcBef>
                <a:spcPts val="0"/>
              </a:spcBef>
              <a:spcAft>
                <a:spcPts val="0"/>
              </a:spcAft>
              <a:buClr>
                <a:srgbClr val="757575"/>
              </a:buClr>
              <a:buSzPts val="1200"/>
              <a:buFont typeface="Arial"/>
              <a:buNone/>
              <a:defRPr sz="1200">
                <a:solidFill>
                  <a:srgbClr val="757575"/>
                </a:solidFill>
              </a:defRPr>
            </a:lvl5pPr>
            <a:lvl6pPr indent="0" lvl="5" marL="0" algn="r">
              <a:lnSpc>
                <a:spcPct val="100000"/>
              </a:lnSpc>
              <a:spcBef>
                <a:spcPts val="0"/>
              </a:spcBef>
              <a:spcAft>
                <a:spcPts val="0"/>
              </a:spcAft>
              <a:buClr>
                <a:srgbClr val="757575"/>
              </a:buClr>
              <a:buSzPts val="1200"/>
              <a:buFont typeface="Arial"/>
              <a:buNone/>
              <a:defRPr sz="1200">
                <a:solidFill>
                  <a:srgbClr val="757575"/>
                </a:solidFill>
              </a:defRPr>
            </a:lvl6pPr>
            <a:lvl7pPr indent="0" lvl="6" marL="0" algn="r">
              <a:lnSpc>
                <a:spcPct val="100000"/>
              </a:lnSpc>
              <a:spcBef>
                <a:spcPts val="0"/>
              </a:spcBef>
              <a:spcAft>
                <a:spcPts val="0"/>
              </a:spcAft>
              <a:buClr>
                <a:srgbClr val="757575"/>
              </a:buClr>
              <a:buSzPts val="1200"/>
              <a:buFont typeface="Arial"/>
              <a:buNone/>
              <a:defRPr sz="1200">
                <a:solidFill>
                  <a:srgbClr val="757575"/>
                </a:solidFill>
              </a:defRPr>
            </a:lvl7pPr>
            <a:lvl8pPr indent="0" lvl="7" marL="0" algn="r">
              <a:lnSpc>
                <a:spcPct val="100000"/>
              </a:lnSpc>
              <a:spcBef>
                <a:spcPts val="0"/>
              </a:spcBef>
              <a:spcAft>
                <a:spcPts val="0"/>
              </a:spcAft>
              <a:buClr>
                <a:srgbClr val="757575"/>
              </a:buClr>
              <a:buSzPts val="1200"/>
              <a:buFont typeface="Arial"/>
              <a:buNone/>
              <a:defRPr sz="1200">
                <a:solidFill>
                  <a:srgbClr val="757575"/>
                </a:solidFill>
              </a:defRPr>
            </a:lvl8pPr>
            <a:lvl9pPr indent="0" lvl="8" marL="0" algn="r">
              <a:lnSpc>
                <a:spcPct val="100000"/>
              </a:lnSpc>
              <a:spcBef>
                <a:spcPts val="0"/>
              </a:spcBef>
              <a:spcAft>
                <a:spcPts val="0"/>
              </a:spcAft>
              <a:buClr>
                <a:srgbClr val="757575"/>
              </a:buClr>
              <a:buSzPts val="1200"/>
              <a:buFont typeface="Arial"/>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6" name="Google Shape;16;p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757575"/>
              </a:buClr>
              <a:buSzPts val="1200"/>
              <a:buFont typeface="Arial"/>
              <a:buNone/>
              <a:defRPr sz="1200">
                <a:solidFill>
                  <a:srgbClr val="757575"/>
                </a:solidFill>
              </a:defRPr>
            </a:lvl1pPr>
            <a:lvl2pPr indent="0" lvl="1" marL="0" algn="r">
              <a:lnSpc>
                <a:spcPct val="100000"/>
              </a:lnSpc>
              <a:spcBef>
                <a:spcPts val="0"/>
              </a:spcBef>
              <a:spcAft>
                <a:spcPts val="0"/>
              </a:spcAft>
              <a:buClr>
                <a:srgbClr val="757575"/>
              </a:buClr>
              <a:buSzPts val="1200"/>
              <a:buFont typeface="Arial"/>
              <a:buNone/>
              <a:defRPr sz="1200">
                <a:solidFill>
                  <a:srgbClr val="757575"/>
                </a:solidFill>
              </a:defRPr>
            </a:lvl2pPr>
            <a:lvl3pPr indent="0" lvl="2" marL="0" algn="r">
              <a:lnSpc>
                <a:spcPct val="100000"/>
              </a:lnSpc>
              <a:spcBef>
                <a:spcPts val="0"/>
              </a:spcBef>
              <a:spcAft>
                <a:spcPts val="0"/>
              </a:spcAft>
              <a:buClr>
                <a:srgbClr val="757575"/>
              </a:buClr>
              <a:buSzPts val="1200"/>
              <a:buFont typeface="Arial"/>
              <a:buNone/>
              <a:defRPr sz="1200">
                <a:solidFill>
                  <a:srgbClr val="757575"/>
                </a:solidFill>
              </a:defRPr>
            </a:lvl3pPr>
            <a:lvl4pPr indent="0" lvl="3" marL="0" algn="r">
              <a:lnSpc>
                <a:spcPct val="100000"/>
              </a:lnSpc>
              <a:spcBef>
                <a:spcPts val="0"/>
              </a:spcBef>
              <a:spcAft>
                <a:spcPts val="0"/>
              </a:spcAft>
              <a:buClr>
                <a:srgbClr val="757575"/>
              </a:buClr>
              <a:buSzPts val="1200"/>
              <a:buFont typeface="Arial"/>
              <a:buNone/>
              <a:defRPr sz="1200">
                <a:solidFill>
                  <a:srgbClr val="757575"/>
                </a:solidFill>
              </a:defRPr>
            </a:lvl4pPr>
            <a:lvl5pPr indent="0" lvl="4" marL="0" algn="r">
              <a:lnSpc>
                <a:spcPct val="100000"/>
              </a:lnSpc>
              <a:spcBef>
                <a:spcPts val="0"/>
              </a:spcBef>
              <a:spcAft>
                <a:spcPts val="0"/>
              </a:spcAft>
              <a:buClr>
                <a:srgbClr val="757575"/>
              </a:buClr>
              <a:buSzPts val="1200"/>
              <a:buFont typeface="Arial"/>
              <a:buNone/>
              <a:defRPr sz="1200">
                <a:solidFill>
                  <a:srgbClr val="757575"/>
                </a:solidFill>
              </a:defRPr>
            </a:lvl5pPr>
            <a:lvl6pPr indent="0" lvl="5" marL="0" algn="r">
              <a:lnSpc>
                <a:spcPct val="100000"/>
              </a:lnSpc>
              <a:spcBef>
                <a:spcPts val="0"/>
              </a:spcBef>
              <a:spcAft>
                <a:spcPts val="0"/>
              </a:spcAft>
              <a:buClr>
                <a:srgbClr val="757575"/>
              </a:buClr>
              <a:buSzPts val="1200"/>
              <a:buFont typeface="Arial"/>
              <a:buNone/>
              <a:defRPr sz="1200">
                <a:solidFill>
                  <a:srgbClr val="757575"/>
                </a:solidFill>
              </a:defRPr>
            </a:lvl6pPr>
            <a:lvl7pPr indent="0" lvl="6" marL="0" algn="r">
              <a:lnSpc>
                <a:spcPct val="100000"/>
              </a:lnSpc>
              <a:spcBef>
                <a:spcPts val="0"/>
              </a:spcBef>
              <a:spcAft>
                <a:spcPts val="0"/>
              </a:spcAft>
              <a:buClr>
                <a:srgbClr val="757575"/>
              </a:buClr>
              <a:buSzPts val="1200"/>
              <a:buFont typeface="Arial"/>
              <a:buNone/>
              <a:defRPr sz="1200">
                <a:solidFill>
                  <a:srgbClr val="757575"/>
                </a:solidFill>
              </a:defRPr>
            </a:lvl7pPr>
            <a:lvl8pPr indent="0" lvl="7" marL="0" algn="r">
              <a:lnSpc>
                <a:spcPct val="100000"/>
              </a:lnSpc>
              <a:spcBef>
                <a:spcPts val="0"/>
              </a:spcBef>
              <a:spcAft>
                <a:spcPts val="0"/>
              </a:spcAft>
              <a:buClr>
                <a:srgbClr val="757575"/>
              </a:buClr>
              <a:buSzPts val="1200"/>
              <a:buFont typeface="Arial"/>
              <a:buNone/>
              <a:defRPr sz="1200">
                <a:solidFill>
                  <a:srgbClr val="757575"/>
                </a:solidFill>
              </a:defRPr>
            </a:lvl8pPr>
            <a:lvl9pPr indent="0" lvl="8" marL="0" algn="r">
              <a:lnSpc>
                <a:spcPct val="100000"/>
              </a:lnSpc>
              <a:spcBef>
                <a:spcPts val="0"/>
              </a:spcBef>
              <a:spcAft>
                <a:spcPts val="0"/>
              </a:spcAft>
              <a:buClr>
                <a:srgbClr val="757575"/>
              </a:buClr>
              <a:buSzPts val="1200"/>
              <a:buFont typeface="Arial"/>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 name="Shape 17"/>
        <p:cNvGrpSpPr/>
        <p:nvPr/>
      </p:nvGrpSpPr>
      <p:grpSpPr>
        <a:xfrm>
          <a:off x="0" y="0"/>
          <a:ext cx="0" cy="0"/>
          <a:chOff x="0" y="0"/>
          <a:chExt cx="0" cy="0"/>
        </a:xfrm>
      </p:grpSpPr>
      <p:sp>
        <p:nvSpPr>
          <p:cNvPr id="18" name="Google Shape;18;p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9" name="Google Shape;19;p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757575"/>
              </a:buClr>
              <a:buSzPts val="1200"/>
              <a:buFont typeface="Arial"/>
              <a:buNone/>
              <a:defRPr sz="1200">
                <a:solidFill>
                  <a:srgbClr val="757575"/>
                </a:solidFill>
              </a:defRPr>
            </a:lvl1pPr>
            <a:lvl2pPr indent="0" lvl="1" marL="0" algn="r">
              <a:lnSpc>
                <a:spcPct val="100000"/>
              </a:lnSpc>
              <a:spcBef>
                <a:spcPts val="0"/>
              </a:spcBef>
              <a:spcAft>
                <a:spcPts val="0"/>
              </a:spcAft>
              <a:buClr>
                <a:srgbClr val="757575"/>
              </a:buClr>
              <a:buSzPts val="1200"/>
              <a:buFont typeface="Arial"/>
              <a:buNone/>
              <a:defRPr sz="1200">
                <a:solidFill>
                  <a:srgbClr val="757575"/>
                </a:solidFill>
              </a:defRPr>
            </a:lvl2pPr>
            <a:lvl3pPr indent="0" lvl="2" marL="0" algn="r">
              <a:lnSpc>
                <a:spcPct val="100000"/>
              </a:lnSpc>
              <a:spcBef>
                <a:spcPts val="0"/>
              </a:spcBef>
              <a:spcAft>
                <a:spcPts val="0"/>
              </a:spcAft>
              <a:buClr>
                <a:srgbClr val="757575"/>
              </a:buClr>
              <a:buSzPts val="1200"/>
              <a:buFont typeface="Arial"/>
              <a:buNone/>
              <a:defRPr sz="1200">
                <a:solidFill>
                  <a:srgbClr val="757575"/>
                </a:solidFill>
              </a:defRPr>
            </a:lvl3pPr>
            <a:lvl4pPr indent="0" lvl="3" marL="0" algn="r">
              <a:lnSpc>
                <a:spcPct val="100000"/>
              </a:lnSpc>
              <a:spcBef>
                <a:spcPts val="0"/>
              </a:spcBef>
              <a:spcAft>
                <a:spcPts val="0"/>
              </a:spcAft>
              <a:buClr>
                <a:srgbClr val="757575"/>
              </a:buClr>
              <a:buSzPts val="1200"/>
              <a:buFont typeface="Arial"/>
              <a:buNone/>
              <a:defRPr sz="1200">
                <a:solidFill>
                  <a:srgbClr val="757575"/>
                </a:solidFill>
              </a:defRPr>
            </a:lvl4pPr>
            <a:lvl5pPr indent="0" lvl="4" marL="0" algn="r">
              <a:lnSpc>
                <a:spcPct val="100000"/>
              </a:lnSpc>
              <a:spcBef>
                <a:spcPts val="0"/>
              </a:spcBef>
              <a:spcAft>
                <a:spcPts val="0"/>
              </a:spcAft>
              <a:buClr>
                <a:srgbClr val="757575"/>
              </a:buClr>
              <a:buSzPts val="1200"/>
              <a:buFont typeface="Arial"/>
              <a:buNone/>
              <a:defRPr sz="1200">
                <a:solidFill>
                  <a:srgbClr val="757575"/>
                </a:solidFill>
              </a:defRPr>
            </a:lvl5pPr>
            <a:lvl6pPr indent="0" lvl="5" marL="0" algn="r">
              <a:lnSpc>
                <a:spcPct val="100000"/>
              </a:lnSpc>
              <a:spcBef>
                <a:spcPts val="0"/>
              </a:spcBef>
              <a:spcAft>
                <a:spcPts val="0"/>
              </a:spcAft>
              <a:buClr>
                <a:srgbClr val="757575"/>
              </a:buClr>
              <a:buSzPts val="1200"/>
              <a:buFont typeface="Arial"/>
              <a:buNone/>
              <a:defRPr sz="1200">
                <a:solidFill>
                  <a:srgbClr val="757575"/>
                </a:solidFill>
              </a:defRPr>
            </a:lvl6pPr>
            <a:lvl7pPr indent="0" lvl="6" marL="0" algn="r">
              <a:lnSpc>
                <a:spcPct val="100000"/>
              </a:lnSpc>
              <a:spcBef>
                <a:spcPts val="0"/>
              </a:spcBef>
              <a:spcAft>
                <a:spcPts val="0"/>
              </a:spcAft>
              <a:buClr>
                <a:srgbClr val="757575"/>
              </a:buClr>
              <a:buSzPts val="1200"/>
              <a:buFont typeface="Arial"/>
              <a:buNone/>
              <a:defRPr sz="1200">
                <a:solidFill>
                  <a:srgbClr val="757575"/>
                </a:solidFill>
              </a:defRPr>
            </a:lvl7pPr>
            <a:lvl8pPr indent="0" lvl="7" marL="0" algn="r">
              <a:lnSpc>
                <a:spcPct val="100000"/>
              </a:lnSpc>
              <a:spcBef>
                <a:spcPts val="0"/>
              </a:spcBef>
              <a:spcAft>
                <a:spcPts val="0"/>
              </a:spcAft>
              <a:buClr>
                <a:srgbClr val="757575"/>
              </a:buClr>
              <a:buSzPts val="1200"/>
              <a:buFont typeface="Arial"/>
              <a:buNone/>
              <a:defRPr sz="1200">
                <a:solidFill>
                  <a:srgbClr val="757575"/>
                </a:solidFill>
              </a:defRPr>
            </a:lvl8pPr>
            <a:lvl9pPr indent="0" lvl="8" marL="0" algn="r">
              <a:lnSpc>
                <a:spcPct val="100000"/>
              </a:lnSpc>
              <a:spcBef>
                <a:spcPts val="0"/>
              </a:spcBef>
              <a:spcAft>
                <a:spcPts val="0"/>
              </a:spcAft>
              <a:buClr>
                <a:srgbClr val="757575"/>
              </a:buClr>
              <a:buSzPts val="1200"/>
              <a:buFont typeface="Arial"/>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0" name="Shape 20"/>
        <p:cNvGrpSpPr/>
        <p:nvPr/>
      </p:nvGrpSpPr>
      <p:grpSpPr>
        <a:xfrm>
          <a:off x="0" y="0"/>
          <a:ext cx="0" cy="0"/>
          <a:chOff x="0" y="0"/>
          <a:chExt cx="0" cy="0"/>
        </a:xfrm>
      </p:grpSpPr>
      <p:sp>
        <p:nvSpPr>
          <p:cNvPr id="21" name="Google Shape;21;p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757575"/>
              </a:buClr>
              <a:buSzPts val="1200"/>
              <a:buFont typeface="Arial"/>
              <a:buNone/>
              <a:defRPr sz="1200">
                <a:solidFill>
                  <a:srgbClr val="757575"/>
                </a:solidFill>
              </a:defRPr>
            </a:lvl1pPr>
            <a:lvl2pPr indent="0" lvl="1" marL="0" algn="r">
              <a:lnSpc>
                <a:spcPct val="100000"/>
              </a:lnSpc>
              <a:spcBef>
                <a:spcPts val="0"/>
              </a:spcBef>
              <a:spcAft>
                <a:spcPts val="0"/>
              </a:spcAft>
              <a:buClr>
                <a:srgbClr val="757575"/>
              </a:buClr>
              <a:buSzPts val="1200"/>
              <a:buFont typeface="Arial"/>
              <a:buNone/>
              <a:defRPr sz="1200">
                <a:solidFill>
                  <a:srgbClr val="757575"/>
                </a:solidFill>
              </a:defRPr>
            </a:lvl2pPr>
            <a:lvl3pPr indent="0" lvl="2" marL="0" algn="r">
              <a:lnSpc>
                <a:spcPct val="100000"/>
              </a:lnSpc>
              <a:spcBef>
                <a:spcPts val="0"/>
              </a:spcBef>
              <a:spcAft>
                <a:spcPts val="0"/>
              </a:spcAft>
              <a:buClr>
                <a:srgbClr val="757575"/>
              </a:buClr>
              <a:buSzPts val="1200"/>
              <a:buFont typeface="Arial"/>
              <a:buNone/>
              <a:defRPr sz="1200">
                <a:solidFill>
                  <a:srgbClr val="757575"/>
                </a:solidFill>
              </a:defRPr>
            </a:lvl3pPr>
            <a:lvl4pPr indent="0" lvl="3" marL="0" algn="r">
              <a:lnSpc>
                <a:spcPct val="100000"/>
              </a:lnSpc>
              <a:spcBef>
                <a:spcPts val="0"/>
              </a:spcBef>
              <a:spcAft>
                <a:spcPts val="0"/>
              </a:spcAft>
              <a:buClr>
                <a:srgbClr val="757575"/>
              </a:buClr>
              <a:buSzPts val="1200"/>
              <a:buFont typeface="Arial"/>
              <a:buNone/>
              <a:defRPr sz="1200">
                <a:solidFill>
                  <a:srgbClr val="757575"/>
                </a:solidFill>
              </a:defRPr>
            </a:lvl4pPr>
            <a:lvl5pPr indent="0" lvl="4" marL="0" algn="r">
              <a:lnSpc>
                <a:spcPct val="100000"/>
              </a:lnSpc>
              <a:spcBef>
                <a:spcPts val="0"/>
              </a:spcBef>
              <a:spcAft>
                <a:spcPts val="0"/>
              </a:spcAft>
              <a:buClr>
                <a:srgbClr val="757575"/>
              </a:buClr>
              <a:buSzPts val="1200"/>
              <a:buFont typeface="Arial"/>
              <a:buNone/>
              <a:defRPr sz="1200">
                <a:solidFill>
                  <a:srgbClr val="757575"/>
                </a:solidFill>
              </a:defRPr>
            </a:lvl5pPr>
            <a:lvl6pPr indent="0" lvl="5" marL="0" algn="r">
              <a:lnSpc>
                <a:spcPct val="100000"/>
              </a:lnSpc>
              <a:spcBef>
                <a:spcPts val="0"/>
              </a:spcBef>
              <a:spcAft>
                <a:spcPts val="0"/>
              </a:spcAft>
              <a:buClr>
                <a:srgbClr val="757575"/>
              </a:buClr>
              <a:buSzPts val="1200"/>
              <a:buFont typeface="Arial"/>
              <a:buNone/>
              <a:defRPr sz="1200">
                <a:solidFill>
                  <a:srgbClr val="757575"/>
                </a:solidFill>
              </a:defRPr>
            </a:lvl6pPr>
            <a:lvl7pPr indent="0" lvl="6" marL="0" algn="r">
              <a:lnSpc>
                <a:spcPct val="100000"/>
              </a:lnSpc>
              <a:spcBef>
                <a:spcPts val="0"/>
              </a:spcBef>
              <a:spcAft>
                <a:spcPts val="0"/>
              </a:spcAft>
              <a:buClr>
                <a:srgbClr val="757575"/>
              </a:buClr>
              <a:buSzPts val="1200"/>
              <a:buFont typeface="Arial"/>
              <a:buNone/>
              <a:defRPr sz="1200">
                <a:solidFill>
                  <a:srgbClr val="757575"/>
                </a:solidFill>
              </a:defRPr>
            </a:lvl7pPr>
            <a:lvl8pPr indent="0" lvl="7" marL="0" algn="r">
              <a:lnSpc>
                <a:spcPct val="100000"/>
              </a:lnSpc>
              <a:spcBef>
                <a:spcPts val="0"/>
              </a:spcBef>
              <a:spcAft>
                <a:spcPts val="0"/>
              </a:spcAft>
              <a:buClr>
                <a:srgbClr val="757575"/>
              </a:buClr>
              <a:buSzPts val="1200"/>
              <a:buFont typeface="Arial"/>
              <a:buNone/>
              <a:defRPr sz="1200">
                <a:solidFill>
                  <a:srgbClr val="757575"/>
                </a:solidFill>
              </a:defRPr>
            </a:lvl8pPr>
            <a:lvl9pPr indent="0" lvl="8" marL="0" algn="r">
              <a:lnSpc>
                <a:spcPct val="100000"/>
              </a:lnSpc>
              <a:spcBef>
                <a:spcPts val="0"/>
              </a:spcBef>
              <a:spcAft>
                <a:spcPts val="0"/>
              </a:spcAft>
              <a:buClr>
                <a:srgbClr val="757575"/>
              </a:buClr>
              <a:buSzPts val="1200"/>
              <a:buFont typeface="Arial"/>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6"/>
          <p:cNvSpPr txBox="1"/>
          <p:nvPr>
            <p:ph type="title"/>
          </p:nvPr>
        </p:nvSpPr>
        <p:spPr>
          <a:xfrm>
            <a:off x="1524000" y="1122362"/>
            <a:ext cx="9144000" cy="238760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000000"/>
              </a:buClr>
              <a:buSzPts val="6000"/>
              <a:buFont typeface="Play"/>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4" name="Google Shape;24;p6"/>
          <p:cNvSpPr txBox="1"/>
          <p:nvPr>
            <p:ph idx="1" type="body"/>
          </p:nvPr>
        </p:nvSpPr>
        <p:spPr>
          <a:xfrm>
            <a:off x="1524000" y="3602037"/>
            <a:ext cx="9144000" cy="1655763"/>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000000"/>
              </a:buClr>
              <a:buSzPts val="2400"/>
              <a:buFont typeface="Arial"/>
              <a:buNone/>
              <a:defRPr sz="2400"/>
            </a:lvl1pPr>
            <a:lvl2pPr indent="-228600" lvl="1" marL="914400" algn="ctr">
              <a:lnSpc>
                <a:spcPct val="90000"/>
              </a:lnSpc>
              <a:spcBef>
                <a:spcPts val="1000"/>
              </a:spcBef>
              <a:spcAft>
                <a:spcPts val="0"/>
              </a:spcAft>
              <a:buClr>
                <a:srgbClr val="000000"/>
              </a:buClr>
              <a:buSzPts val="2400"/>
              <a:buFont typeface="Arial"/>
              <a:buNone/>
              <a:defRPr sz="2400"/>
            </a:lvl2pPr>
            <a:lvl3pPr indent="-228600" lvl="2" marL="1371600" algn="ctr">
              <a:lnSpc>
                <a:spcPct val="90000"/>
              </a:lnSpc>
              <a:spcBef>
                <a:spcPts val="1000"/>
              </a:spcBef>
              <a:spcAft>
                <a:spcPts val="0"/>
              </a:spcAft>
              <a:buClr>
                <a:srgbClr val="000000"/>
              </a:buClr>
              <a:buSzPts val="2400"/>
              <a:buFont typeface="Arial"/>
              <a:buNone/>
              <a:defRPr sz="2400"/>
            </a:lvl3pPr>
            <a:lvl4pPr indent="-228600" lvl="3" marL="1828800" algn="ctr">
              <a:lnSpc>
                <a:spcPct val="90000"/>
              </a:lnSpc>
              <a:spcBef>
                <a:spcPts val="1000"/>
              </a:spcBef>
              <a:spcAft>
                <a:spcPts val="0"/>
              </a:spcAft>
              <a:buClr>
                <a:srgbClr val="000000"/>
              </a:buClr>
              <a:buSzPts val="2400"/>
              <a:buFont typeface="Arial"/>
              <a:buNone/>
              <a:defRPr sz="2400"/>
            </a:lvl4pPr>
            <a:lvl5pPr indent="-228600" lvl="4" marL="2286000" algn="ctr">
              <a:lnSpc>
                <a:spcPct val="90000"/>
              </a:lnSpc>
              <a:spcBef>
                <a:spcPts val="1000"/>
              </a:spcBef>
              <a:spcAft>
                <a:spcPts val="0"/>
              </a:spcAft>
              <a:buClr>
                <a:srgbClr val="000000"/>
              </a:buClr>
              <a:buSzPts val="2400"/>
              <a:buFont typeface="Arial"/>
              <a:buNone/>
              <a:defRPr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5" name="Google Shape;25;p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757575"/>
              </a:buClr>
              <a:buSzPts val="1200"/>
              <a:buFont typeface="Arial"/>
              <a:buNone/>
              <a:defRPr sz="1200">
                <a:solidFill>
                  <a:srgbClr val="757575"/>
                </a:solidFill>
              </a:defRPr>
            </a:lvl1pPr>
            <a:lvl2pPr indent="0" lvl="1" marL="0" algn="r">
              <a:lnSpc>
                <a:spcPct val="100000"/>
              </a:lnSpc>
              <a:spcBef>
                <a:spcPts val="0"/>
              </a:spcBef>
              <a:spcAft>
                <a:spcPts val="0"/>
              </a:spcAft>
              <a:buClr>
                <a:srgbClr val="757575"/>
              </a:buClr>
              <a:buSzPts val="1200"/>
              <a:buFont typeface="Arial"/>
              <a:buNone/>
              <a:defRPr sz="1200">
                <a:solidFill>
                  <a:srgbClr val="757575"/>
                </a:solidFill>
              </a:defRPr>
            </a:lvl2pPr>
            <a:lvl3pPr indent="0" lvl="2" marL="0" algn="r">
              <a:lnSpc>
                <a:spcPct val="100000"/>
              </a:lnSpc>
              <a:spcBef>
                <a:spcPts val="0"/>
              </a:spcBef>
              <a:spcAft>
                <a:spcPts val="0"/>
              </a:spcAft>
              <a:buClr>
                <a:srgbClr val="757575"/>
              </a:buClr>
              <a:buSzPts val="1200"/>
              <a:buFont typeface="Arial"/>
              <a:buNone/>
              <a:defRPr sz="1200">
                <a:solidFill>
                  <a:srgbClr val="757575"/>
                </a:solidFill>
              </a:defRPr>
            </a:lvl3pPr>
            <a:lvl4pPr indent="0" lvl="3" marL="0" algn="r">
              <a:lnSpc>
                <a:spcPct val="100000"/>
              </a:lnSpc>
              <a:spcBef>
                <a:spcPts val="0"/>
              </a:spcBef>
              <a:spcAft>
                <a:spcPts val="0"/>
              </a:spcAft>
              <a:buClr>
                <a:srgbClr val="757575"/>
              </a:buClr>
              <a:buSzPts val="1200"/>
              <a:buFont typeface="Arial"/>
              <a:buNone/>
              <a:defRPr sz="1200">
                <a:solidFill>
                  <a:srgbClr val="757575"/>
                </a:solidFill>
              </a:defRPr>
            </a:lvl4pPr>
            <a:lvl5pPr indent="0" lvl="4" marL="0" algn="r">
              <a:lnSpc>
                <a:spcPct val="100000"/>
              </a:lnSpc>
              <a:spcBef>
                <a:spcPts val="0"/>
              </a:spcBef>
              <a:spcAft>
                <a:spcPts val="0"/>
              </a:spcAft>
              <a:buClr>
                <a:srgbClr val="757575"/>
              </a:buClr>
              <a:buSzPts val="1200"/>
              <a:buFont typeface="Arial"/>
              <a:buNone/>
              <a:defRPr sz="1200">
                <a:solidFill>
                  <a:srgbClr val="757575"/>
                </a:solidFill>
              </a:defRPr>
            </a:lvl5pPr>
            <a:lvl6pPr indent="0" lvl="5" marL="0" algn="r">
              <a:lnSpc>
                <a:spcPct val="100000"/>
              </a:lnSpc>
              <a:spcBef>
                <a:spcPts val="0"/>
              </a:spcBef>
              <a:spcAft>
                <a:spcPts val="0"/>
              </a:spcAft>
              <a:buClr>
                <a:srgbClr val="757575"/>
              </a:buClr>
              <a:buSzPts val="1200"/>
              <a:buFont typeface="Arial"/>
              <a:buNone/>
              <a:defRPr sz="1200">
                <a:solidFill>
                  <a:srgbClr val="757575"/>
                </a:solidFill>
              </a:defRPr>
            </a:lvl6pPr>
            <a:lvl7pPr indent="0" lvl="6" marL="0" algn="r">
              <a:lnSpc>
                <a:spcPct val="100000"/>
              </a:lnSpc>
              <a:spcBef>
                <a:spcPts val="0"/>
              </a:spcBef>
              <a:spcAft>
                <a:spcPts val="0"/>
              </a:spcAft>
              <a:buClr>
                <a:srgbClr val="757575"/>
              </a:buClr>
              <a:buSzPts val="1200"/>
              <a:buFont typeface="Arial"/>
              <a:buNone/>
              <a:defRPr sz="1200">
                <a:solidFill>
                  <a:srgbClr val="757575"/>
                </a:solidFill>
              </a:defRPr>
            </a:lvl7pPr>
            <a:lvl8pPr indent="0" lvl="7" marL="0" algn="r">
              <a:lnSpc>
                <a:spcPct val="100000"/>
              </a:lnSpc>
              <a:spcBef>
                <a:spcPts val="0"/>
              </a:spcBef>
              <a:spcAft>
                <a:spcPts val="0"/>
              </a:spcAft>
              <a:buClr>
                <a:srgbClr val="757575"/>
              </a:buClr>
              <a:buSzPts val="1200"/>
              <a:buFont typeface="Arial"/>
              <a:buNone/>
              <a:defRPr sz="1200">
                <a:solidFill>
                  <a:srgbClr val="757575"/>
                </a:solidFill>
              </a:defRPr>
            </a:lvl8pPr>
            <a:lvl9pPr indent="0" lvl="8" marL="0" algn="r">
              <a:lnSpc>
                <a:spcPct val="100000"/>
              </a:lnSpc>
              <a:spcBef>
                <a:spcPts val="0"/>
              </a:spcBef>
              <a:spcAft>
                <a:spcPts val="0"/>
              </a:spcAft>
              <a:buClr>
                <a:srgbClr val="757575"/>
              </a:buClr>
              <a:buSzPts val="1200"/>
              <a:buFont typeface="Arial"/>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6" name="Shape 26"/>
        <p:cNvGrpSpPr/>
        <p:nvPr/>
      </p:nvGrpSpPr>
      <p:grpSpPr>
        <a:xfrm>
          <a:off x="0" y="0"/>
          <a:ext cx="0" cy="0"/>
          <a:chOff x="0" y="0"/>
          <a:chExt cx="0" cy="0"/>
        </a:xfrm>
      </p:grpSpPr>
      <p:sp>
        <p:nvSpPr>
          <p:cNvPr id="27" name="Google Shape;27;p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8" name="Google Shape;28;p7"/>
          <p:cNvSpPr txBox="1"/>
          <p:nvPr>
            <p:ph idx="1" type="body"/>
          </p:nvPr>
        </p:nvSpPr>
        <p:spPr>
          <a:xfrm>
            <a:off x="838200" y="1825625"/>
            <a:ext cx="5181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9" name="Google Shape;29;p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757575"/>
              </a:buClr>
              <a:buSzPts val="1200"/>
              <a:buFont typeface="Arial"/>
              <a:buNone/>
              <a:defRPr sz="1200">
                <a:solidFill>
                  <a:srgbClr val="757575"/>
                </a:solidFill>
              </a:defRPr>
            </a:lvl1pPr>
            <a:lvl2pPr indent="0" lvl="1" marL="0" algn="r">
              <a:lnSpc>
                <a:spcPct val="100000"/>
              </a:lnSpc>
              <a:spcBef>
                <a:spcPts val="0"/>
              </a:spcBef>
              <a:spcAft>
                <a:spcPts val="0"/>
              </a:spcAft>
              <a:buClr>
                <a:srgbClr val="757575"/>
              </a:buClr>
              <a:buSzPts val="1200"/>
              <a:buFont typeface="Arial"/>
              <a:buNone/>
              <a:defRPr sz="1200">
                <a:solidFill>
                  <a:srgbClr val="757575"/>
                </a:solidFill>
              </a:defRPr>
            </a:lvl2pPr>
            <a:lvl3pPr indent="0" lvl="2" marL="0" algn="r">
              <a:lnSpc>
                <a:spcPct val="100000"/>
              </a:lnSpc>
              <a:spcBef>
                <a:spcPts val="0"/>
              </a:spcBef>
              <a:spcAft>
                <a:spcPts val="0"/>
              </a:spcAft>
              <a:buClr>
                <a:srgbClr val="757575"/>
              </a:buClr>
              <a:buSzPts val="1200"/>
              <a:buFont typeface="Arial"/>
              <a:buNone/>
              <a:defRPr sz="1200">
                <a:solidFill>
                  <a:srgbClr val="757575"/>
                </a:solidFill>
              </a:defRPr>
            </a:lvl3pPr>
            <a:lvl4pPr indent="0" lvl="3" marL="0" algn="r">
              <a:lnSpc>
                <a:spcPct val="100000"/>
              </a:lnSpc>
              <a:spcBef>
                <a:spcPts val="0"/>
              </a:spcBef>
              <a:spcAft>
                <a:spcPts val="0"/>
              </a:spcAft>
              <a:buClr>
                <a:srgbClr val="757575"/>
              </a:buClr>
              <a:buSzPts val="1200"/>
              <a:buFont typeface="Arial"/>
              <a:buNone/>
              <a:defRPr sz="1200">
                <a:solidFill>
                  <a:srgbClr val="757575"/>
                </a:solidFill>
              </a:defRPr>
            </a:lvl4pPr>
            <a:lvl5pPr indent="0" lvl="4" marL="0" algn="r">
              <a:lnSpc>
                <a:spcPct val="100000"/>
              </a:lnSpc>
              <a:spcBef>
                <a:spcPts val="0"/>
              </a:spcBef>
              <a:spcAft>
                <a:spcPts val="0"/>
              </a:spcAft>
              <a:buClr>
                <a:srgbClr val="757575"/>
              </a:buClr>
              <a:buSzPts val="1200"/>
              <a:buFont typeface="Arial"/>
              <a:buNone/>
              <a:defRPr sz="1200">
                <a:solidFill>
                  <a:srgbClr val="757575"/>
                </a:solidFill>
              </a:defRPr>
            </a:lvl5pPr>
            <a:lvl6pPr indent="0" lvl="5" marL="0" algn="r">
              <a:lnSpc>
                <a:spcPct val="100000"/>
              </a:lnSpc>
              <a:spcBef>
                <a:spcPts val="0"/>
              </a:spcBef>
              <a:spcAft>
                <a:spcPts val="0"/>
              </a:spcAft>
              <a:buClr>
                <a:srgbClr val="757575"/>
              </a:buClr>
              <a:buSzPts val="1200"/>
              <a:buFont typeface="Arial"/>
              <a:buNone/>
              <a:defRPr sz="1200">
                <a:solidFill>
                  <a:srgbClr val="757575"/>
                </a:solidFill>
              </a:defRPr>
            </a:lvl6pPr>
            <a:lvl7pPr indent="0" lvl="6" marL="0" algn="r">
              <a:lnSpc>
                <a:spcPct val="100000"/>
              </a:lnSpc>
              <a:spcBef>
                <a:spcPts val="0"/>
              </a:spcBef>
              <a:spcAft>
                <a:spcPts val="0"/>
              </a:spcAft>
              <a:buClr>
                <a:srgbClr val="757575"/>
              </a:buClr>
              <a:buSzPts val="1200"/>
              <a:buFont typeface="Arial"/>
              <a:buNone/>
              <a:defRPr sz="1200">
                <a:solidFill>
                  <a:srgbClr val="757575"/>
                </a:solidFill>
              </a:defRPr>
            </a:lvl7pPr>
            <a:lvl8pPr indent="0" lvl="7" marL="0" algn="r">
              <a:lnSpc>
                <a:spcPct val="100000"/>
              </a:lnSpc>
              <a:spcBef>
                <a:spcPts val="0"/>
              </a:spcBef>
              <a:spcAft>
                <a:spcPts val="0"/>
              </a:spcAft>
              <a:buClr>
                <a:srgbClr val="757575"/>
              </a:buClr>
              <a:buSzPts val="1200"/>
              <a:buFont typeface="Arial"/>
              <a:buNone/>
              <a:defRPr sz="1200">
                <a:solidFill>
                  <a:srgbClr val="757575"/>
                </a:solidFill>
              </a:defRPr>
            </a:lvl8pPr>
            <a:lvl9pPr indent="0" lvl="8" marL="0" algn="r">
              <a:lnSpc>
                <a:spcPct val="100000"/>
              </a:lnSpc>
              <a:spcBef>
                <a:spcPts val="0"/>
              </a:spcBef>
              <a:spcAft>
                <a:spcPts val="0"/>
              </a:spcAft>
              <a:buClr>
                <a:srgbClr val="757575"/>
              </a:buClr>
              <a:buSzPts val="1200"/>
              <a:buFont typeface="Arial"/>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0" name="Shape 30"/>
        <p:cNvGrpSpPr/>
        <p:nvPr/>
      </p:nvGrpSpPr>
      <p:grpSpPr>
        <a:xfrm>
          <a:off x="0" y="0"/>
          <a:ext cx="0" cy="0"/>
          <a:chOff x="0" y="0"/>
          <a:chExt cx="0" cy="0"/>
        </a:xfrm>
      </p:grpSpPr>
      <p:sp>
        <p:nvSpPr>
          <p:cNvPr id="31" name="Google Shape;31;p8"/>
          <p:cNvSpPr txBox="1"/>
          <p:nvPr>
            <p:ph type="title"/>
          </p:nvPr>
        </p:nvSpPr>
        <p:spPr>
          <a:xfrm>
            <a:off x="839787"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2" name="Google Shape;32;p8"/>
          <p:cNvSpPr txBox="1"/>
          <p:nvPr>
            <p:ph idx="1" type="body"/>
          </p:nvPr>
        </p:nvSpPr>
        <p:spPr>
          <a:xfrm>
            <a:off x="839787" y="1681163"/>
            <a:ext cx="5157789" cy="823913"/>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Arial"/>
              <a:buNone/>
              <a:defRPr b="1" sz="2400"/>
            </a:lvl1pPr>
            <a:lvl2pPr indent="-228600" lvl="1" marL="914400" algn="l">
              <a:lnSpc>
                <a:spcPct val="90000"/>
              </a:lnSpc>
              <a:spcBef>
                <a:spcPts val="1000"/>
              </a:spcBef>
              <a:spcAft>
                <a:spcPts val="0"/>
              </a:spcAft>
              <a:buClr>
                <a:srgbClr val="000000"/>
              </a:buClr>
              <a:buSzPts val="2400"/>
              <a:buFont typeface="Arial"/>
              <a:buNone/>
              <a:defRPr b="1" sz="2400"/>
            </a:lvl2pPr>
            <a:lvl3pPr indent="-228600" lvl="2" marL="1371600" algn="l">
              <a:lnSpc>
                <a:spcPct val="90000"/>
              </a:lnSpc>
              <a:spcBef>
                <a:spcPts val="1000"/>
              </a:spcBef>
              <a:spcAft>
                <a:spcPts val="0"/>
              </a:spcAft>
              <a:buClr>
                <a:srgbClr val="000000"/>
              </a:buClr>
              <a:buSzPts val="2400"/>
              <a:buFont typeface="Arial"/>
              <a:buNone/>
              <a:defRPr b="1" sz="2400"/>
            </a:lvl3pPr>
            <a:lvl4pPr indent="-228600" lvl="3" marL="1828800" algn="l">
              <a:lnSpc>
                <a:spcPct val="90000"/>
              </a:lnSpc>
              <a:spcBef>
                <a:spcPts val="1000"/>
              </a:spcBef>
              <a:spcAft>
                <a:spcPts val="0"/>
              </a:spcAft>
              <a:buClr>
                <a:srgbClr val="000000"/>
              </a:buClr>
              <a:buSzPts val="2400"/>
              <a:buFont typeface="Arial"/>
              <a:buNone/>
              <a:defRPr b="1" sz="2400"/>
            </a:lvl4pPr>
            <a:lvl5pPr indent="-228600" lvl="4" marL="2286000" algn="l">
              <a:lnSpc>
                <a:spcPct val="90000"/>
              </a:lnSpc>
              <a:spcBef>
                <a:spcPts val="1000"/>
              </a:spcBef>
              <a:spcAft>
                <a:spcPts val="0"/>
              </a:spcAft>
              <a:buClr>
                <a:srgbClr val="000000"/>
              </a:buClr>
              <a:buSzPts val="2400"/>
              <a:buFont typeface="Arial"/>
              <a:buNone/>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3" name="Google Shape;33;p8"/>
          <p:cNvSpPr txBox="1"/>
          <p:nvPr>
            <p:ph idx="2" type="body"/>
          </p:nvPr>
        </p:nvSpPr>
        <p:spPr>
          <a:xfrm>
            <a:off x="6172200" y="1681163"/>
            <a:ext cx="5183188" cy="823913"/>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4" name="Google Shape;34;p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757575"/>
              </a:buClr>
              <a:buSzPts val="1200"/>
              <a:buFont typeface="Arial"/>
              <a:buNone/>
              <a:defRPr sz="1200">
                <a:solidFill>
                  <a:srgbClr val="757575"/>
                </a:solidFill>
              </a:defRPr>
            </a:lvl1pPr>
            <a:lvl2pPr indent="0" lvl="1" marL="0" algn="r">
              <a:lnSpc>
                <a:spcPct val="100000"/>
              </a:lnSpc>
              <a:spcBef>
                <a:spcPts val="0"/>
              </a:spcBef>
              <a:spcAft>
                <a:spcPts val="0"/>
              </a:spcAft>
              <a:buClr>
                <a:srgbClr val="757575"/>
              </a:buClr>
              <a:buSzPts val="1200"/>
              <a:buFont typeface="Arial"/>
              <a:buNone/>
              <a:defRPr sz="1200">
                <a:solidFill>
                  <a:srgbClr val="757575"/>
                </a:solidFill>
              </a:defRPr>
            </a:lvl2pPr>
            <a:lvl3pPr indent="0" lvl="2" marL="0" algn="r">
              <a:lnSpc>
                <a:spcPct val="100000"/>
              </a:lnSpc>
              <a:spcBef>
                <a:spcPts val="0"/>
              </a:spcBef>
              <a:spcAft>
                <a:spcPts val="0"/>
              </a:spcAft>
              <a:buClr>
                <a:srgbClr val="757575"/>
              </a:buClr>
              <a:buSzPts val="1200"/>
              <a:buFont typeface="Arial"/>
              <a:buNone/>
              <a:defRPr sz="1200">
                <a:solidFill>
                  <a:srgbClr val="757575"/>
                </a:solidFill>
              </a:defRPr>
            </a:lvl3pPr>
            <a:lvl4pPr indent="0" lvl="3" marL="0" algn="r">
              <a:lnSpc>
                <a:spcPct val="100000"/>
              </a:lnSpc>
              <a:spcBef>
                <a:spcPts val="0"/>
              </a:spcBef>
              <a:spcAft>
                <a:spcPts val="0"/>
              </a:spcAft>
              <a:buClr>
                <a:srgbClr val="757575"/>
              </a:buClr>
              <a:buSzPts val="1200"/>
              <a:buFont typeface="Arial"/>
              <a:buNone/>
              <a:defRPr sz="1200">
                <a:solidFill>
                  <a:srgbClr val="757575"/>
                </a:solidFill>
              </a:defRPr>
            </a:lvl4pPr>
            <a:lvl5pPr indent="0" lvl="4" marL="0" algn="r">
              <a:lnSpc>
                <a:spcPct val="100000"/>
              </a:lnSpc>
              <a:spcBef>
                <a:spcPts val="0"/>
              </a:spcBef>
              <a:spcAft>
                <a:spcPts val="0"/>
              </a:spcAft>
              <a:buClr>
                <a:srgbClr val="757575"/>
              </a:buClr>
              <a:buSzPts val="1200"/>
              <a:buFont typeface="Arial"/>
              <a:buNone/>
              <a:defRPr sz="1200">
                <a:solidFill>
                  <a:srgbClr val="757575"/>
                </a:solidFill>
              </a:defRPr>
            </a:lvl5pPr>
            <a:lvl6pPr indent="0" lvl="5" marL="0" algn="r">
              <a:lnSpc>
                <a:spcPct val="100000"/>
              </a:lnSpc>
              <a:spcBef>
                <a:spcPts val="0"/>
              </a:spcBef>
              <a:spcAft>
                <a:spcPts val="0"/>
              </a:spcAft>
              <a:buClr>
                <a:srgbClr val="757575"/>
              </a:buClr>
              <a:buSzPts val="1200"/>
              <a:buFont typeface="Arial"/>
              <a:buNone/>
              <a:defRPr sz="1200">
                <a:solidFill>
                  <a:srgbClr val="757575"/>
                </a:solidFill>
              </a:defRPr>
            </a:lvl6pPr>
            <a:lvl7pPr indent="0" lvl="6" marL="0" algn="r">
              <a:lnSpc>
                <a:spcPct val="100000"/>
              </a:lnSpc>
              <a:spcBef>
                <a:spcPts val="0"/>
              </a:spcBef>
              <a:spcAft>
                <a:spcPts val="0"/>
              </a:spcAft>
              <a:buClr>
                <a:srgbClr val="757575"/>
              </a:buClr>
              <a:buSzPts val="1200"/>
              <a:buFont typeface="Arial"/>
              <a:buNone/>
              <a:defRPr sz="1200">
                <a:solidFill>
                  <a:srgbClr val="757575"/>
                </a:solidFill>
              </a:defRPr>
            </a:lvl7pPr>
            <a:lvl8pPr indent="0" lvl="7" marL="0" algn="r">
              <a:lnSpc>
                <a:spcPct val="100000"/>
              </a:lnSpc>
              <a:spcBef>
                <a:spcPts val="0"/>
              </a:spcBef>
              <a:spcAft>
                <a:spcPts val="0"/>
              </a:spcAft>
              <a:buClr>
                <a:srgbClr val="757575"/>
              </a:buClr>
              <a:buSzPts val="1200"/>
              <a:buFont typeface="Arial"/>
              <a:buNone/>
              <a:defRPr sz="1200">
                <a:solidFill>
                  <a:srgbClr val="757575"/>
                </a:solidFill>
              </a:defRPr>
            </a:lvl8pPr>
            <a:lvl9pPr indent="0" lvl="8" marL="0" algn="r">
              <a:lnSpc>
                <a:spcPct val="100000"/>
              </a:lnSpc>
              <a:spcBef>
                <a:spcPts val="0"/>
              </a:spcBef>
              <a:spcAft>
                <a:spcPts val="0"/>
              </a:spcAft>
              <a:buClr>
                <a:srgbClr val="757575"/>
              </a:buClr>
              <a:buSzPts val="1200"/>
              <a:buFont typeface="Arial"/>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5" name="Shape 35"/>
        <p:cNvGrpSpPr/>
        <p:nvPr/>
      </p:nvGrpSpPr>
      <p:grpSpPr>
        <a:xfrm>
          <a:off x="0" y="0"/>
          <a:ext cx="0" cy="0"/>
          <a:chOff x="0" y="0"/>
          <a:chExt cx="0" cy="0"/>
        </a:xfrm>
      </p:grpSpPr>
      <p:sp>
        <p:nvSpPr>
          <p:cNvPr id="36" name="Google Shape;36;p9"/>
          <p:cNvSpPr txBox="1"/>
          <p:nvPr>
            <p:ph type="title"/>
          </p:nvPr>
        </p:nvSpPr>
        <p:spPr>
          <a:xfrm>
            <a:off x="839787" y="457200"/>
            <a:ext cx="3932239"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Play"/>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7" name="Google Shape;37;p9"/>
          <p:cNvSpPr txBox="1"/>
          <p:nvPr>
            <p:ph idx="1" type="body"/>
          </p:nvPr>
        </p:nvSpPr>
        <p:spPr>
          <a:xfrm>
            <a:off x="5183187" y="987425"/>
            <a:ext cx="6172201" cy="4873625"/>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8" name="Google Shape;38;p9"/>
          <p:cNvSpPr txBox="1"/>
          <p:nvPr>
            <p:ph idx="2" type="body"/>
          </p:nvPr>
        </p:nvSpPr>
        <p:spPr>
          <a:xfrm>
            <a:off x="839787" y="2057400"/>
            <a:ext cx="3932238" cy="381158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9" name="Google Shape;39;p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757575"/>
              </a:buClr>
              <a:buSzPts val="1200"/>
              <a:buFont typeface="Arial"/>
              <a:buNone/>
              <a:defRPr sz="1200">
                <a:solidFill>
                  <a:srgbClr val="757575"/>
                </a:solidFill>
              </a:defRPr>
            </a:lvl1pPr>
            <a:lvl2pPr indent="0" lvl="1" marL="0" algn="r">
              <a:lnSpc>
                <a:spcPct val="100000"/>
              </a:lnSpc>
              <a:spcBef>
                <a:spcPts val="0"/>
              </a:spcBef>
              <a:spcAft>
                <a:spcPts val="0"/>
              </a:spcAft>
              <a:buClr>
                <a:srgbClr val="757575"/>
              </a:buClr>
              <a:buSzPts val="1200"/>
              <a:buFont typeface="Arial"/>
              <a:buNone/>
              <a:defRPr sz="1200">
                <a:solidFill>
                  <a:srgbClr val="757575"/>
                </a:solidFill>
              </a:defRPr>
            </a:lvl2pPr>
            <a:lvl3pPr indent="0" lvl="2" marL="0" algn="r">
              <a:lnSpc>
                <a:spcPct val="100000"/>
              </a:lnSpc>
              <a:spcBef>
                <a:spcPts val="0"/>
              </a:spcBef>
              <a:spcAft>
                <a:spcPts val="0"/>
              </a:spcAft>
              <a:buClr>
                <a:srgbClr val="757575"/>
              </a:buClr>
              <a:buSzPts val="1200"/>
              <a:buFont typeface="Arial"/>
              <a:buNone/>
              <a:defRPr sz="1200">
                <a:solidFill>
                  <a:srgbClr val="757575"/>
                </a:solidFill>
              </a:defRPr>
            </a:lvl3pPr>
            <a:lvl4pPr indent="0" lvl="3" marL="0" algn="r">
              <a:lnSpc>
                <a:spcPct val="100000"/>
              </a:lnSpc>
              <a:spcBef>
                <a:spcPts val="0"/>
              </a:spcBef>
              <a:spcAft>
                <a:spcPts val="0"/>
              </a:spcAft>
              <a:buClr>
                <a:srgbClr val="757575"/>
              </a:buClr>
              <a:buSzPts val="1200"/>
              <a:buFont typeface="Arial"/>
              <a:buNone/>
              <a:defRPr sz="1200">
                <a:solidFill>
                  <a:srgbClr val="757575"/>
                </a:solidFill>
              </a:defRPr>
            </a:lvl4pPr>
            <a:lvl5pPr indent="0" lvl="4" marL="0" algn="r">
              <a:lnSpc>
                <a:spcPct val="100000"/>
              </a:lnSpc>
              <a:spcBef>
                <a:spcPts val="0"/>
              </a:spcBef>
              <a:spcAft>
                <a:spcPts val="0"/>
              </a:spcAft>
              <a:buClr>
                <a:srgbClr val="757575"/>
              </a:buClr>
              <a:buSzPts val="1200"/>
              <a:buFont typeface="Arial"/>
              <a:buNone/>
              <a:defRPr sz="1200">
                <a:solidFill>
                  <a:srgbClr val="757575"/>
                </a:solidFill>
              </a:defRPr>
            </a:lvl5pPr>
            <a:lvl6pPr indent="0" lvl="5" marL="0" algn="r">
              <a:lnSpc>
                <a:spcPct val="100000"/>
              </a:lnSpc>
              <a:spcBef>
                <a:spcPts val="0"/>
              </a:spcBef>
              <a:spcAft>
                <a:spcPts val="0"/>
              </a:spcAft>
              <a:buClr>
                <a:srgbClr val="757575"/>
              </a:buClr>
              <a:buSzPts val="1200"/>
              <a:buFont typeface="Arial"/>
              <a:buNone/>
              <a:defRPr sz="1200">
                <a:solidFill>
                  <a:srgbClr val="757575"/>
                </a:solidFill>
              </a:defRPr>
            </a:lvl6pPr>
            <a:lvl7pPr indent="0" lvl="6" marL="0" algn="r">
              <a:lnSpc>
                <a:spcPct val="100000"/>
              </a:lnSpc>
              <a:spcBef>
                <a:spcPts val="0"/>
              </a:spcBef>
              <a:spcAft>
                <a:spcPts val="0"/>
              </a:spcAft>
              <a:buClr>
                <a:srgbClr val="757575"/>
              </a:buClr>
              <a:buSzPts val="1200"/>
              <a:buFont typeface="Arial"/>
              <a:buNone/>
              <a:defRPr sz="1200">
                <a:solidFill>
                  <a:srgbClr val="757575"/>
                </a:solidFill>
              </a:defRPr>
            </a:lvl7pPr>
            <a:lvl8pPr indent="0" lvl="7" marL="0" algn="r">
              <a:lnSpc>
                <a:spcPct val="100000"/>
              </a:lnSpc>
              <a:spcBef>
                <a:spcPts val="0"/>
              </a:spcBef>
              <a:spcAft>
                <a:spcPts val="0"/>
              </a:spcAft>
              <a:buClr>
                <a:srgbClr val="757575"/>
              </a:buClr>
              <a:buSzPts val="1200"/>
              <a:buFont typeface="Arial"/>
              <a:buNone/>
              <a:defRPr sz="1200">
                <a:solidFill>
                  <a:srgbClr val="757575"/>
                </a:solidFill>
              </a:defRPr>
            </a:lvl8pPr>
            <a:lvl9pPr indent="0" lvl="8" marL="0" algn="r">
              <a:lnSpc>
                <a:spcPct val="100000"/>
              </a:lnSpc>
              <a:spcBef>
                <a:spcPts val="0"/>
              </a:spcBef>
              <a:spcAft>
                <a:spcPts val="0"/>
              </a:spcAft>
              <a:buClr>
                <a:srgbClr val="757575"/>
              </a:buClr>
              <a:buSzPts val="1200"/>
              <a:buFont typeface="Arial"/>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0" name="Shape 40"/>
        <p:cNvGrpSpPr/>
        <p:nvPr/>
      </p:nvGrpSpPr>
      <p:grpSpPr>
        <a:xfrm>
          <a:off x="0" y="0"/>
          <a:ext cx="0" cy="0"/>
          <a:chOff x="0" y="0"/>
          <a:chExt cx="0" cy="0"/>
        </a:xfrm>
      </p:grpSpPr>
      <p:sp>
        <p:nvSpPr>
          <p:cNvPr id="41" name="Google Shape;41;p10"/>
          <p:cNvSpPr txBox="1"/>
          <p:nvPr>
            <p:ph type="title"/>
          </p:nvPr>
        </p:nvSpPr>
        <p:spPr>
          <a:xfrm>
            <a:off x="839787" y="457200"/>
            <a:ext cx="3932239"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Play"/>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2" name="Google Shape;42;p10"/>
          <p:cNvSpPr/>
          <p:nvPr>
            <p:ph idx="2" type="pic"/>
          </p:nvPr>
        </p:nvSpPr>
        <p:spPr>
          <a:xfrm>
            <a:off x="5183187" y="987425"/>
            <a:ext cx="6172201" cy="4873625"/>
          </a:xfrm>
          <a:prstGeom prst="rect">
            <a:avLst/>
          </a:prstGeom>
          <a:noFill/>
          <a:ln>
            <a:noFill/>
          </a:ln>
        </p:spPr>
      </p:sp>
      <p:sp>
        <p:nvSpPr>
          <p:cNvPr id="43" name="Google Shape;43;p10"/>
          <p:cNvSpPr txBox="1"/>
          <p:nvPr>
            <p:ph idx="1" type="body"/>
          </p:nvPr>
        </p:nvSpPr>
        <p:spPr>
          <a:xfrm>
            <a:off x="839787" y="2057400"/>
            <a:ext cx="3932239" cy="38115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1600"/>
              <a:buFont typeface="Arial"/>
              <a:buNone/>
              <a:defRPr sz="1600"/>
            </a:lvl1pPr>
            <a:lvl2pPr indent="-228600" lvl="1" marL="914400" algn="l">
              <a:lnSpc>
                <a:spcPct val="90000"/>
              </a:lnSpc>
              <a:spcBef>
                <a:spcPts val="1000"/>
              </a:spcBef>
              <a:spcAft>
                <a:spcPts val="0"/>
              </a:spcAft>
              <a:buClr>
                <a:srgbClr val="000000"/>
              </a:buClr>
              <a:buSzPts val="1600"/>
              <a:buFont typeface="Arial"/>
              <a:buNone/>
              <a:defRPr sz="1600"/>
            </a:lvl2pPr>
            <a:lvl3pPr indent="-228600" lvl="2" marL="1371600" algn="l">
              <a:lnSpc>
                <a:spcPct val="90000"/>
              </a:lnSpc>
              <a:spcBef>
                <a:spcPts val="1000"/>
              </a:spcBef>
              <a:spcAft>
                <a:spcPts val="0"/>
              </a:spcAft>
              <a:buClr>
                <a:srgbClr val="000000"/>
              </a:buClr>
              <a:buSzPts val="1600"/>
              <a:buFont typeface="Arial"/>
              <a:buNone/>
              <a:defRPr sz="1600"/>
            </a:lvl3pPr>
            <a:lvl4pPr indent="-228600" lvl="3" marL="1828800" algn="l">
              <a:lnSpc>
                <a:spcPct val="90000"/>
              </a:lnSpc>
              <a:spcBef>
                <a:spcPts val="1000"/>
              </a:spcBef>
              <a:spcAft>
                <a:spcPts val="0"/>
              </a:spcAft>
              <a:buClr>
                <a:srgbClr val="000000"/>
              </a:buClr>
              <a:buSzPts val="1600"/>
              <a:buFont typeface="Arial"/>
              <a:buNone/>
              <a:defRPr sz="1600"/>
            </a:lvl4pPr>
            <a:lvl5pPr indent="-228600" lvl="4" marL="2286000" algn="l">
              <a:lnSpc>
                <a:spcPct val="90000"/>
              </a:lnSpc>
              <a:spcBef>
                <a:spcPts val="1000"/>
              </a:spcBef>
              <a:spcAft>
                <a:spcPts val="0"/>
              </a:spcAft>
              <a:buClr>
                <a:srgbClr val="000000"/>
              </a:buClr>
              <a:buSzPts val="1600"/>
              <a:buFont typeface="Arial"/>
              <a:buNone/>
              <a:defRPr sz="16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4" name="Google Shape;44;p1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757575"/>
              </a:buClr>
              <a:buSzPts val="1200"/>
              <a:buFont typeface="Arial"/>
              <a:buNone/>
              <a:defRPr sz="1200">
                <a:solidFill>
                  <a:srgbClr val="757575"/>
                </a:solidFill>
              </a:defRPr>
            </a:lvl1pPr>
            <a:lvl2pPr indent="0" lvl="1" marL="0" algn="r">
              <a:lnSpc>
                <a:spcPct val="100000"/>
              </a:lnSpc>
              <a:spcBef>
                <a:spcPts val="0"/>
              </a:spcBef>
              <a:spcAft>
                <a:spcPts val="0"/>
              </a:spcAft>
              <a:buClr>
                <a:srgbClr val="757575"/>
              </a:buClr>
              <a:buSzPts val="1200"/>
              <a:buFont typeface="Arial"/>
              <a:buNone/>
              <a:defRPr sz="1200">
                <a:solidFill>
                  <a:srgbClr val="757575"/>
                </a:solidFill>
              </a:defRPr>
            </a:lvl2pPr>
            <a:lvl3pPr indent="0" lvl="2" marL="0" algn="r">
              <a:lnSpc>
                <a:spcPct val="100000"/>
              </a:lnSpc>
              <a:spcBef>
                <a:spcPts val="0"/>
              </a:spcBef>
              <a:spcAft>
                <a:spcPts val="0"/>
              </a:spcAft>
              <a:buClr>
                <a:srgbClr val="757575"/>
              </a:buClr>
              <a:buSzPts val="1200"/>
              <a:buFont typeface="Arial"/>
              <a:buNone/>
              <a:defRPr sz="1200">
                <a:solidFill>
                  <a:srgbClr val="757575"/>
                </a:solidFill>
              </a:defRPr>
            </a:lvl3pPr>
            <a:lvl4pPr indent="0" lvl="3" marL="0" algn="r">
              <a:lnSpc>
                <a:spcPct val="100000"/>
              </a:lnSpc>
              <a:spcBef>
                <a:spcPts val="0"/>
              </a:spcBef>
              <a:spcAft>
                <a:spcPts val="0"/>
              </a:spcAft>
              <a:buClr>
                <a:srgbClr val="757575"/>
              </a:buClr>
              <a:buSzPts val="1200"/>
              <a:buFont typeface="Arial"/>
              <a:buNone/>
              <a:defRPr sz="1200">
                <a:solidFill>
                  <a:srgbClr val="757575"/>
                </a:solidFill>
              </a:defRPr>
            </a:lvl4pPr>
            <a:lvl5pPr indent="0" lvl="4" marL="0" algn="r">
              <a:lnSpc>
                <a:spcPct val="100000"/>
              </a:lnSpc>
              <a:spcBef>
                <a:spcPts val="0"/>
              </a:spcBef>
              <a:spcAft>
                <a:spcPts val="0"/>
              </a:spcAft>
              <a:buClr>
                <a:srgbClr val="757575"/>
              </a:buClr>
              <a:buSzPts val="1200"/>
              <a:buFont typeface="Arial"/>
              <a:buNone/>
              <a:defRPr sz="1200">
                <a:solidFill>
                  <a:srgbClr val="757575"/>
                </a:solidFill>
              </a:defRPr>
            </a:lvl5pPr>
            <a:lvl6pPr indent="0" lvl="5" marL="0" algn="r">
              <a:lnSpc>
                <a:spcPct val="100000"/>
              </a:lnSpc>
              <a:spcBef>
                <a:spcPts val="0"/>
              </a:spcBef>
              <a:spcAft>
                <a:spcPts val="0"/>
              </a:spcAft>
              <a:buClr>
                <a:srgbClr val="757575"/>
              </a:buClr>
              <a:buSzPts val="1200"/>
              <a:buFont typeface="Arial"/>
              <a:buNone/>
              <a:defRPr sz="1200">
                <a:solidFill>
                  <a:srgbClr val="757575"/>
                </a:solidFill>
              </a:defRPr>
            </a:lvl6pPr>
            <a:lvl7pPr indent="0" lvl="6" marL="0" algn="r">
              <a:lnSpc>
                <a:spcPct val="100000"/>
              </a:lnSpc>
              <a:spcBef>
                <a:spcPts val="0"/>
              </a:spcBef>
              <a:spcAft>
                <a:spcPts val="0"/>
              </a:spcAft>
              <a:buClr>
                <a:srgbClr val="757575"/>
              </a:buClr>
              <a:buSzPts val="1200"/>
              <a:buFont typeface="Arial"/>
              <a:buNone/>
              <a:defRPr sz="1200">
                <a:solidFill>
                  <a:srgbClr val="757575"/>
                </a:solidFill>
              </a:defRPr>
            </a:lvl7pPr>
            <a:lvl8pPr indent="0" lvl="7" marL="0" algn="r">
              <a:lnSpc>
                <a:spcPct val="100000"/>
              </a:lnSpc>
              <a:spcBef>
                <a:spcPts val="0"/>
              </a:spcBef>
              <a:spcAft>
                <a:spcPts val="0"/>
              </a:spcAft>
              <a:buClr>
                <a:srgbClr val="757575"/>
              </a:buClr>
              <a:buSzPts val="1200"/>
              <a:buFont typeface="Arial"/>
              <a:buNone/>
              <a:defRPr sz="1200">
                <a:solidFill>
                  <a:srgbClr val="757575"/>
                </a:solidFill>
              </a:defRPr>
            </a:lvl8pPr>
            <a:lvl9pPr indent="0" lvl="8" marL="0" algn="r">
              <a:lnSpc>
                <a:spcPct val="100000"/>
              </a:lnSpc>
              <a:spcBef>
                <a:spcPts val="0"/>
              </a:spcBef>
              <a:spcAft>
                <a:spcPts val="0"/>
              </a:spcAft>
              <a:buClr>
                <a:srgbClr val="757575"/>
              </a:buClr>
              <a:buSzPts val="1200"/>
              <a:buFont typeface="Arial"/>
              <a:buNone/>
              <a:defRPr sz="1200">
                <a:solidFill>
                  <a:srgbClr val="757575"/>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marR="0" rtl="0" algn="l">
              <a:lnSpc>
                <a:spcPct val="90000"/>
              </a:lnSpc>
              <a:spcBef>
                <a:spcPts val="0"/>
              </a:spcBef>
              <a:spcAft>
                <a:spcPts val="0"/>
              </a:spcAft>
              <a:buClr>
                <a:srgbClr val="000000"/>
              </a:buClr>
              <a:buSzPts val="4400"/>
              <a:buFont typeface="Play"/>
              <a:buNone/>
              <a:defRPr b="0" i="0" sz="4400" u="none" cap="none" strike="noStrike">
                <a:solidFill>
                  <a:srgbClr val="000000"/>
                </a:solidFill>
                <a:latin typeface="Play"/>
                <a:ea typeface="Play"/>
                <a:cs typeface="Play"/>
                <a:sym typeface="Play"/>
              </a:defRPr>
            </a:lvl1pPr>
            <a:lvl2pPr lvl="1" marR="0" rtl="0" algn="l">
              <a:lnSpc>
                <a:spcPct val="90000"/>
              </a:lnSpc>
              <a:spcBef>
                <a:spcPts val="0"/>
              </a:spcBef>
              <a:spcAft>
                <a:spcPts val="0"/>
              </a:spcAft>
              <a:buClr>
                <a:srgbClr val="000000"/>
              </a:buClr>
              <a:buSzPts val="4400"/>
              <a:buFont typeface="Play"/>
              <a:buNone/>
              <a:defRPr b="0" i="0" sz="4400" u="none" cap="none" strike="noStrike">
                <a:solidFill>
                  <a:srgbClr val="000000"/>
                </a:solidFill>
                <a:latin typeface="Play"/>
                <a:ea typeface="Play"/>
                <a:cs typeface="Play"/>
                <a:sym typeface="Play"/>
              </a:defRPr>
            </a:lvl2pPr>
            <a:lvl3pPr lvl="2" marR="0" rtl="0" algn="l">
              <a:lnSpc>
                <a:spcPct val="90000"/>
              </a:lnSpc>
              <a:spcBef>
                <a:spcPts val="0"/>
              </a:spcBef>
              <a:spcAft>
                <a:spcPts val="0"/>
              </a:spcAft>
              <a:buClr>
                <a:srgbClr val="000000"/>
              </a:buClr>
              <a:buSzPts val="4400"/>
              <a:buFont typeface="Play"/>
              <a:buNone/>
              <a:defRPr b="0" i="0" sz="4400" u="none" cap="none" strike="noStrike">
                <a:solidFill>
                  <a:srgbClr val="000000"/>
                </a:solidFill>
                <a:latin typeface="Play"/>
                <a:ea typeface="Play"/>
                <a:cs typeface="Play"/>
                <a:sym typeface="Play"/>
              </a:defRPr>
            </a:lvl3pPr>
            <a:lvl4pPr lvl="3" marR="0" rtl="0" algn="l">
              <a:lnSpc>
                <a:spcPct val="90000"/>
              </a:lnSpc>
              <a:spcBef>
                <a:spcPts val="0"/>
              </a:spcBef>
              <a:spcAft>
                <a:spcPts val="0"/>
              </a:spcAft>
              <a:buClr>
                <a:srgbClr val="000000"/>
              </a:buClr>
              <a:buSzPts val="4400"/>
              <a:buFont typeface="Play"/>
              <a:buNone/>
              <a:defRPr b="0" i="0" sz="4400" u="none" cap="none" strike="noStrike">
                <a:solidFill>
                  <a:srgbClr val="000000"/>
                </a:solidFill>
                <a:latin typeface="Play"/>
                <a:ea typeface="Play"/>
                <a:cs typeface="Play"/>
                <a:sym typeface="Play"/>
              </a:defRPr>
            </a:lvl4pPr>
            <a:lvl5pPr lvl="4" marR="0" rtl="0" algn="l">
              <a:lnSpc>
                <a:spcPct val="90000"/>
              </a:lnSpc>
              <a:spcBef>
                <a:spcPts val="0"/>
              </a:spcBef>
              <a:spcAft>
                <a:spcPts val="0"/>
              </a:spcAft>
              <a:buClr>
                <a:srgbClr val="000000"/>
              </a:buClr>
              <a:buSzPts val="4400"/>
              <a:buFont typeface="Play"/>
              <a:buNone/>
              <a:defRPr b="0" i="0" sz="4400" u="none" cap="none" strike="noStrike">
                <a:solidFill>
                  <a:srgbClr val="000000"/>
                </a:solidFill>
                <a:latin typeface="Play"/>
                <a:ea typeface="Play"/>
                <a:cs typeface="Play"/>
                <a:sym typeface="Play"/>
              </a:defRPr>
            </a:lvl5pPr>
            <a:lvl6pPr lvl="5" marR="0" rtl="0" algn="l">
              <a:lnSpc>
                <a:spcPct val="90000"/>
              </a:lnSpc>
              <a:spcBef>
                <a:spcPts val="0"/>
              </a:spcBef>
              <a:spcAft>
                <a:spcPts val="0"/>
              </a:spcAft>
              <a:buClr>
                <a:srgbClr val="000000"/>
              </a:buClr>
              <a:buSzPts val="4400"/>
              <a:buFont typeface="Play"/>
              <a:buNone/>
              <a:defRPr b="0" i="0" sz="4400" u="none" cap="none" strike="noStrike">
                <a:solidFill>
                  <a:srgbClr val="000000"/>
                </a:solidFill>
                <a:latin typeface="Play"/>
                <a:ea typeface="Play"/>
                <a:cs typeface="Play"/>
                <a:sym typeface="Play"/>
              </a:defRPr>
            </a:lvl6pPr>
            <a:lvl7pPr lvl="6" marR="0" rtl="0" algn="l">
              <a:lnSpc>
                <a:spcPct val="90000"/>
              </a:lnSpc>
              <a:spcBef>
                <a:spcPts val="0"/>
              </a:spcBef>
              <a:spcAft>
                <a:spcPts val="0"/>
              </a:spcAft>
              <a:buClr>
                <a:srgbClr val="000000"/>
              </a:buClr>
              <a:buSzPts val="4400"/>
              <a:buFont typeface="Play"/>
              <a:buNone/>
              <a:defRPr b="0" i="0" sz="4400" u="none" cap="none" strike="noStrike">
                <a:solidFill>
                  <a:srgbClr val="000000"/>
                </a:solidFill>
                <a:latin typeface="Play"/>
                <a:ea typeface="Play"/>
                <a:cs typeface="Play"/>
                <a:sym typeface="Play"/>
              </a:defRPr>
            </a:lvl7pPr>
            <a:lvl8pPr lvl="7" marR="0" rtl="0" algn="l">
              <a:lnSpc>
                <a:spcPct val="90000"/>
              </a:lnSpc>
              <a:spcBef>
                <a:spcPts val="0"/>
              </a:spcBef>
              <a:spcAft>
                <a:spcPts val="0"/>
              </a:spcAft>
              <a:buClr>
                <a:srgbClr val="000000"/>
              </a:buClr>
              <a:buSzPts val="4400"/>
              <a:buFont typeface="Play"/>
              <a:buNone/>
              <a:defRPr b="0" i="0" sz="4400" u="none" cap="none" strike="noStrike">
                <a:solidFill>
                  <a:srgbClr val="000000"/>
                </a:solidFill>
                <a:latin typeface="Play"/>
                <a:ea typeface="Play"/>
                <a:cs typeface="Play"/>
                <a:sym typeface="Play"/>
              </a:defRPr>
            </a:lvl8pPr>
            <a:lvl9pPr lvl="8" marR="0" rtl="0" algn="l">
              <a:lnSpc>
                <a:spcPct val="90000"/>
              </a:lnSpc>
              <a:spcBef>
                <a:spcPts val="0"/>
              </a:spcBef>
              <a:spcAft>
                <a:spcPts val="0"/>
              </a:spcAft>
              <a:buClr>
                <a:srgbClr val="000000"/>
              </a:buClr>
              <a:buSzPts val="4400"/>
              <a:buFont typeface="Play"/>
              <a:buNone/>
              <a:defRPr b="0" i="0" sz="4400" u="none" cap="none" strike="noStrike">
                <a:solidFill>
                  <a:srgbClr val="000000"/>
                </a:solidFill>
                <a:latin typeface="Play"/>
                <a:ea typeface="Play"/>
                <a:cs typeface="Play"/>
                <a:sym typeface="Play"/>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9pPr>
          </a:lstStyle>
          <a:p/>
        </p:txBody>
      </p:sp>
      <p:sp>
        <p:nvSpPr>
          <p:cNvPr id="8" name="Google Shape;8;p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757575"/>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8.png"/><Relationship Id="rId5" Type="http://schemas.openxmlformats.org/officeDocument/2006/relationships/image" Target="../media/image1.jpg"/><Relationship Id="rId6"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jpg"/><Relationship Id="rId5" Type="http://schemas.openxmlformats.org/officeDocument/2006/relationships/image" Target="../media/image10.jpg"/><Relationship Id="rId6"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5.png"/><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3.png"/><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45.png"/><Relationship Id="rId4" Type="http://schemas.openxmlformats.org/officeDocument/2006/relationships/image" Target="../media/image5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40.png"/><Relationship Id="rId4" Type="http://schemas.openxmlformats.org/officeDocument/2006/relationships/image" Target="../media/image58.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46.png"/><Relationship Id="rId4" Type="http://schemas.openxmlformats.org/officeDocument/2006/relationships/image" Target="../media/image4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1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4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5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4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7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5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0.png"/><Relationship Id="rId4" Type="http://schemas.openxmlformats.org/officeDocument/2006/relationships/image" Target="../media/image51.png"/><Relationship Id="rId5" Type="http://schemas.openxmlformats.org/officeDocument/2006/relationships/image" Target="../media/image6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5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63.png"/><Relationship Id="rId4" Type="http://schemas.openxmlformats.org/officeDocument/2006/relationships/image" Target="../media/image62.jpg"/><Relationship Id="rId5" Type="http://schemas.openxmlformats.org/officeDocument/2006/relationships/image" Target="../media/image6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6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7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6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68.png"/><Relationship Id="rId4" Type="http://schemas.openxmlformats.org/officeDocument/2006/relationships/image" Target="../media/image59.png"/><Relationship Id="rId5" Type="http://schemas.openxmlformats.org/officeDocument/2006/relationships/image" Target="../media/image6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8.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7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72.png"/><Relationship Id="rId4" Type="http://schemas.openxmlformats.org/officeDocument/2006/relationships/image" Target="../media/image7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68.png"/><Relationship Id="rId4" Type="http://schemas.openxmlformats.org/officeDocument/2006/relationships/image" Target="../media/image59.png"/><Relationship Id="rId5" Type="http://schemas.openxmlformats.org/officeDocument/2006/relationships/image" Target="../media/image77.png"/><Relationship Id="rId6" Type="http://schemas.openxmlformats.org/officeDocument/2006/relationships/image" Target="../media/image7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83.png"/><Relationship Id="rId4" Type="http://schemas.openxmlformats.org/officeDocument/2006/relationships/image" Target="../media/image76.jpg"/><Relationship Id="rId5" Type="http://schemas.openxmlformats.org/officeDocument/2006/relationships/image" Target="../media/image6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2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50.png"/><Relationship Id="rId4" Type="http://schemas.openxmlformats.org/officeDocument/2006/relationships/image" Target="../media/image7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8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8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8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8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70.png"/><Relationship Id="rId4" Type="http://schemas.openxmlformats.org/officeDocument/2006/relationships/image" Target="../media/image89.png"/><Relationship Id="rId5" Type="http://schemas.openxmlformats.org/officeDocument/2006/relationships/image" Target="../media/image8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8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9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17.png"/><Relationship Id="rId4" Type="http://schemas.openxmlformats.org/officeDocument/2006/relationships/image" Target="../media/image7.jpg"/><Relationship Id="rId5" Type="http://schemas.openxmlformats.org/officeDocument/2006/relationships/image" Target="../media/image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7.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101.jpg"/><Relationship Id="rId4" Type="http://schemas.openxmlformats.org/officeDocument/2006/relationships/image" Target="../media/image84.png"/><Relationship Id="rId5" Type="http://schemas.openxmlformats.org/officeDocument/2006/relationships/image" Target="../media/image9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8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11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90.png"/><Relationship Id="rId4" Type="http://schemas.openxmlformats.org/officeDocument/2006/relationships/image" Target="../media/image1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9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127.png"/><Relationship Id="rId4" Type="http://schemas.openxmlformats.org/officeDocument/2006/relationships/image" Target="../media/image6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98.png"/><Relationship Id="rId4" Type="http://schemas.openxmlformats.org/officeDocument/2006/relationships/image" Target="../media/image108.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4.xml"/><Relationship Id="rId3" Type="http://schemas.openxmlformats.org/officeDocument/2006/relationships/image" Target="../media/image12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9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107.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109.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9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9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110.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 Id="rId3" Type="http://schemas.openxmlformats.org/officeDocument/2006/relationships/image" Target="../media/image116.png"/><Relationship Id="rId4" Type="http://schemas.openxmlformats.org/officeDocument/2006/relationships/image" Target="../media/image106.png"/><Relationship Id="rId5" Type="http://schemas.openxmlformats.org/officeDocument/2006/relationships/image" Target="../media/image99.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16.png"/><Relationship Id="rId4" Type="http://schemas.openxmlformats.org/officeDocument/2006/relationships/image" Target="../media/image97.png"/><Relationship Id="rId9" Type="http://schemas.openxmlformats.org/officeDocument/2006/relationships/image" Target="../media/image96.png"/><Relationship Id="rId5" Type="http://schemas.openxmlformats.org/officeDocument/2006/relationships/image" Target="../media/image105.png"/><Relationship Id="rId6" Type="http://schemas.openxmlformats.org/officeDocument/2006/relationships/image" Target="../media/image15.png"/><Relationship Id="rId7" Type="http://schemas.openxmlformats.org/officeDocument/2006/relationships/image" Target="../media/image102.png"/><Relationship Id="rId8" Type="http://schemas.openxmlformats.org/officeDocument/2006/relationships/image" Target="../media/image14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103.png"/><Relationship Id="rId4" Type="http://schemas.openxmlformats.org/officeDocument/2006/relationships/image" Target="../media/image113.png"/><Relationship Id="rId5" Type="http://schemas.openxmlformats.org/officeDocument/2006/relationships/image" Target="../media/image100.png"/><Relationship Id="rId6" Type="http://schemas.openxmlformats.org/officeDocument/2006/relationships/image" Target="../media/image114.png"/><Relationship Id="rId7" Type="http://schemas.openxmlformats.org/officeDocument/2006/relationships/image" Target="../media/image112.png"/><Relationship Id="rId8" Type="http://schemas.openxmlformats.org/officeDocument/2006/relationships/image" Target="../media/image10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 Id="rId3" Type="http://schemas.openxmlformats.org/officeDocument/2006/relationships/image" Target="../media/image8.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8.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hyperlink" Target="https://news.uark.edu/articles/46345/study-finds-majority-of-public-is-unfamiliar-with-ballot-measures"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79.png"/><Relationship Id="rId4" Type="http://schemas.openxmlformats.org/officeDocument/2006/relationships/image" Target="../media/image119.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 Id="rId3" Type="http://schemas.openxmlformats.org/officeDocument/2006/relationships/image" Target="../media/image118.png"/><Relationship Id="rId4" Type="http://schemas.openxmlformats.org/officeDocument/2006/relationships/image" Target="../media/image117.png"/><Relationship Id="rId9" Type="http://schemas.openxmlformats.org/officeDocument/2006/relationships/image" Target="../media/image133.png"/><Relationship Id="rId5" Type="http://schemas.openxmlformats.org/officeDocument/2006/relationships/image" Target="../media/image111.png"/><Relationship Id="rId6" Type="http://schemas.openxmlformats.org/officeDocument/2006/relationships/image" Target="../media/image130.png"/><Relationship Id="rId7" Type="http://schemas.openxmlformats.org/officeDocument/2006/relationships/image" Target="../media/image134.png"/><Relationship Id="rId8" Type="http://schemas.openxmlformats.org/officeDocument/2006/relationships/image" Target="../media/image12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120.png"/><Relationship Id="rId4" Type="http://schemas.openxmlformats.org/officeDocument/2006/relationships/image" Target="../media/image129.png"/><Relationship Id="rId5" Type="http://schemas.openxmlformats.org/officeDocument/2006/relationships/image" Target="../media/image124.png"/><Relationship Id="rId6" Type="http://schemas.openxmlformats.org/officeDocument/2006/relationships/image" Target="../media/image128.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 Id="rId3" Type="http://schemas.openxmlformats.org/officeDocument/2006/relationships/image" Target="../media/image137.png"/><Relationship Id="rId4" Type="http://schemas.openxmlformats.org/officeDocument/2006/relationships/image" Target="../media/image125.png"/><Relationship Id="rId5" Type="http://schemas.openxmlformats.org/officeDocument/2006/relationships/image" Target="../media/image13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image" Target="../media/image141.jpg"/><Relationship Id="rId4" Type="http://schemas.openxmlformats.org/officeDocument/2006/relationships/image" Target="../media/image136.jpg"/><Relationship Id="rId9" Type="http://schemas.openxmlformats.org/officeDocument/2006/relationships/image" Target="../media/image135.jpg"/><Relationship Id="rId5" Type="http://schemas.openxmlformats.org/officeDocument/2006/relationships/image" Target="../media/image123.jpg"/><Relationship Id="rId6" Type="http://schemas.openxmlformats.org/officeDocument/2006/relationships/image" Target="../media/image126.jpg"/><Relationship Id="rId7" Type="http://schemas.openxmlformats.org/officeDocument/2006/relationships/image" Target="../media/image138.png"/><Relationship Id="rId8" Type="http://schemas.openxmlformats.org/officeDocument/2006/relationships/image" Target="../media/image140.png"/></Relationships>
</file>

<file path=ppt/slides/_rels/slide160.xml.rels><?xml version="1.0" encoding="UTF-8" standalone="yes"?><Relationships xmlns="http://schemas.openxmlformats.org/package/2006/relationships"><Relationship Id="rId11" Type="http://schemas.openxmlformats.org/officeDocument/2006/relationships/image" Target="../media/image123.jpg"/><Relationship Id="rId10" Type="http://schemas.openxmlformats.org/officeDocument/2006/relationships/image" Target="../media/image136.jpg"/><Relationship Id="rId13" Type="http://schemas.openxmlformats.org/officeDocument/2006/relationships/image" Target="../media/image135.jpg"/><Relationship Id="rId12" Type="http://schemas.openxmlformats.org/officeDocument/2006/relationships/image" Target="../media/image126.jpg"/><Relationship Id="rId1" Type="http://schemas.openxmlformats.org/officeDocument/2006/relationships/slideLayout" Target="../slideLayouts/slideLayout2.xml"/><Relationship Id="rId2" Type="http://schemas.openxmlformats.org/officeDocument/2006/relationships/notesSlide" Target="../notesSlides/notesSlide160.xml"/><Relationship Id="rId3" Type="http://schemas.openxmlformats.org/officeDocument/2006/relationships/image" Target="../media/image138.png"/><Relationship Id="rId4" Type="http://schemas.openxmlformats.org/officeDocument/2006/relationships/image" Target="../media/image142.png"/><Relationship Id="rId9" Type="http://schemas.openxmlformats.org/officeDocument/2006/relationships/image" Target="../media/image141.jpg"/><Relationship Id="rId5" Type="http://schemas.openxmlformats.org/officeDocument/2006/relationships/image" Target="../media/image139.png"/><Relationship Id="rId6" Type="http://schemas.openxmlformats.org/officeDocument/2006/relationships/image" Target="../media/image131.png"/><Relationship Id="rId7" Type="http://schemas.openxmlformats.org/officeDocument/2006/relationships/image" Target="../media/image143.png"/><Relationship Id="rId8" Type="http://schemas.openxmlformats.org/officeDocument/2006/relationships/image" Target="../media/image1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1"/>
          <p:cNvSpPr txBox="1"/>
          <p:nvPr>
            <p:ph type="title"/>
          </p:nvPr>
        </p:nvSpPr>
        <p:spPr>
          <a:xfrm>
            <a:off x="831849" y="1709739"/>
            <a:ext cx="10820219" cy="1880128"/>
          </a:xfrm>
          <a:prstGeom prst="rect">
            <a:avLst/>
          </a:prstGeom>
          <a:noFill/>
          <a:ln>
            <a:noFill/>
          </a:ln>
        </p:spPr>
        <p:txBody>
          <a:bodyPr anchorCtr="0" anchor="b" bIns="45700" lIns="45700" spcFirstLastPara="1" rIns="45700" wrap="square" tIns="45700">
            <a:normAutofit/>
          </a:bodyPr>
          <a:lstStyle/>
          <a:p>
            <a:pPr indent="0" lvl="0" marL="0" rtl="0" algn="l">
              <a:lnSpc>
                <a:spcPct val="90000"/>
              </a:lnSpc>
              <a:spcBef>
                <a:spcPts val="0"/>
              </a:spcBef>
              <a:spcAft>
                <a:spcPts val="0"/>
              </a:spcAft>
              <a:buClr>
                <a:srgbClr val="000000"/>
              </a:buClr>
              <a:buSzPts val="4800"/>
              <a:buFont typeface="Play"/>
              <a:buNone/>
            </a:pPr>
            <a:r>
              <a:rPr b="0" i="0" lang="en-US" sz="4800" u="none" cap="none" strike="noStrike">
                <a:solidFill>
                  <a:srgbClr val="000000"/>
                </a:solidFill>
                <a:latin typeface="Play"/>
                <a:ea typeface="Play"/>
                <a:cs typeface="Play"/>
                <a:sym typeface="Play"/>
              </a:rPr>
              <a:t>Language Models for Open-Ended Domains</a:t>
            </a:r>
            <a:endParaRPr/>
          </a:p>
        </p:txBody>
      </p:sp>
      <p:sp>
        <p:nvSpPr>
          <p:cNvPr id="50" name="Google Shape;50;p11"/>
          <p:cNvSpPr txBox="1"/>
          <p:nvPr>
            <p:ph idx="1" type="body"/>
          </p:nvPr>
        </p:nvSpPr>
        <p:spPr>
          <a:xfrm>
            <a:off x="831850" y="3768196"/>
            <a:ext cx="10515600" cy="2636096"/>
          </a:xfrm>
          <a:prstGeom prst="rect">
            <a:avLst/>
          </a:prstGeom>
          <a:noFill/>
          <a:ln>
            <a:noFill/>
          </a:ln>
        </p:spPr>
        <p:txBody>
          <a:bodyPr anchorCtr="0" anchor="t" bIns="45700" lIns="45700" spcFirstLastPara="1" rIns="45700" wrap="square" tIns="45700">
            <a:normAutofit fontScale="92500" lnSpcReduction="10000"/>
          </a:bodyPr>
          <a:lstStyle/>
          <a:p>
            <a:pPr indent="0" lvl="0" marL="0" rtl="0" algn="l">
              <a:lnSpc>
                <a:spcPct val="100000"/>
              </a:lnSpc>
              <a:spcBef>
                <a:spcPts val="0"/>
              </a:spcBef>
              <a:spcAft>
                <a:spcPts val="0"/>
              </a:spcAft>
              <a:buClr>
                <a:srgbClr val="757575"/>
              </a:buClr>
              <a:buSzPct val="100000"/>
              <a:buNone/>
            </a:pPr>
            <a:r>
              <a:rPr b="1" lang="en-US"/>
              <a:t>Mourad Heddaya</a:t>
            </a:r>
            <a:br>
              <a:rPr b="1" lang="en-US"/>
            </a:br>
            <a:r>
              <a:rPr lang="en-US"/>
              <a:t>PhD Dissertation Defense, 5/12/2026</a:t>
            </a:r>
            <a:br>
              <a:rPr b="1" lang="en-US"/>
            </a:br>
            <a:r>
              <a:rPr lang="en-US"/>
              <a:t>Department of Computer Science</a:t>
            </a:r>
            <a:br>
              <a:rPr lang="en-US"/>
            </a:br>
            <a:r>
              <a:rPr lang="en-US"/>
              <a:t>University of Chicago</a:t>
            </a:r>
            <a:endParaRPr/>
          </a:p>
          <a:p>
            <a:pPr indent="0" lvl="0" marL="0" rtl="0" algn="l">
              <a:lnSpc>
                <a:spcPct val="100000"/>
              </a:lnSpc>
              <a:spcBef>
                <a:spcPts val="1000"/>
              </a:spcBef>
              <a:spcAft>
                <a:spcPts val="0"/>
              </a:spcAft>
              <a:buClr>
                <a:srgbClr val="757575"/>
              </a:buClr>
              <a:buSzPct val="100000"/>
              <a:buNone/>
            </a:pPr>
            <a:r>
              <a:rPr lang="en-US"/>
              <a:t>Committee:</a:t>
            </a:r>
            <a:br>
              <a:rPr lang="en-US"/>
            </a:br>
            <a:r>
              <a:rPr b="1" lang="en-US"/>
              <a:t>Chenhao Tan (advisor)</a:t>
            </a:r>
            <a:br>
              <a:rPr b="1" lang="en-US"/>
            </a:br>
            <a:r>
              <a:rPr lang="en-US"/>
              <a:t>Ari Holtzman</a:t>
            </a:r>
            <a:br>
              <a:rPr lang="en-US"/>
            </a:br>
            <a:r>
              <a:rPr lang="en-US"/>
              <a:t>Alexander Zentefis</a:t>
            </a:r>
            <a:endParaRPr/>
          </a:p>
        </p:txBody>
      </p:sp>
      <p:sp>
        <p:nvSpPr>
          <p:cNvPr id="51" name="Google Shape;51;p1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descr="Picture 2" id="52" name="Google Shape;52;p11"/>
          <p:cNvPicPr preferRelativeResize="0"/>
          <p:nvPr/>
        </p:nvPicPr>
        <p:blipFill rotWithShape="1">
          <a:blip r:embed="rId3">
            <a:alphaModFix/>
          </a:blip>
          <a:srcRect b="0" l="0" r="0" t="0"/>
          <a:stretch/>
        </p:blipFill>
        <p:spPr>
          <a:xfrm>
            <a:off x="5400152" y="4323871"/>
            <a:ext cx="2014537" cy="20145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idx="12" type="sldNum"/>
          </p:nvPr>
        </p:nvSpPr>
        <p:spPr>
          <a:xfrm>
            <a:off x="11164902" y="6404292"/>
            <a:ext cx="188898"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grpSp>
        <p:nvGrpSpPr>
          <p:cNvPr id="58" name="Google Shape;58;p12"/>
          <p:cNvGrpSpPr/>
          <p:nvPr/>
        </p:nvGrpSpPr>
        <p:grpSpPr>
          <a:xfrm>
            <a:off x="838199" y="2288331"/>
            <a:ext cx="4842934" cy="3680218"/>
            <a:chOff x="838199" y="2288331"/>
            <a:chExt cx="4842934" cy="3680218"/>
          </a:xfrm>
        </p:grpSpPr>
        <p:sp>
          <p:nvSpPr>
            <p:cNvPr id="59" name="Google Shape;59;p12"/>
            <p:cNvSpPr/>
            <p:nvPr/>
          </p:nvSpPr>
          <p:spPr>
            <a:xfrm>
              <a:off x="838200" y="2288331"/>
              <a:ext cx="4842933" cy="1472684"/>
            </a:xfrm>
            <a:prstGeom prst="roundRect">
              <a:avLst>
                <a:gd fmla="val 5271" name="adj"/>
              </a:avLst>
            </a:prstGeom>
            <a:solidFill>
              <a:srgbClr val="FFD579">
                <a:alpha val="9804"/>
              </a:srgbClr>
            </a:solidFill>
            <a:ln cap="flat" cmpd="sng" w="9525">
              <a:solidFill>
                <a:schemeClr val="dk2"/>
              </a:solidFill>
              <a:prstDash val="solid"/>
              <a:miter lim="8000"/>
              <a:headEnd len="sm" w="sm" type="none"/>
              <a:tailEnd len="sm" w="sm" type="none"/>
            </a:ln>
          </p:spPr>
          <p:txBody>
            <a:bodyPr anchorCtr="0" anchor="ctr" bIns="182875" lIns="182875" spcFirstLastPara="1" rIns="182875" wrap="square" tIns="182875">
              <a:noAutofit/>
            </a:bodyPr>
            <a:lstStyle/>
            <a:p>
              <a:pPr indent="0" lvl="0" marL="0" marR="0" rtl="0" algn="l">
                <a:lnSpc>
                  <a:spcPct val="100000"/>
                </a:lnSpc>
                <a:spcBef>
                  <a:spcPts val="0"/>
                </a:spcBef>
                <a:spcAft>
                  <a:spcPts val="0"/>
                </a:spcAft>
                <a:buClr>
                  <a:srgbClr val="979797"/>
                </a:buClr>
                <a:buSzPts val="1200"/>
                <a:buFont typeface="Arial"/>
                <a:buNone/>
              </a:pPr>
              <a:r>
                <a:rPr b="0" i="0" lang="en-US" sz="1200" u="none" cap="none" strike="noStrike">
                  <a:solidFill>
                    <a:srgbClr val="979797"/>
                  </a:solidFill>
                  <a:latin typeface="Arial"/>
                  <a:ea typeface="Arial"/>
                  <a:cs typeface="Arial"/>
                  <a:sym typeface="Arial"/>
                </a:rPr>
                <a:t>PALINDROME.PY</a:t>
              </a:r>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Consolas"/>
                <a:buNone/>
              </a:pPr>
              <a:r>
                <a:rPr b="0" i="0" lang="en-US" sz="1600" u="none" cap="none" strike="noStrike">
                  <a:solidFill>
                    <a:srgbClr val="000000"/>
                  </a:solidFill>
                  <a:latin typeface="Consolas"/>
                  <a:ea typeface="Consolas"/>
                  <a:cs typeface="Consolas"/>
                  <a:sym typeface="Consolas"/>
                </a:rPr>
                <a:t>def is_palindrome(s):</a:t>
              </a:r>
              <a:endParaRPr/>
            </a:p>
            <a:p>
              <a:pPr indent="0" lvl="0" marL="0" marR="0" rtl="0" algn="l">
                <a:lnSpc>
                  <a:spcPct val="100000"/>
                </a:lnSpc>
                <a:spcBef>
                  <a:spcPts val="0"/>
                </a:spcBef>
                <a:spcAft>
                  <a:spcPts val="0"/>
                </a:spcAft>
                <a:buClr>
                  <a:srgbClr val="000000"/>
                </a:buClr>
                <a:buSzPts val="1600"/>
                <a:buFont typeface="Consolas"/>
                <a:buNone/>
              </a:pPr>
              <a:r>
                <a:rPr b="0" i="0" lang="en-US" sz="1600" u="none" cap="none" strike="noStrike">
                  <a:solidFill>
                    <a:srgbClr val="000000"/>
                  </a:solidFill>
                  <a:latin typeface="Consolas"/>
                  <a:ea typeface="Consolas"/>
                  <a:cs typeface="Consolas"/>
                  <a:sym typeface="Consolas"/>
                </a:rPr>
                <a:t>  s = s.lower()</a:t>
              </a:r>
              <a:endParaRPr/>
            </a:p>
            <a:p>
              <a:pPr indent="0" lvl="0" marL="0" marR="0" rtl="0" algn="l">
                <a:lnSpc>
                  <a:spcPct val="100000"/>
                </a:lnSpc>
                <a:spcBef>
                  <a:spcPts val="0"/>
                </a:spcBef>
                <a:spcAft>
                  <a:spcPts val="0"/>
                </a:spcAft>
                <a:buClr>
                  <a:srgbClr val="000000"/>
                </a:buClr>
                <a:buSzPts val="1600"/>
                <a:buFont typeface="Consolas"/>
                <a:buNone/>
              </a:pPr>
              <a:r>
                <a:rPr b="0" i="0" lang="en-US" sz="1600" u="none" cap="none" strike="noStrike">
                  <a:solidFill>
                    <a:srgbClr val="000000"/>
                  </a:solidFill>
                  <a:latin typeface="Consolas"/>
                  <a:ea typeface="Consolas"/>
                  <a:cs typeface="Consolas"/>
                  <a:sym typeface="Consolas"/>
                </a:rPr>
                <a:t>  return s = s[::-1] </a:t>
              </a:r>
              <a:endParaRPr/>
            </a:p>
          </p:txBody>
        </p:sp>
        <p:sp>
          <p:nvSpPr>
            <p:cNvPr id="60" name="Google Shape;60;p12"/>
            <p:cNvSpPr/>
            <p:nvPr/>
          </p:nvSpPr>
          <p:spPr>
            <a:xfrm>
              <a:off x="838199" y="5533614"/>
              <a:ext cx="4842932" cy="434935"/>
            </a:xfrm>
            <a:prstGeom prst="roundRect">
              <a:avLst>
                <a:gd fmla="val 14819" name="adj"/>
              </a:avLst>
            </a:prstGeom>
            <a:solidFill>
              <a:srgbClr val="D8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979797"/>
                </a:buClr>
                <a:buSzPts val="1400"/>
                <a:buFont typeface="Consolas"/>
                <a:buNone/>
              </a:pPr>
              <a:r>
                <a:rPr b="0" i="0" lang="en-US" sz="1400" u="none" cap="none" strike="noStrike">
                  <a:solidFill>
                    <a:srgbClr val="979797"/>
                  </a:solidFill>
                  <a:latin typeface="Consolas"/>
                  <a:ea typeface="Consolas"/>
                  <a:cs typeface="Consolas"/>
                  <a:sym typeface="Consolas"/>
                </a:rPr>
                <a:t>is_palindrome(</a:t>
              </a:r>
              <a:r>
                <a:rPr b="0" i="0" lang="en-US" sz="1400" u="none" cap="none" strike="noStrike">
                  <a:solidFill>
                    <a:schemeClr val="accent3"/>
                  </a:solidFill>
                  <a:latin typeface="Consolas"/>
                  <a:ea typeface="Consolas"/>
                  <a:cs typeface="Consolas"/>
                  <a:sym typeface="Consolas"/>
                </a:rPr>
                <a:t>“racecar”</a:t>
              </a:r>
              <a:r>
                <a:rPr b="0" i="0" lang="en-US" sz="1400" u="none" cap="none" strike="noStrike">
                  <a:solidFill>
                    <a:srgbClr val="979797"/>
                  </a:solidFill>
                  <a:latin typeface="Consolas"/>
                  <a:ea typeface="Consolas"/>
                  <a:cs typeface="Consolas"/>
                  <a:sym typeface="Consolas"/>
                </a:rPr>
                <a:t>)</a:t>
              </a:r>
              <a:r>
                <a:rPr b="0" i="0" lang="en-US" sz="1400" u="none" cap="none" strike="noStrike">
                  <a:solidFill>
                    <a:srgbClr val="000000"/>
                  </a:solidFill>
                  <a:latin typeface="Consolas"/>
                  <a:ea typeface="Consolas"/>
                  <a:cs typeface="Consolas"/>
                  <a:sym typeface="Consolas"/>
                </a:rPr>
                <a:t> == True          </a:t>
              </a:r>
              <a:r>
                <a:rPr b="0" i="0" lang="en-US" sz="1400" u="none" cap="none" strike="noStrike">
                  <a:solidFill>
                    <a:schemeClr val="accent3"/>
                  </a:solidFill>
                  <a:latin typeface="Consolas"/>
                  <a:ea typeface="Consolas"/>
                  <a:cs typeface="Consolas"/>
                  <a:sym typeface="Consolas"/>
                </a:rPr>
                <a:t>PASS</a:t>
              </a:r>
              <a:endParaRPr b="0" i="0" sz="1400" u="none" cap="none" strike="noStrike">
                <a:solidFill>
                  <a:schemeClr val="accent3"/>
                </a:solidFill>
                <a:latin typeface="Consolas"/>
                <a:ea typeface="Consolas"/>
                <a:cs typeface="Consolas"/>
                <a:sym typeface="Consolas"/>
              </a:endParaRPr>
            </a:p>
          </p:txBody>
        </p:sp>
        <p:sp>
          <p:nvSpPr>
            <p:cNvPr id="61" name="Google Shape;61;p12"/>
            <p:cNvSpPr/>
            <p:nvPr/>
          </p:nvSpPr>
          <p:spPr>
            <a:xfrm>
              <a:off x="838200" y="3960177"/>
              <a:ext cx="4842932" cy="434935"/>
            </a:xfrm>
            <a:prstGeom prst="roundRect">
              <a:avLst>
                <a:gd fmla="val 14819" name="adj"/>
              </a:avLst>
            </a:prstGeom>
            <a:solidFill>
              <a:srgbClr val="D8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979797"/>
                </a:buClr>
                <a:buSzPts val="1400"/>
                <a:buFont typeface="Consolas"/>
                <a:buNone/>
              </a:pPr>
              <a:r>
                <a:rPr b="0" i="0" lang="en-US" sz="1400" u="none" cap="none" strike="noStrike">
                  <a:solidFill>
                    <a:srgbClr val="979797"/>
                  </a:solidFill>
                  <a:latin typeface="Consolas"/>
                  <a:ea typeface="Consolas"/>
                  <a:cs typeface="Consolas"/>
                  <a:sym typeface="Consolas"/>
                </a:rPr>
                <a:t>is_palindrome(</a:t>
              </a:r>
              <a:r>
                <a:rPr b="0" i="0" lang="en-US" sz="1400" u="none" cap="none" strike="noStrike">
                  <a:solidFill>
                    <a:schemeClr val="accent3"/>
                  </a:solidFill>
                  <a:latin typeface="Consolas"/>
                  <a:ea typeface="Consolas"/>
                  <a:cs typeface="Consolas"/>
                  <a:sym typeface="Consolas"/>
                </a:rPr>
                <a:t>“Stop pots”</a:t>
              </a:r>
              <a:r>
                <a:rPr b="0" i="0" lang="en-US" sz="1400" u="none" cap="none" strike="noStrike">
                  <a:solidFill>
                    <a:srgbClr val="979797"/>
                  </a:solidFill>
                  <a:latin typeface="Consolas"/>
                  <a:ea typeface="Consolas"/>
                  <a:cs typeface="Consolas"/>
                  <a:sym typeface="Consolas"/>
                </a:rPr>
                <a:t>)</a:t>
              </a:r>
              <a:r>
                <a:rPr b="0" i="0" lang="en-US" sz="1400" u="none" cap="none" strike="noStrike">
                  <a:solidFill>
                    <a:srgbClr val="000000"/>
                  </a:solidFill>
                  <a:latin typeface="Consolas"/>
                  <a:ea typeface="Consolas"/>
                  <a:cs typeface="Consolas"/>
                  <a:sym typeface="Consolas"/>
                </a:rPr>
                <a:t> == True        </a:t>
              </a:r>
              <a:r>
                <a:rPr b="0" i="0" lang="en-US" sz="1400" u="none" cap="none" strike="noStrike">
                  <a:solidFill>
                    <a:schemeClr val="accent3"/>
                  </a:solidFill>
                  <a:latin typeface="Consolas"/>
                  <a:ea typeface="Consolas"/>
                  <a:cs typeface="Consolas"/>
                  <a:sym typeface="Consolas"/>
                </a:rPr>
                <a:t>PASS</a:t>
              </a:r>
              <a:endParaRPr b="0" i="0" sz="1400" u="none" cap="none" strike="noStrike">
                <a:solidFill>
                  <a:schemeClr val="accent3"/>
                </a:solidFill>
                <a:latin typeface="Consolas"/>
                <a:ea typeface="Consolas"/>
                <a:cs typeface="Consolas"/>
                <a:sym typeface="Consolas"/>
              </a:endParaRPr>
            </a:p>
          </p:txBody>
        </p:sp>
        <p:sp>
          <p:nvSpPr>
            <p:cNvPr id="62" name="Google Shape;62;p12"/>
            <p:cNvSpPr/>
            <p:nvPr/>
          </p:nvSpPr>
          <p:spPr>
            <a:xfrm>
              <a:off x="838200" y="4484656"/>
              <a:ext cx="4842932" cy="434935"/>
            </a:xfrm>
            <a:prstGeom prst="roundRect">
              <a:avLst>
                <a:gd fmla="val 14819" name="adj"/>
              </a:avLst>
            </a:prstGeom>
            <a:solidFill>
              <a:srgbClr val="D8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979797"/>
                </a:buClr>
                <a:buSzPts val="1400"/>
                <a:buFont typeface="Consolas"/>
                <a:buNone/>
              </a:pPr>
              <a:r>
                <a:rPr b="0" i="0" lang="en-US" sz="1400" u="none" cap="none" strike="noStrike">
                  <a:solidFill>
                    <a:srgbClr val="979797"/>
                  </a:solidFill>
                  <a:latin typeface="Consolas"/>
                  <a:ea typeface="Consolas"/>
                  <a:cs typeface="Consolas"/>
                  <a:sym typeface="Consolas"/>
                </a:rPr>
                <a:t>is_palindrome(</a:t>
              </a:r>
              <a:r>
                <a:rPr b="0" i="0" lang="en-US" sz="1400" u="none" cap="none" strike="noStrike">
                  <a:solidFill>
                    <a:schemeClr val="accent3"/>
                  </a:solidFill>
                  <a:latin typeface="Consolas"/>
                  <a:ea typeface="Consolas"/>
                  <a:cs typeface="Consolas"/>
                  <a:sym typeface="Consolas"/>
                </a:rPr>
                <a:t>“hello”</a:t>
              </a:r>
              <a:r>
                <a:rPr b="0" i="0" lang="en-US" sz="1400" u="none" cap="none" strike="noStrike">
                  <a:solidFill>
                    <a:srgbClr val="979797"/>
                  </a:solidFill>
                  <a:latin typeface="Consolas"/>
                  <a:ea typeface="Consolas"/>
                  <a:cs typeface="Consolas"/>
                  <a:sym typeface="Consolas"/>
                </a:rPr>
                <a:t>)</a:t>
              </a:r>
              <a:r>
                <a:rPr b="0" i="0" lang="en-US" sz="1400" u="none" cap="none" strike="noStrike">
                  <a:solidFill>
                    <a:srgbClr val="000000"/>
                  </a:solidFill>
                  <a:latin typeface="Consolas"/>
                  <a:ea typeface="Consolas"/>
                  <a:cs typeface="Consolas"/>
                  <a:sym typeface="Consolas"/>
                </a:rPr>
                <a:t> == False           </a:t>
              </a:r>
              <a:r>
                <a:rPr b="0" i="0" lang="en-US" sz="1400" u="none" cap="none" strike="noStrike">
                  <a:solidFill>
                    <a:schemeClr val="accent3"/>
                  </a:solidFill>
                  <a:latin typeface="Consolas"/>
                  <a:ea typeface="Consolas"/>
                  <a:cs typeface="Consolas"/>
                  <a:sym typeface="Consolas"/>
                </a:rPr>
                <a:t>PASS</a:t>
              </a:r>
              <a:endParaRPr b="0" i="0" sz="1400" u="none" cap="none" strike="noStrike">
                <a:solidFill>
                  <a:schemeClr val="accent3"/>
                </a:solidFill>
                <a:latin typeface="Consolas"/>
                <a:ea typeface="Consolas"/>
                <a:cs typeface="Consolas"/>
                <a:sym typeface="Consolas"/>
              </a:endParaRPr>
            </a:p>
          </p:txBody>
        </p:sp>
        <p:sp>
          <p:nvSpPr>
            <p:cNvPr id="63" name="Google Shape;63;p12"/>
            <p:cNvSpPr/>
            <p:nvPr/>
          </p:nvSpPr>
          <p:spPr>
            <a:xfrm>
              <a:off x="838200" y="5009135"/>
              <a:ext cx="4842932" cy="434935"/>
            </a:xfrm>
            <a:prstGeom prst="roundRect">
              <a:avLst>
                <a:gd fmla="val 14819" name="adj"/>
              </a:avLst>
            </a:prstGeom>
            <a:solidFill>
              <a:srgbClr val="D8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979797"/>
                </a:buClr>
                <a:buSzPts val="1400"/>
                <a:buFont typeface="Consolas"/>
                <a:buNone/>
              </a:pPr>
              <a:r>
                <a:rPr b="0" i="0" lang="en-US" sz="1400" u="none" cap="none" strike="noStrike">
                  <a:solidFill>
                    <a:srgbClr val="979797"/>
                  </a:solidFill>
                  <a:latin typeface="Consolas"/>
                  <a:ea typeface="Consolas"/>
                  <a:cs typeface="Consolas"/>
                  <a:sym typeface="Consolas"/>
                </a:rPr>
                <a:t>is_palindrome(</a:t>
              </a:r>
              <a:r>
                <a:rPr b="0" i="0" lang="en-US" sz="1400" u="none" cap="none" strike="noStrike">
                  <a:solidFill>
                    <a:schemeClr val="accent3"/>
                  </a:solidFill>
                  <a:latin typeface="Consolas"/>
                  <a:ea typeface="Consolas"/>
                  <a:cs typeface="Consolas"/>
                  <a:sym typeface="Consolas"/>
                </a:rPr>
                <a:t>“kayak”</a:t>
              </a:r>
              <a:r>
                <a:rPr b="0" i="0" lang="en-US" sz="1400" u="none" cap="none" strike="noStrike">
                  <a:solidFill>
                    <a:srgbClr val="979797"/>
                  </a:solidFill>
                  <a:latin typeface="Consolas"/>
                  <a:ea typeface="Consolas"/>
                  <a:cs typeface="Consolas"/>
                  <a:sym typeface="Consolas"/>
                </a:rPr>
                <a:t>)</a:t>
              </a:r>
              <a:r>
                <a:rPr b="0" i="0" lang="en-US" sz="1400" u="none" cap="none" strike="noStrike">
                  <a:solidFill>
                    <a:srgbClr val="000000"/>
                  </a:solidFill>
                  <a:latin typeface="Consolas"/>
                  <a:ea typeface="Consolas"/>
                  <a:cs typeface="Consolas"/>
                  <a:sym typeface="Consolas"/>
                </a:rPr>
                <a:t> == True            </a:t>
              </a:r>
              <a:r>
                <a:rPr b="0" i="0" lang="en-US" sz="1400" u="none" cap="none" strike="noStrike">
                  <a:solidFill>
                    <a:schemeClr val="accent3"/>
                  </a:solidFill>
                  <a:latin typeface="Consolas"/>
                  <a:ea typeface="Consolas"/>
                  <a:cs typeface="Consolas"/>
                  <a:sym typeface="Consolas"/>
                </a:rPr>
                <a:t>PASS</a:t>
              </a:r>
              <a:endParaRPr b="0" i="0" sz="1400" u="none" cap="none" strike="noStrike">
                <a:solidFill>
                  <a:schemeClr val="accent3"/>
                </a:solidFill>
                <a:latin typeface="Consolas"/>
                <a:ea typeface="Consolas"/>
                <a:cs typeface="Consolas"/>
                <a:sym typeface="Consolas"/>
              </a:endParaRPr>
            </a:p>
          </p:txBody>
        </p:sp>
      </p:grpSp>
      <p:sp>
        <p:nvSpPr>
          <p:cNvPr id="64" name="Google Shape;64;p12"/>
          <p:cNvSpPr txBox="1"/>
          <p:nvPr>
            <p:ph type="title"/>
          </p:nvPr>
        </p:nvSpPr>
        <p:spPr>
          <a:xfrm>
            <a:off x="838200" y="365125"/>
            <a:ext cx="10706879" cy="704265"/>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LLMs excel at tasks with clear answers</a:t>
            </a:r>
            <a:endParaRPr/>
          </a:p>
        </p:txBody>
      </p:sp>
      <p:sp>
        <p:nvSpPr>
          <p:cNvPr id="65" name="Google Shape;65;p12"/>
          <p:cNvSpPr txBox="1"/>
          <p:nvPr/>
        </p:nvSpPr>
        <p:spPr>
          <a:xfrm>
            <a:off x="838199" y="974596"/>
            <a:ext cx="10706879" cy="704264"/>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But many language tasks are open-ended</a:t>
            </a:r>
            <a:endParaRPr/>
          </a:p>
        </p:txBody>
      </p:sp>
      <p:grpSp>
        <p:nvGrpSpPr>
          <p:cNvPr id="66" name="Google Shape;66;p12"/>
          <p:cNvGrpSpPr/>
          <p:nvPr/>
        </p:nvGrpSpPr>
        <p:grpSpPr>
          <a:xfrm>
            <a:off x="6416418" y="2288331"/>
            <a:ext cx="4937382" cy="981789"/>
            <a:chOff x="6416418" y="2087806"/>
            <a:chExt cx="4937382" cy="981789"/>
          </a:xfrm>
        </p:grpSpPr>
        <p:sp>
          <p:nvSpPr>
            <p:cNvPr id="67" name="Google Shape;67;p12"/>
            <p:cNvSpPr/>
            <p:nvPr/>
          </p:nvSpPr>
          <p:spPr>
            <a:xfrm>
              <a:off x="6416418" y="2087806"/>
              <a:ext cx="4937382" cy="981789"/>
            </a:xfrm>
            <a:prstGeom prst="roundRect">
              <a:avLst>
                <a:gd fmla="val 5271" name="adj"/>
              </a:avLst>
            </a:prstGeom>
            <a:solidFill>
              <a:srgbClr val="FFD579">
                <a:alpha val="9804"/>
              </a:srgbClr>
            </a:solidFill>
            <a:ln cap="flat" cmpd="sng" w="9525">
              <a:solidFill>
                <a:schemeClr val="dk2"/>
              </a:solidFill>
              <a:prstDash val="solid"/>
              <a:miter lim="8000"/>
              <a:headEnd len="sm" w="sm" type="none"/>
              <a:tailEnd len="sm" w="sm" type="none"/>
            </a:ln>
          </p:spPr>
          <p:txBody>
            <a:bodyPr anchorCtr="0" anchor="ctr" bIns="91425" lIns="822950" spcFirstLastPara="1" rIns="182875" wrap="square" tIns="91425">
              <a:noAutofit/>
            </a:bodyPr>
            <a:lstStyle/>
            <a:p>
              <a:pPr indent="0" lvl="0" marL="0" marR="0" rtl="0" algn="l">
                <a:lnSpc>
                  <a:spcPct val="100000"/>
                </a:lnSpc>
                <a:spcBef>
                  <a:spcPts val="0"/>
                </a:spcBef>
                <a:spcAft>
                  <a:spcPts val="0"/>
                </a:spcAft>
                <a:buClr>
                  <a:srgbClr val="979797"/>
                </a:buClr>
                <a:buSzPts val="1200"/>
                <a:buFont typeface="Arial"/>
                <a:buNone/>
              </a:pPr>
              <a:r>
                <a:rPr b="0" i="0" lang="en-US" sz="1200" u="none" cap="none" strike="noStrike">
                  <a:solidFill>
                    <a:srgbClr val="979797"/>
                  </a:solidFill>
                  <a:latin typeface="Arial"/>
                  <a:ea typeface="Arial"/>
                  <a:cs typeface="Arial"/>
                  <a:sym typeface="Arial"/>
                </a:rPr>
                <a:t>Saint-Exupéry · </a:t>
              </a:r>
              <a:r>
                <a:rPr b="0" i="1" lang="en-US" sz="1200" u="none" cap="none" strike="noStrike">
                  <a:solidFill>
                    <a:srgbClr val="979797"/>
                  </a:solidFill>
                  <a:latin typeface="Arial"/>
                  <a:ea typeface="Arial"/>
                  <a:cs typeface="Arial"/>
                  <a:sym typeface="Arial"/>
                </a:rPr>
                <a:t>Le Petit Prince</a:t>
              </a:r>
              <a:r>
                <a:rPr b="0" i="0" lang="en-US" sz="1200" u="none" cap="none" strike="noStrike">
                  <a:solidFill>
                    <a:srgbClr val="979797"/>
                  </a:solidFill>
                  <a:latin typeface="Arial"/>
                  <a:ea typeface="Arial"/>
                  <a:cs typeface="Arial"/>
                  <a:sym typeface="Arial"/>
                </a:rPr>
                <a:t> · 1943</a:t>
              </a:r>
              <a:endParaRPr b="0" i="0" sz="1200" u="none" cap="none" strike="noStrike">
                <a:solidFill>
                  <a:srgbClr val="7D7D7D"/>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On ne voit bien qu’avec le cœur. L’essentiel est invisible pour les yeux. »</a:t>
              </a:r>
              <a:endParaRPr b="0" i="0" sz="1400" u="none" cap="none" strike="noStrike">
                <a:solidFill>
                  <a:srgbClr val="7D7D7D"/>
                </a:solidFill>
                <a:latin typeface="Arial"/>
                <a:ea typeface="Arial"/>
                <a:cs typeface="Arial"/>
                <a:sym typeface="Arial"/>
              </a:endParaRPr>
            </a:p>
          </p:txBody>
        </p:sp>
        <p:pic>
          <p:nvPicPr>
            <p:cNvPr descr="The Little Prince - Wikipedia" id="68" name="Google Shape;68;p12"/>
            <p:cNvPicPr preferRelativeResize="0"/>
            <p:nvPr/>
          </p:nvPicPr>
          <p:blipFill rotWithShape="1">
            <a:blip r:embed="rId3">
              <a:alphaModFix/>
            </a:blip>
            <a:srcRect b="0" l="0" r="0" t="0"/>
            <a:stretch/>
          </p:blipFill>
          <p:spPr>
            <a:xfrm>
              <a:off x="6535782" y="2185434"/>
              <a:ext cx="619350" cy="774922"/>
            </a:xfrm>
            <a:prstGeom prst="roundRect">
              <a:avLst>
                <a:gd fmla="val 8594" name="adj"/>
              </a:avLst>
            </a:prstGeom>
            <a:solidFill>
              <a:srgbClr val="ECECEC"/>
            </a:solidFill>
            <a:ln>
              <a:noFill/>
            </a:ln>
          </p:spPr>
        </p:pic>
      </p:grpSp>
      <p:grpSp>
        <p:nvGrpSpPr>
          <p:cNvPr id="69" name="Google Shape;69;p12"/>
          <p:cNvGrpSpPr/>
          <p:nvPr/>
        </p:nvGrpSpPr>
        <p:grpSpPr>
          <a:xfrm>
            <a:off x="6416418" y="3448360"/>
            <a:ext cx="4937382" cy="2897329"/>
            <a:chOff x="6416418" y="3448360"/>
            <a:chExt cx="4937382" cy="2897329"/>
          </a:xfrm>
        </p:grpSpPr>
        <p:sp>
          <p:nvSpPr>
            <p:cNvPr id="70" name="Google Shape;70;p12"/>
            <p:cNvSpPr/>
            <p:nvPr/>
          </p:nvSpPr>
          <p:spPr>
            <a:xfrm>
              <a:off x="6416418" y="3448360"/>
              <a:ext cx="4937382" cy="799207"/>
            </a:xfrm>
            <a:prstGeom prst="roundRect">
              <a:avLst>
                <a:gd fmla="val 7838" name="adj"/>
              </a:avLst>
            </a:prstGeom>
            <a:solidFill>
              <a:srgbClr val="FAE2D5"/>
            </a:solidFill>
            <a:ln>
              <a:noFill/>
            </a:ln>
          </p:spPr>
          <p:txBody>
            <a:bodyPr anchorCtr="0" anchor="ctr" bIns="45700" lIns="731500" spcFirstLastPara="1" rIns="91425" wrap="square" tIns="45700">
              <a:noAutofit/>
            </a:bodyPr>
            <a:lstStyle/>
            <a:p>
              <a:pPr indent="0" lvl="0" marL="0" marR="0" rtl="0" algn="l">
                <a:lnSpc>
                  <a:spcPct val="100000"/>
                </a:lnSpc>
                <a:spcBef>
                  <a:spcPts val="0"/>
                </a:spcBef>
                <a:spcAft>
                  <a:spcPts val="0"/>
                </a:spcAft>
                <a:buClr>
                  <a:srgbClr val="979797"/>
                </a:buClr>
                <a:buSzPts val="1200"/>
                <a:buFont typeface="Arial"/>
                <a:buNone/>
              </a:pPr>
              <a:r>
                <a:rPr b="0" i="0" lang="en-US" sz="1200" u="none" cap="none" strike="noStrike">
                  <a:solidFill>
                    <a:srgbClr val="979797"/>
                  </a:solidFill>
                  <a:latin typeface="Arial"/>
                  <a:ea typeface="Arial"/>
                  <a:cs typeface="Arial"/>
                  <a:sym typeface="Arial"/>
                </a:rPr>
                <a:t>Katherine Woods </a:t>
              </a:r>
              <a:endParaRPr b="0" i="0" sz="1200" u="none" cap="none" strike="noStrike">
                <a:solidFill>
                  <a:srgbClr val="979797"/>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“It is only with the heart that one can see </a:t>
              </a:r>
              <a:r>
                <a:rPr b="1" i="0" lang="en-US" sz="1600" u="sng" cap="none" strike="noStrike">
                  <a:solidFill>
                    <a:srgbClr val="000000"/>
                  </a:solidFill>
                  <a:latin typeface="Arial"/>
                  <a:ea typeface="Arial"/>
                  <a:cs typeface="Arial"/>
                  <a:sym typeface="Arial"/>
                </a:rPr>
                <a:t>rightly</a:t>
              </a:r>
              <a:r>
                <a:rPr b="0" i="0" lang="en-US" sz="1600" u="none" cap="none" strike="noStrike">
                  <a:solidFill>
                    <a:srgbClr val="000000"/>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 </a:t>
              </a:r>
              <a:r>
                <a:rPr b="1" i="0" lang="en-US" sz="1600" u="sng" cap="none" strike="noStrike">
                  <a:solidFill>
                    <a:srgbClr val="000000"/>
                  </a:solidFill>
                  <a:latin typeface="Arial"/>
                  <a:ea typeface="Arial"/>
                  <a:cs typeface="Arial"/>
                  <a:sym typeface="Arial"/>
                </a:rPr>
                <a:t>what</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is</a:t>
              </a:r>
              <a:r>
                <a:rPr b="0" i="0" lang="en-US" sz="1400" u="none" cap="none" strike="noStrike">
                  <a:solidFill>
                    <a:srgbClr val="000000"/>
                  </a:solidFill>
                  <a:latin typeface="Arial"/>
                  <a:ea typeface="Arial"/>
                  <a:cs typeface="Arial"/>
                  <a:sym typeface="Arial"/>
                </a:rPr>
                <a:t> essential is invisible to the </a:t>
              </a:r>
              <a:r>
                <a:rPr b="1" i="0" lang="en-US" sz="1600" u="sng" cap="none" strike="noStrike">
                  <a:solidFill>
                    <a:srgbClr val="000000"/>
                  </a:solidFill>
                  <a:latin typeface="Arial"/>
                  <a:ea typeface="Arial"/>
                  <a:cs typeface="Arial"/>
                  <a:sym typeface="Arial"/>
                </a:rPr>
                <a:t>eye</a:t>
              </a:r>
              <a:r>
                <a:rPr b="0" i="0" lang="en-US" sz="1400" u="none" cap="none" strike="noStrike">
                  <a:solidFill>
                    <a:srgbClr val="000000"/>
                  </a:solidFill>
                  <a:latin typeface="Arial"/>
                  <a:ea typeface="Arial"/>
                  <a:cs typeface="Arial"/>
                  <a:sym typeface="Arial"/>
                </a:rPr>
                <a:t>.”</a:t>
              </a:r>
              <a:r>
                <a:rPr b="0" i="0" lang="en-US" sz="1400" u="none" cap="none" strike="noStrike">
                  <a:solidFill>
                    <a:srgbClr val="979797"/>
                  </a:solidFill>
                  <a:latin typeface="Consolas"/>
                  <a:ea typeface="Consolas"/>
                  <a:cs typeface="Consolas"/>
                  <a:sym typeface="Consolas"/>
                </a:rPr>
                <a:t> </a:t>
              </a:r>
              <a:endParaRPr b="0" i="0" sz="1400" u="none" cap="none" strike="noStrike">
                <a:solidFill>
                  <a:srgbClr val="979797"/>
                </a:solidFill>
                <a:latin typeface="Consolas"/>
                <a:ea typeface="Consolas"/>
                <a:cs typeface="Consolas"/>
                <a:sym typeface="Consolas"/>
              </a:endParaRPr>
            </a:p>
          </p:txBody>
        </p:sp>
        <p:sp>
          <p:nvSpPr>
            <p:cNvPr id="71" name="Google Shape;71;p12"/>
            <p:cNvSpPr/>
            <p:nvPr/>
          </p:nvSpPr>
          <p:spPr>
            <a:xfrm>
              <a:off x="6416418" y="4356600"/>
              <a:ext cx="4937382" cy="927080"/>
            </a:xfrm>
            <a:prstGeom prst="roundRect">
              <a:avLst>
                <a:gd fmla="val 7838" name="adj"/>
              </a:avLst>
            </a:prstGeom>
            <a:solidFill>
              <a:srgbClr val="196B24">
                <a:alpha val="16863"/>
              </a:srgbClr>
            </a:solidFill>
            <a:ln>
              <a:noFill/>
            </a:ln>
          </p:spPr>
          <p:txBody>
            <a:bodyPr anchorCtr="0" anchor="ctr" bIns="91425" lIns="731500" spcFirstLastPara="1" rIns="91425" wrap="square" tIns="91425">
              <a:noAutofit/>
            </a:bodyPr>
            <a:lstStyle/>
            <a:p>
              <a:pPr indent="0" lvl="0" marL="0" marR="0" rtl="0" algn="l">
                <a:lnSpc>
                  <a:spcPct val="100000"/>
                </a:lnSpc>
                <a:spcBef>
                  <a:spcPts val="0"/>
                </a:spcBef>
                <a:spcAft>
                  <a:spcPts val="0"/>
                </a:spcAft>
                <a:buClr>
                  <a:srgbClr val="979797"/>
                </a:buClr>
                <a:buSzPts val="1200"/>
                <a:buFont typeface="Arial"/>
                <a:buNone/>
              </a:pPr>
              <a:r>
                <a:rPr b="0" i="0" lang="en-US" sz="1200" u="none" cap="none" strike="noStrike">
                  <a:solidFill>
                    <a:srgbClr val="979797"/>
                  </a:solidFill>
                  <a:latin typeface="Arial"/>
                  <a:ea typeface="Arial"/>
                  <a:cs typeface="Arial"/>
                  <a:sym typeface="Arial"/>
                </a:rPr>
                <a:t>T.V.F. Cuffe </a:t>
              </a:r>
              <a:endParaRPr b="0" i="0" sz="1200" u="none" cap="none" strike="noStrike">
                <a:solidFill>
                  <a:srgbClr val="979797"/>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“It is only with the heart that one can see</a:t>
              </a:r>
              <a:r>
                <a:rPr b="0" i="0" lang="en-US" sz="1600" u="none" cap="none" strike="noStrike">
                  <a:solidFill>
                    <a:srgbClr val="000000"/>
                  </a:solidFill>
                  <a:latin typeface="Arial"/>
                  <a:ea typeface="Arial"/>
                  <a:cs typeface="Arial"/>
                  <a:sym typeface="Arial"/>
                </a:rPr>
                <a:t> </a:t>
              </a:r>
              <a:r>
                <a:rPr b="1" i="0" lang="en-US" sz="1600" u="sng" cap="none" strike="noStrike">
                  <a:solidFill>
                    <a:srgbClr val="000000"/>
                  </a:solidFill>
                  <a:latin typeface="Arial"/>
                  <a:ea typeface="Arial"/>
                  <a:cs typeface="Arial"/>
                  <a:sym typeface="Arial"/>
                </a:rPr>
                <a:t>clearly</a:t>
              </a:r>
              <a:r>
                <a:rPr b="0" i="0" lang="en-US" sz="1400" u="none" cap="none" strike="noStrike">
                  <a:solidFill>
                    <a:srgbClr val="000000"/>
                  </a:solidFill>
                  <a:latin typeface="Arial"/>
                  <a:ea typeface="Arial"/>
                  <a:cs typeface="Arial"/>
                  <a:sym typeface="Arial"/>
                </a:rPr>
                <a:t>. </a:t>
              </a:r>
              <a:r>
                <a:rPr b="1" i="0" lang="en-US" sz="1600" u="sng" cap="none" strike="noStrike">
                  <a:solidFill>
                    <a:srgbClr val="000000"/>
                  </a:solidFill>
                  <a:latin typeface="Arial"/>
                  <a:ea typeface="Arial"/>
                  <a:cs typeface="Arial"/>
                  <a:sym typeface="Arial"/>
                </a:rPr>
                <a:t>What</a:t>
              </a:r>
              <a:r>
                <a:rPr b="0" i="0" lang="en-US" sz="1400" u="none" cap="none" strike="noStrike">
                  <a:solidFill>
                    <a:srgbClr val="000000"/>
                  </a:solidFill>
                  <a:latin typeface="Arial"/>
                  <a:ea typeface="Arial"/>
                  <a:cs typeface="Arial"/>
                  <a:sym typeface="Arial"/>
                </a:rPr>
                <a:t> is essential is invisible to the </a:t>
              </a:r>
              <a:r>
                <a:rPr b="1" i="0" lang="en-US" sz="1600" u="sng" cap="none" strike="noStrike">
                  <a:solidFill>
                    <a:srgbClr val="000000"/>
                  </a:solidFill>
                  <a:latin typeface="Arial"/>
                  <a:ea typeface="Arial"/>
                  <a:cs typeface="Arial"/>
                  <a:sym typeface="Arial"/>
                </a:rPr>
                <a:t>eye</a:t>
              </a:r>
              <a:r>
                <a:rPr b="0" i="0" lang="en-US" sz="1400" u="none" cap="none" strike="noStrike">
                  <a:solidFill>
                    <a:srgbClr val="000000"/>
                  </a:solidFill>
                  <a:latin typeface="Arial"/>
                  <a:ea typeface="Arial"/>
                  <a:cs typeface="Arial"/>
                  <a:sym typeface="Arial"/>
                </a:rPr>
                <a:t>.”</a:t>
              </a:r>
              <a:endParaRPr b="0" i="0" sz="1100" u="none" cap="none" strike="noStrike">
                <a:solidFill>
                  <a:srgbClr val="979797"/>
                </a:solidFill>
                <a:latin typeface="Consolas"/>
                <a:ea typeface="Consolas"/>
                <a:cs typeface="Consolas"/>
                <a:sym typeface="Consolas"/>
              </a:endParaRPr>
            </a:p>
          </p:txBody>
        </p:sp>
        <p:sp>
          <p:nvSpPr>
            <p:cNvPr id="72" name="Google Shape;72;p12"/>
            <p:cNvSpPr/>
            <p:nvPr/>
          </p:nvSpPr>
          <p:spPr>
            <a:xfrm>
              <a:off x="6416418" y="5392713"/>
              <a:ext cx="4937382" cy="952976"/>
            </a:xfrm>
            <a:prstGeom prst="roundRect">
              <a:avLst>
                <a:gd fmla="val 11328" name="adj"/>
              </a:avLst>
            </a:prstGeom>
            <a:solidFill>
              <a:srgbClr val="7030A0">
                <a:alpha val="18824"/>
              </a:srgbClr>
            </a:solidFill>
            <a:ln>
              <a:noFill/>
            </a:ln>
          </p:spPr>
          <p:txBody>
            <a:bodyPr anchorCtr="0" anchor="ctr" bIns="91425" lIns="731500" spcFirstLastPara="1" rIns="91425" wrap="square" tIns="91425">
              <a:noAutofit/>
            </a:bodyPr>
            <a:lstStyle/>
            <a:p>
              <a:pPr indent="0" lvl="0" marL="0" marR="0" rtl="0" algn="l">
                <a:lnSpc>
                  <a:spcPct val="100000"/>
                </a:lnSpc>
                <a:spcBef>
                  <a:spcPts val="0"/>
                </a:spcBef>
                <a:spcAft>
                  <a:spcPts val="0"/>
                </a:spcAft>
                <a:buClr>
                  <a:srgbClr val="979797"/>
                </a:buClr>
                <a:buSzPts val="1200"/>
                <a:buFont typeface="Arial"/>
                <a:buNone/>
              </a:pPr>
              <a:r>
                <a:rPr b="0" i="0" lang="en-US" sz="1200" u="none" cap="none" strike="noStrike">
                  <a:solidFill>
                    <a:srgbClr val="979797"/>
                  </a:solidFill>
                  <a:latin typeface="Arial"/>
                  <a:ea typeface="Arial"/>
                  <a:cs typeface="Arial"/>
                  <a:sym typeface="Arial"/>
                </a:rPr>
                <a:t>Richard Howard </a:t>
              </a:r>
              <a:endParaRPr b="0" i="0" sz="1200" u="none" cap="none" strike="noStrike">
                <a:solidFill>
                  <a:srgbClr val="979797"/>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“One sees </a:t>
              </a:r>
              <a:r>
                <a:rPr b="1" i="0" lang="en-US" sz="1600" u="sng" cap="none" strike="noStrike">
                  <a:solidFill>
                    <a:srgbClr val="000000"/>
                  </a:solidFill>
                  <a:latin typeface="Arial"/>
                  <a:ea typeface="Arial"/>
                  <a:cs typeface="Arial"/>
                  <a:sym typeface="Arial"/>
                </a:rPr>
                <a:t>clearly</a:t>
              </a:r>
              <a:r>
                <a:rPr b="0" i="0" lang="en-US" sz="1400" u="none" cap="none" strike="noStrike">
                  <a:solidFill>
                    <a:srgbClr val="000000"/>
                  </a:solidFill>
                  <a:latin typeface="Arial"/>
                  <a:ea typeface="Arial"/>
                  <a:cs typeface="Arial"/>
                  <a:sym typeface="Arial"/>
                </a:rPr>
                <a:t> only with the heart. </a:t>
              </a:r>
              <a:r>
                <a:rPr b="1" i="0" lang="en-US" sz="1600" u="sng" cap="none" strike="noStrike">
                  <a:solidFill>
                    <a:srgbClr val="000000"/>
                  </a:solidFill>
                  <a:latin typeface="Arial"/>
                  <a:ea typeface="Arial"/>
                  <a:cs typeface="Arial"/>
                  <a:sym typeface="Arial"/>
                </a:rPr>
                <a:t>Anything</a:t>
              </a:r>
              <a:r>
                <a:rPr b="0" i="0" lang="en-US" sz="1400" u="none" cap="none" strike="noStrike">
                  <a:solidFill>
                    <a:srgbClr val="000000"/>
                  </a:solidFill>
                  <a:latin typeface="Arial"/>
                  <a:ea typeface="Arial"/>
                  <a:cs typeface="Arial"/>
                  <a:sym typeface="Arial"/>
                </a:rPr>
                <a:t> essential is invisible to the </a:t>
              </a:r>
              <a:r>
                <a:rPr b="1" i="0" lang="en-US" sz="1600" u="sng" cap="none" strike="noStrike">
                  <a:solidFill>
                    <a:srgbClr val="000000"/>
                  </a:solidFill>
                  <a:latin typeface="Arial"/>
                  <a:ea typeface="Arial"/>
                  <a:cs typeface="Arial"/>
                  <a:sym typeface="Arial"/>
                </a:rPr>
                <a:t>eyes</a:t>
              </a:r>
              <a:r>
                <a:rPr b="0" i="0" lang="en-US" sz="1200" u="none" cap="none" strike="noStrike">
                  <a:solidFill>
                    <a:srgbClr val="000000"/>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a:t>
              </a:r>
              <a:endParaRPr/>
            </a:p>
          </p:txBody>
        </p:sp>
        <p:pic>
          <p:nvPicPr>
            <p:cNvPr descr="The Little Prince by Antoine de Saint-Exupery, Antoine de Saint-Exupery |  Shakespeare &amp; Company" id="73" name="Google Shape;73;p12"/>
            <p:cNvPicPr preferRelativeResize="0"/>
            <p:nvPr/>
          </p:nvPicPr>
          <p:blipFill rotWithShape="1">
            <a:blip r:embed="rId4">
              <a:alphaModFix/>
            </a:blip>
            <a:srcRect b="0" l="0" r="0" t="0"/>
            <a:stretch/>
          </p:blipFill>
          <p:spPr>
            <a:xfrm>
              <a:off x="6535780" y="3525341"/>
              <a:ext cx="469945" cy="659572"/>
            </a:xfrm>
            <a:prstGeom prst="roundRect">
              <a:avLst>
                <a:gd fmla="val 8594" name="adj"/>
              </a:avLst>
            </a:prstGeom>
            <a:solidFill>
              <a:srgbClr val="ECECEC"/>
            </a:solidFill>
            <a:ln>
              <a:noFill/>
            </a:ln>
          </p:spPr>
        </p:pic>
        <p:pic>
          <p:nvPicPr>
            <p:cNvPr descr="The Little Prince by Antoine de Saint-Exupéry, Theo Cuffe | Hatchards" id="74" name="Google Shape;74;p12"/>
            <p:cNvPicPr preferRelativeResize="0"/>
            <p:nvPr/>
          </p:nvPicPr>
          <p:blipFill rotWithShape="1">
            <a:blip r:embed="rId5">
              <a:alphaModFix/>
            </a:blip>
            <a:srcRect b="0" l="0" r="0" t="0"/>
            <a:stretch/>
          </p:blipFill>
          <p:spPr>
            <a:xfrm>
              <a:off x="6535780" y="4449720"/>
              <a:ext cx="488955" cy="740840"/>
            </a:xfrm>
            <a:prstGeom prst="roundRect">
              <a:avLst>
                <a:gd fmla="val 8594" name="adj"/>
              </a:avLst>
            </a:prstGeom>
            <a:solidFill>
              <a:srgbClr val="ECECEC"/>
            </a:solidFill>
            <a:ln>
              <a:noFill/>
            </a:ln>
          </p:spPr>
        </p:pic>
        <p:pic>
          <p:nvPicPr>
            <p:cNvPr descr="Le Petit Prince: French Edition: Saint-Exupéry, Antoine de: Amazon.com:  Books" id="75" name="Google Shape;75;p12"/>
            <p:cNvPicPr preferRelativeResize="0"/>
            <p:nvPr/>
          </p:nvPicPr>
          <p:blipFill rotWithShape="1">
            <a:blip r:embed="rId6">
              <a:alphaModFix/>
            </a:blip>
            <a:srcRect b="0" l="0" r="0" t="0"/>
            <a:stretch/>
          </p:blipFill>
          <p:spPr>
            <a:xfrm>
              <a:off x="6549487" y="5495927"/>
              <a:ext cx="494696" cy="745024"/>
            </a:xfrm>
            <a:prstGeom prst="roundRect">
              <a:avLst>
                <a:gd fmla="val 8594" name="adj"/>
              </a:avLst>
            </a:prstGeom>
            <a:solidFill>
              <a:srgbClr val="ECECEC"/>
            </a:solid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idx="12" type="sldNum"/>
          </p:nvPr>
        </p:nvSpPr>
        <p:spPr>
          <a:xfrm>
            <a:off x="11164902" y="6404292"/>
            <a:ext cx="188898"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grpSp>
        <p:nvGrpSpPr>
          <p:cNvPr id="81" name="Google Shape;81;p13"/>
          <p:cNvGrpSpPr/>
          <p:nvPr/>
        </p:nvGrpSpPr>
        <p:grpSpPr>
          <a:xfrm>
            <a:off x="838200" y="2288331"/>
            <a:ext cx="4842933" cy="2631260"/>
            <a:chOff x="838200" y="2288331"/>
            <a:chExt cx="4842933" cy="2631260"/>
          </a:xfrm>
        </p:grpSpPr>
        <p:sp>
          <p:nvSpPr>
            <p:cNvPr id="82" name="Google Shape;82;p13"/>
            <p:cNvSpPr/>
            <p:nvPr/>
          </p:nvSpPr>
          <p:spPr>
            <a:xfrm>
              <a:off x="838200" y="2288331"/>
              <a:ext cx="4842933" cy="1472684"/>
            </a:xfrm>
            <a:prstGeom prst="roundRect">
              <a:avLst>
                <a:gd fmla="val 5271" name="adj"/>
              </a:avLst>
            </a:prstGeom>
            <a:solidFill>
              <a:srgbClr val="FFD579">
                <a:alpha val="9804"/>
              </a:srgbClr>
            </a:solidFill>
            <a:ln cap="flat" cmpd="sng" w="9525">
              <a:solidFill>
                <a:schemeClr val="dk2"/>
              </a:solidFill>
              <a:prstDash val="solid"/>
              <a:miter lim="8000"/>
              <a:headEnd len="sm" w="sm" type="none"/>
              <a:tailEnd len="sm" w="sm" type="none"/>
            </a:ln>
          </p:spPr>
          <p:txBody>
            <a:bodyPr anchorCtr="0" anchor="ctr" bIns="182875" lIns="182875" spcFirstLastPara="1" rIns="182875" wrap="square" tIns="182875">
              <a:noAutofit/>
            </a:bodyPr>
            <a:lstStyle/>
            <a:p>
              <a:pPr indent="0" lvl="0" marL="0" marR="0" rtl="0" algn="l">
                <a:lnSpc>
                  <a:spcPct val="100000"/>
                </a:lnSpc>
                <a:spcBef>
                  <a:spcPts val="0"/>
                </a:spcBef>
                <a:spcAft>
                  <a:spcPts val="0"/>
                </a:spcAft>
                <a:buClr>
                  <a:srgbClr val="979797"/>
                </a:buClr>
                <a:buSzPts val="1200"/>
                <a:buFont typeface="Arial"/>
                <a:buNone/>
              </a:pPr>
              <a:r>
                <a:rPr b="0" i="0" lang="en-US" sz="1200" u="none" cap="none" strike="noStrike">
                  <a:solidFill>
                    <a:srgbClr val="979797"/>
                  </a:solidFill>
                  <a:latin typeface="Arial"/>
                  <a:ea typeface="Arial"/>
                  <a:cs typeface="Arial"/>
                  <a:sym typeface="Arial"/>
                </a:rPr>
                <a:t>PALINDROME.PY</a:t>
              </a:r>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Consolas"/>
                <a:buNone/>
              </a:pPr>
              <a:r>
                <a:rPr b="0" i="0" lang="en-US" sz="1600" u="none" cap="none" strike="noStrike">
                  <a:solidFill>
                    <a:srgbClr val="000000"/>
                  </a:solidFill>
                  <a:latin typeface="Consolas"/>
                  <a:ea typeface="Consolas"/>
                  <a:cs typeface="Consolas"/>
                  <a:sym typeface="Consolas"/>
                </a:rPr>
                <a:t>def is_palindrome(s):</a:t>
              </a:r>
              <a:endParaRPr/>
            </a:p>
            <a:p>
              <a:pPr indent="0" lvl="0" marL="0" marR="0" rtl="0" algn="l">
                <a:lnSpc>
                  <a:spcPct val="100000"/>
                </a:lnSpc>
                <a:spcBef>
                  <a:spcPts val="0"/>
                </a:spcBef>
                <a:spcAft>
                  <a:spcPts val="0"/>
                </a:spcAft>
                <a:buClr>
                  <a:srgbClr val="000000"/>
                </a:buClr>
                <a:buSzPts val="1600"/>
                <a:buFont typeface="Consolas"/>
                <a:buNone/>
              </a:pPr>
              <a:r>
                <a:rPr b="0" i="0" lang="en-US" sz="1600" u="none" cap="none" strike="noStrike">
                  <a:solidFill>
                    <a:srgbClr val="000000"/>
                  </a:solidFill>
                  <a:latin typeface="Consolas"/>
                  <a:ea typeface="Consolas"/>
                  <a:cs typeface="Consolas"/>
                  <a:sym typeface="Consolas"/>
                </a:rPr>
                <a:t>  s = s.lower()</a:t>
              </a:r>
              <a:endParaRPr/>
            </a:p>
            <a:p>
              <a:pPr indent="0" lvl="0" marL="0" marR="0" rtl="0" algn="l">
                <a:lnSpc>
                  <a:spcPct val="100000"/>
                </a:lnSpc>
                <a:spcBef>
                  <a:spcPts val="0"/>
                </a:spcBef>
                <a:spcAft>
                  <a:spcPts val="0"/>
                </a:spcAft>
                <a:buClr>
                  <a:srgbClr val="000000"/>
                </a:buClr>
                <a:buSzPts val="1600"/>
                <a:buFont typeface="Consolas"/>
                <a:buNone/>
              </a:pPr>
              <a:r>
                <a:rPr b="0" i="0" lang="en-US" sz="1600" u="none" cap="none" strike="noStrike">
                  <a:solidFill>
                    <a:srgbClr val="000000"/>
                  </a:solidFill>
                  <a:latin typeface="Consolas"/>
                  <a:ea typeface="Consolas"/>
                  <a:cs typeface="Consolas"/>
                  <a:sym typeface="Consolas"/>
                </a:rPr>
                <a:t>  return s == s[::-1] </a:t>
              </a:r>
              <a:endParaRPr/>
            </a:p>
          </p:txBody>
        </p:sp>
        <p:sp>
          <p:nvSpPr>
            <p:cNvPr id="83" name="Google Shape;83;p13"/>
            <p:cNvSpPr/>
            <p:nvPr/>
          </p:nvSpPr>
          <p:spPr>
            <a:xfrm>
              <a:off x="838200" y="3960177"/>
              <a:ext cx="4842932" cy="434935"/>
            </a:xfrm>
            <a:prstGeom prst="roundRect">
              <a:avLst>
                <a:gd fmla="val 14819" name="adj"/>
              </a:avLst>
            </a:prstGeom>
            <a:solidFill>
              <a:srgbClr val="D8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979797"/>
                </a:buClr>
                <a:buSzPts val="1400"/>
                <a:buFont typeface="Consolas"/>
                <a:buNone/>
              </a:pPr>
              <a:r>
                <a:rPr b="0" i="0" lang="en-US" sz="1400" u="none" cap="none" strike="noStrike">
                  <a:solidFill>
                    <a:srgbClr val="979797"/>
                  </a:solidFill>
                  <a:latin typeface="Consolas"/>
                  <a:ea typeface="Consolas"/>
                  <a:cs typeface="Consolas"/>
                  <a:sym typeface="Consolas"/>
                </a:rPr>
                <a:t>is_palindrome(</a:t>
              </a:r>
              <a:r>
                <a:rPr b="0" i="0" lang="en-US" sz="1400" u="none" cap="none" strike="noStrike">
                  <a:solidFill>
                    <a:schemeClr val="accent3"/>
                  </a:solidFill>
                  <a:latin typeface="Consolas"/>
                  <a:ea typeface="Consolas"/>
                  <a:cs typeface="Consolas"/>
                  <a:sym typeface="Consolas"/>
                </a:rPr>
                <a:t>“Stop pots”</a:t>
              </a:r>
              <a:r>
                <a:rPr b="0" i="0" lang="en-US" sz="1400" u="none" cap="none" strike="noStrike">
                  <a:solidFill>
                    <a:srgbClr val="979797"/>
                  </a:solidFill>
                  <a:latin typeface="Consolas"/>
                  <a:ea typeface="Consolas"/>
                  <a:cs typeface="Consolas"/>
                  <a:sym typeface="Consolas"/>
                </a:rPr>
                <a:t>)</a:t>
              </a:r>
              <a:r>
                <a:rPr b="0" i="0" lang="en-US" sz="1400" u="none" cap="none" strike="noStrike">
                  <a:solidFill>
                    <a:srgbClr val="000000"/>
                  </a:solidFill>
                  <a:latin typeface="Consolas"/>
                  <a:ea typeface="Consolas"/>
                  <a:cs typeface="Consolas"/>
                  <a:sym typeface="Consolas"/>
                </a:rPr>
                <a:t> == True        </a:t>
              </a:r>
              <a:r>
                <a:rPr b="0" i="0" lang="en-US" sz="1400" u="none" cap="none" strike="noStrike">
                  <a:solidFill>
                    <a:schemeClr val="accent3"/>
                  </a:solidFill>
                  <a:latin typeface="Consolas"/>
                  <a:ea typeface="Consolas"/>
                  <a:cs typeface="Consolas"/>
                  <a:sym typeface="Consolas"/>
                </a:rPr>
                <a:t>PASS</a:t>
              </a:r>
              <a:endParaRPr b="0" i="0" sz="1400" u="none" cap="none" strike="noStrike">
                <a:solidFill>
                  <a:schemeClr val="accent3"/>
                </a:solidFill>
                <a:latin typeface="Consolas"/>
                <a:ea typeface="Consolas"/>
                <a:cs typeface="Consolas"/>
                <a:sym typeface="Consolas"/>
              </a:endParaRPr>
            </a:p>
          </p:txBody>
        </p:sp>
        <p:sp>
          <p:nvSpPr>
            <p:cNvPr id="84" name="Google Shape;84;p13"/>
            <p:cNvSpPr/>
            <p:nvPr/>
          </p:nvSpPr>
          <p:spPr>
            <a:xfrm>
              <a:off x="838200" y="4484656"/>
              <a:ext cx="4842932" cy="434935"/>
            </a:xfrm>
            <a:prstGeom prst="roundRect">
              <a:avLst>
                <a:gd fmla="val 14819" name="adj"/>
              </a:avLst>
            </a:prstGeom>
            <a:solidFill>
              <a:srgbClr val="D8F2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979797"/>
                </a:buClr>
                <a:buSzPts val="1400"/>
                <a:buFont typeface="Consolas"/>
                <a:buNone/>
              </a:pPr>
              <a:r>
                <a:rPr b="0" i="0" lang="en-US" sz="1400" u="none" cap="none" strike="noStrike">
                  <a:solidFill>
                    <a:srgbClr val="979797"/>
                  </a:solidFill>
                  <a:latin typeface="Consolas"/>
                  <a:ea typeface="Consolas"/>
                  <a:cs typeface="Consolas"/>
                  <a:sym typeface="Consolas"/>
                </a:rPr>
                <a:t>is_palindrome(</a:t>
              </a:r>
              <a:r>
                <a:rPr b="0" i="0" lang="en-US" sz="1400" u="none" cap="none" strike="noStrike">
                  <a:solidFill>
                    <a:schemeClr val="accent3"/>
                  </a:solidFill>
                  <a:latin typeface="Consolas"/>
                  <a:ea typeface="Consolas"/>
                  <a:cs typeface="Consolas"/>
                  <a:sym typeface="Consolas"/>
                </a:rPr>
                <a:t>“hello”</a:t>
              </a:r>
              <a:r>
                <a:rPr b="0" i="0" lang="en-US" sz="1400" u="none" cap="none" strike="noStrike">
                  <a:solidFill>
                    <a:srgbClr val="979797"/>
                  </a:solidFill>
                  <a:latin typeface="Consolas"/>
                  <a:ea typeface="Consolas"/>
                  <a:cs typeface="Consolas"/>
                  <a:sym typeface="Consolas"/>
                </a:rPr>
                <a:t>)</a:t>
              </a:r>
              <a:r>
                <a:rPr b="0" i="0" lang="en-US" sz="1400" u="none" cap="none" strike="noStrike">
                  <a:solidFill>
                    <a:srgbClr val="000000"/>
                  </a:solidFill>
                  <a:latin typeface="Consolas"/>
                  <a:ea typeface="Consolas"/>
                  <a:cs typeface="Consolas"/>
                  <a:sym typeface="Consolas"/>
                </a:rPr>
                <a:t> == False           </a:t>
              </a:r>
              <a:r>
                <a:rPr b="0" i="0" lang="en-US" sz="1400" u="none" cap="none" strike="noStrike">
                  <a:solidFill>
                    <a:schemeClr val="accent3"/>
                  </a:solidFill>
                  <a:latin typeface="Consolas"/>
                  <a:ea typeface="Consolas"/>
                  <a:cs typeface="Consolas"/>
                  <a:sym typeface="Consolas"/>
                </a:rPr>
                <a:t>PASS</a:t>
              </a:r>
              <a:endParaRPr b="0" i="0" sz="1400" u="none" cap="none" strike="noStrike">
                <a:solidFill>
                  <a:schemeClr val="accent3"/>
                </a:solidFill>
                <a:latin typeface="Consolas"/>
                <a:ea typeface="Consolas"/>
                <a:cs typeface="Consolas"/>
                <a:sym typeface="Consolas"/>
              </a:endParaRPr>
            </a:p>
          </p:txBody>
        </p:sp>
      </p:grpSp>
      <p:sp>
        <p:nvSpPr>
          <p:cNvPr id="85" name="Google Shape;85;p13"/>
          <p:cNvSpPr txBox="1"/>
          <p:nvPr>
            <p:ph type="title"/>
          </p:nvPr>
        </p:nvSpPr>
        <p:spPr>
          <a:xfrm>
            <a:off x="838200" y="365125"/>
            <a:ext cx="10706879" cy="704265"/>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LLMs excel at tasks with clear answers</a:t>
            </a:r>
            <a:endParaRPr/>
          </a:p>
        </p:txBody>
      </p:sp>
      <p:sp>
        <p:nvSpPr>
          <p:cNvPr id="86" name="Google Shape;86;p13"/>
          <p:cNvSpPr txBox="1"/>
          <p:nvPr/>
        </p:nvSpPr>
        <p:spPr>
          <a:xfrm>
            <a:off x="838199" y="974596"/>
            <a:ext cx="10706879" cy="704264"/>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But many language tasks are open-ended</a:t>
            </a:r>
            <a:endParaRPr/>
          </a:p>
        </p:txBody>
      </p:sp>
      <p:grpSp>
        <p:nvGrpSpPr>
          <p:cNvPr id="87" name="Google Shape;87;p13"/>
          <p:cNvGrpSpPr/>
          <p:nvPr/>
        </p:nvGrpSpPr>
        <p:grpSpPr>
          <a:xfrm>
            <a:off x="6416418" y="3448360"/>
            <a:ext cx="4937382" cy="2897329"/>
            <a:chOff x="6416418" y="3448360"/>
            <a:chExt cx="4937382" cy="2897329"/>
          </a:xfrm>
        </p:grpSpPr>
        <p:sp>
          <p:nvSpPr>
            <p:cNvPr id="88" name="Google Shape;88;p13"/>
            <p:cNvSpPr/>
            <p:nvPr/>
          </p:nvSpPr>
          <p:spPr>
            <a:xfrm>
              <a:off x="6416418" y="3448360"/>
              <a:ext cx="4937382" cy="799207"/>
            </a:xfrm>
            <a:prstGeom prst="roundRect">
              <a:avLst>
                <a:gd fmla="val 7838" name="adj"/>
              </a:avLst>
            </a:prstGeom>
            <a:solidFill>
              <a:srgbClr val="FAE2D5"/>
            </a:solidFill>
            <a:ln>
              <a:noFill/>
            </a:ln>
          </p:spPr>
          <p:txBody>
            <a:bodyPr anchorCtr="0" anchor="ctr" bIns="45700" lIns="731500" spcFirstLastPara="1" rIns="91425" wrap="square" tIns="45700">
              <a:noAutofit/>
            </a:bodyPr>
            <a:lstStyle/>
            <a:p>
              <a:pPr indent="0" lvl="0" marL="0" marR="0" rtl="0" algn="l">
                <a:lnSpc>
                  <a:spcPct val="100000"/>
                </a:lnSpc>
                <a:spcBef>
                  <a:spcPts val="0"/>
                </a:spcBef>
                <a:spcAft>
                  <a:spcPts val="0"/>
                </a:spcAft>
                <a:buClr>
                  <a:srgbClr val="979797"/>
                </a:buClr>
                <a:buSzPts val="1200"/>
                <a:buFont typeface="Arial"/>
                <a:buNone/>
              </a:pPr>
              <a:r>
                <a:rPr b="0" i="0" lang="en-US" sz="1200" u="none" cap="none" strike="noStrike">
                  <a:solidFill>
                    <a:srgbClr val="979797"/>
                  </a:solidFill>
                  <a:latin typeface="Arial"/>
                  <a:ea typeface="Arial"/>
                  <a:cs typeface="Arial"/>
                  <a:sym typeface="Arial"/>
                </a:rPr>
                <a:t>Katherine Woods </a:t>
              </a:r>
              <a:endParaRPr b="0" i="0" sz="1200" u="none" cap="none" strike="noStrike">
                <a:solidFill>
                  <a:srgbClr val="979797"/>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“It is only with the heart that one can see </a:t>
              </a:r>
              <a:r>
                <a:rPr b="1" i="0" lang="en-US" sz="1600" u="sng" cap="none" strike="noStrike">
                  <a:solidFill>
                    <a:srgbClr val="000000"/>
                  </a:solidFill>
                  <a:latin typeface="Arial"/>
                  <a:ea typeface="Arial"/>
                  <a:cs typeface="Arial"/>
                  <a:sym typeface="Arial"/>
                </a:rPr>
                <a:t>rightly</a:t>
              </a:r>
              <a:r>
                <a:rPr b="0" i="0" lang="en-US" sz="1600" u="none" cap="none" strike="noStrike">
                  <a:solidFill>
                    <a:srgbClr val="000000"/>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 </a:t>
              </a:r>
              <a:r>
                <a:rPr b="1" i="0" lang="en-US" sz="1600" u="sng" cap="none" strike="noStrike">
                  <a:solidFill>
                    <a:srgbClr val="000000"/>
                  </a:solidFill>
                  <a:latin typeface="Arial"/>
                  <a:ea typeface="Arial"/>
                  <a:cs typeface="Arial"/>
                  <a:sym typeface="Arial"/>
                </a:rPr>
                <a:t>what</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is</a:t>
              </a:r>
              <a:r>
                <a:rPr b="0" i="0" lang="en-US" sz="1400" u="none" cap="none" strike="noStrike">
                  <a:solidFill>
                    <a:srgbClr val="000000"/>
                  </a:solidFill>
                  <a:latin typeface="Arial"/>
                  <a:ea typeface="Arial"/>
                  <a:cs typeface="Arial"/>
                  <a:sym typeface="Arial"/>
                </a:rPr>
                <a:t> essential is invisible to the </a:t>
              </a:r>
              <a:r>
                <a:rPr b="1" i="0" lang="en-US" sz="1600" u="sng" cap="none" strike="noStrike">
                  <a:solidFill>
                    <a:srgbClr val="000000"/>
                  </a:solidFill>
                  <a:latin typeface="Arial"/>
                  <a:ea typeface="Arial"/>
                  <a:cs typeface="Arial"/>
                  <a:sym typeface="Arial"/>
                </a:rPr>
                <a:t>eye</a:t>
              </a:r>
              <a:r>
                <a:rPr b="0" i="0" lang="en-US" sz="1400" u="none" cap="none" strike="noStrike">
                  <a:solidFill>
                    <a:srgbClr val="000000"/>
                  </a:solidFill>
                  <a:latin typeface="Arial"/>
                  <a:ea typeface="Arial"/>
                  <a:cs typeface="Arial"/>
                  <a:sym typeface="Arial"/>
                </a:rPr>
                <a:t>.”</a:t>
              </a:r>
              <a:r>
                <a:rPr b="0" i="0" lang="en-US" sz="1400" u="none" cap="none" strike="noStrike">
                  <a:solidFill>
                    <a:srgbClr val="979797"/>
                  </a:solidFill>
                  <a:latin typeface="Consolas"/>
                  <a:ea typeface="Consolas"/>
                  <a:cs typeface="Consolas"/>
                  <a:sym typeface="Consolas"/>
                </a:rPr>
                <a:t> </a:t>
              </a:r>
              <a:endParaRPr b="0" i="0" sz="1400" u="none" cap="none" strike="noStrike">
                <a:solidFill>
                  <a:srgbClr val="979797"/>
                </a:solidFill>
                <a:latin typeface="Consolas"/>
                <a:ea typeface="Consolas"/>
                <a:cs typeface="Consolas"/>
                <a:sym typeface="Consolas"/>
              </a:endParaRPr>
            </a:p>
          </p:txBody>
        </p:sp>
        <p:sp>
          <p:nvSpPr>
            <p:cNvPr id="89" name="Google Shape;89;p13"/>
            <p:cNvSpPr/>
            <p:nvPr/>
          </p:nvSpPr>
          <p:spPr>
            <a:xfrm>
              <a:off x="6416418" y="4356600"/>
              <a:ext cx="4937382" cy="927080"/>
            </a:xfrm>
            <a:prstGeom prst="roundRect">
              <a:avLst>
                <a:gd fmla="val 7838" name="adj"/>
              </a:avLst>
            </a:prstGeom>
            <a:solidFill>
              <a:srgbClr val="196B24">
                <a:alpha val="16863"/>
              </a:srgbClr>
            </a:solidFill>
            <a:ln>
              <a:noFill/>
            </a:ln>
          </p:spPr>
          <p:txBody>
            <a:bodyPr anchorCtr="0" anchor="ctr" bIns="91425" lIns="731500" spcFirstLastPara="1" rIns="91425" wrap="square" tIns="91425">
              <a:noAutofit/>
            </a:bodyPr>
            <a:lstStyle/>
            <a:p>
              <a:pPr indent="0" lvl="0" marL="0" marR="0" rtl="0" algn="l">
                <a:lnSpc>
                  <a:spcPct val="100000"/>
                </a:lnSpc>
                <a:spcBef>
                  <a:spcPts val="0"/>
                </a:spcBef>
                <a:spcAft>
                  <a:spcPts val="0"/>
                </a:spcAft>
                <a:buClr>
                  <a:srgbClr val="979797"/>
                </a:buClr>
                <a:buSzPts val="1200"/>
                <a:buFont typeface="Arial"/>
                <a:buNone/>
              </a:pPr>
              <a:r>
                <a:rPr b="0" i="0" lang="en-US" sz="1200" u="none" cap="none" strike="noStrike">
                  <a:solidFill>
                    <a:srgbClr val="979797"/>
                  </a:solidFill>
                  <a:latin typeface="Arial"/>
                  <a:ea typeface="Arial"/>
                  <a:cs typeface="Arial"/>
                  <a:sym typeface="Arial"/>
                </a:rPr>
                <a:t>T.V.F. Cuffe </a:t>
              </a:r>
              <a:endParaRPr b="0" i="0" sz="1200" u="none" cap="none" strike="noStrike">
                <a:solidFill>
                  <a:srgbClr val="979797"/>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“It is only with the heart that one can see</a:t>
              </a:r>
              <a:r>
                <a:rPr b="0" i="0" lang="en-US" sz="1600" u="none" cap="none" strike="noStrike">
                  <a:solidFill>
                    <a:srgbClr val="000000"/>
                  </a:solidFill>
                  <a:latin typeface="Arial"/>
                  <a:ea typeface="Arial"/>
                  <a:cs typeface="Arial"/>
                  <a:sym typeface="Arial"/>
                </a:rPr>
                <a:t> </a:t>
              </a:r>
              <a:r>
                <a:rPr b="1" i="0" lang="en-US" sz="1600" u="sng" cap="none" strike="noStrike">
                  <a:solidFill>
                    <a:srgbClr val="000000"/>
                  </a:solidFill>
                  <a:latin typeface="Arial"/>
                  <a:ea typeface="Arial"/>
                  <a:cs typeface="Arial"/>
                  <a:sym typeface="Arial"/>
                </a:rPr>
                <a:t>clearly</a:t>
              </a:r>
              <a:r>
                <a:rPr b="0" i="0" lang="en-US" sz="1400" u="none" cap="none" strike="noStrike">
                  <a:solidFill>
                    <a:srgbClr val="000000"/>
                  </a:solidFill>
                  <a:latin typeface="Arial"/>
                  <a:ea typeface="Arial"/>
                  <a:cs typeface="Arial"/>
                  <a:sym typeface="Arial"/>
                </a:rPr>
                <a:t>. </a:t>
              </a:r>
              <a:r>
                <a:rPr b="1" i="0" lang="en-US" sz="1600" u="sng" cap="none" strike="noStrike">
                  <a:solidFill>
                    <a:srgbClr val="000000"/>
                  </a:solidFill>
                  <a:latin typeface="Arial"/>
                  <a:ea typeface="Arial"/>
                  <a:cs typeface="Arial"/>
                  <a:sym typeface="Arial"/>
                </a:rPr>
                <a:t>What</a:t>
              </a:r>
              <a:r>
                <a:rPr b="0" i="0" lang="en-US" sz="1400" u="none" cap="none" strike="noStrike">
                  <a:solidFill>
                    <a:srgbClr val="000000"/>
                  </a:solidFill>
                  <a:latin typeface="Arial"/>
                  <a:ea typeface="Arial"/>
                  <a:cs typeface="Arial"/>
                  <a:sym typeface="Arial"/>
                </a:rPr>
                <a:t> is essential is invisible to the </a:t>
              </a:r>
              <a:r>
                <a:rPr b="1" i="0" lang="en-US" sz="1600" u="sng" cap="none" strike="noStrike">
                  <a:solidFill>
                    <a:srgbClr val="000000"/>
                  </a:solidFill>
                  <a:latin typeface="Arial"/>
                  <a:ea typeface="Arial"/>
                  <a:cs typeface="Arial"/>
                  <a:sym typeface="Arial"/>
                </a:rPr>
                <a:t>eye</a:t>
              </a:r>
              <a:r>
                <a:rPr b="0" i="0" lang="en-US" sz="1400" u="none" cap="none" strike="noStrike">
                  <a:solidFill>
                    <a:srgbClr val="000000"/>
                  </a:solidFill>
                  <a:latin typeface="Arial"/>
                  <a:ea typeface="Arial"/>
                  <a:cs typeface="Arial"/>
                  <a:sym typeface="Arial"/>
                </a:rPr>
                <a:t>.”</a:t>
              </a:r>
              <a:endParaRPr b="0" i="0" sz="1100" u="none" cap="none" strike="noStrike">
                <a:solidFill>
                  <a:srgbClr val="979797"/>
                </a:solidFill>
                <a:latin typeface="Consolas"/>
                <a:ea typeface="Consolas"/>
                <a:cs typeface="Consolas"/>
                <a:sym typeface="Consolas"/>
              </a:endParaRPr>
            </a:p>
          </p:txBody>
        </p:sp>
        <p:sp>
          <p:nvSpPr>
            <p:cNvPr id="90" name="Google Shape;90;p13"/>
            <p:cNvSpPr/>
            <p:nvPr/>
          </p:nvSpPr>
          <p:spPr>
            <a:xfrm>
              <a:off x="6416418" y="5392713"/>
              <a:ext cx="4937382" cy="952976"/>
            </a:xfrm>
            <a:prstGeom prst="roundRect">
              <a:avLst>
                <a:gd fmla="val 11328" name="adj"/>
              </a:avLst>
            </a:prstGeom>
            <a:solidFill>
              <a:srgbClr val="7030A0">
                <a:alpha val="18824"/>
              </a:srgbClr>
            </a:solidFill>
            <a:ln>
              <a:noFill/>
            </a:ln>
          </p:spPr>
          <p:txBody>
            <a:bodyPr anchorCtr="0" anchor="ctr" bIns="91425" lIns="731500" spcFirstLastPara="1" rIns="91425" wrap="square" tIns="91425">
              <a:noAutofit/>
            </a:bodyPr>
            <a:lstStyle/>
            <a:p>
              <a:pPr indent="0" lvl="0" marL="0" marR="0" rtl="0" algn="l">
                <a:lnSpc>
                  <a:spcPct val="100000"/>
                </a:lnSpc>
                <a:spcBef>
                  <a:spcPts val="0"/>
                </a:spcBef>
                <a:spcAft>
                  <a:spcPts val="0"/>
                </a:spcAft>
                <a:buClr>
                  <a:srgbClr val="979797"/>
                </a:buClr>
                <a:buSzPts val="1200"/>
                <a:buFont typeface="Arial"/>
                <a:buNone/>
              </a:pPr>
              <a:r>
                <a:rPr b="0" i="0" lang="en-US" sz="1200" u="none" cap="none" strike="noStrike">
                  <a:solidFill>
                    <a:srgbClr val="979797"/>
                  </a:solidFill>
                  <a:latin typeface="Arial"/>
                  <a:ea typeface="Arial"/>
                  <a:cs typeface="Arial"/>
                  <a:sym typeface="Arial"/>
                </a:rPr>
                <a:t>Richard Howard </a:t>
              </a:r>
              <a:endParaRPr b="0" i="0" sz="1200" u="none" cap="none" strike="noStrike">
                <a:solidFill>
                  <a:srgbClr val="979797"/>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“One sees </a:t>
              </a:r>
              <a:r>
                <a:rPr b="1" i="0" lang="en-US" sz="1600" u="sng" cap="none" strike="noStrike">
                  <a:solidFill>
                    <a:srgbClr val="000000"/>
                  </a:solidFill>
                  <a:latin typeface="Arial"/>
                  <a:ea typeface="Arial"/>
                  <a:cs typeface="Arial"/>
                  <a:sym typeface="Arial"/>
                </a:rPr>
                <a:t>clearly</a:t>
              </a:r>
              <a:r>
                <a:rPr b="0" i="0" lang="en-US" sz="1400" u="none" cap="none" strike="noStrike">
                  <a:solidFill>
                    <a:srgbClr val="000000"/>
                  </a:solidFill>
                  <a:latin typeface="Arial"/>
                  <a:ea typeface="Arial"/>
                  <a:cs typeface="Arial"/>
                  <a:sym typeface="Arial"/>
                </a:rPr>
                <a:t> only with the heart. </a:t>
              </a:r>
              <a:r>
                <a:rPr b="1" i="0" lang="en-US" sz="1600" u="sng" cap="none" strike="noStrike">
                  <a:solidFill>
                    <a:srgbClr val="000000"/>
                  </a:solidFill>
                  <a:latin typeface="Arial"/>
                  <a:ea typeface="Arial"/>
                  <a:cs typeface="Arial"/>
                  <a:sym typeface="Arial"/>
                </a:rPr>
                <a:t>Anything</a:t>
              </a:r>
              <a:r>
                <a:rPr b="0" i="0" lang="en-US" sz="1400" u="none" cap="none" strike="noStrike">
                  <a:solidFill>
                    <a:srgbClr val="000000"/>
                  </a:solidFill>
                  <a:latin typeface="Arial"/>
                  <a:ea typeface="Arial"/>
                  <a:cs typeface="Arial"/>
                  <a:sym typeface="Arial"/>
                </a:rPr>
                <a:t> essential is invisible to the </a:t>
              </a:r>
              <a:r>
                <a:rPr b="1" i="0" lang="en-US" sz="1600" u="sng" cap="none" strike="noStrike">
                  <a:solidFill>
                    <a:srgbClr val="000000"/>
                  </a:solidFill>
                  <a:latin typeface="Arial"/>
                  <a:ea typeface="Arial"/>
                  <a:cs typeface="Arial"/>
                  <a:sym typeface="Arial"/>
                </a:rPr>
                <a:t>eyes</a:t>
              </a:r>
              <a:r>
                <a:rPr b="0" i="0" lang="en-US" sz="1200" u="none" cap="none" strike="noStrike">
                  <a:solidFill>
                    <a:srgbClr val="000000"/>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a:t>
              </a:r>
              <a:endParaRPr/>
            </a:p>
          </p:txBody>
        </p:sp>
        <p:pic>
          <p:nvPicPr>
            <p:cNvPr descr="The Little Prince by Antoine de Saint-Exupery, Antoine de Saint-Exupery |  Shakespeare &amp; Company" id="91" name="Google Shape;91;p13"/>
            <p:cNvPicPr preferRelativeResize="0"/>
            <p:nvPr/>
          </p:nvPicPr>
          <p:blipFill rotWithShape="1">
            <a:blip r:embed="rId3">
              <a:alphaModFix/>
            </a:blip>
            <a:srcRect b="0" l="0" r="0" t="0"/>
            <a:stretch/>
          </p:blipFill>
          <p:spPr>
            <a:xfrm>
              <a:off x="6535780" y="3525341"/>
              <a:ext cx="469945" cy="659572"/>
            </a:xfrm>
            <a:prstGeom prst="roundRect">
              <a:avLst>
                <a:gd fmla="val 8594" name="adj"/>
              </a:avLst>
            </a:prstGeom>
            <a:solidFill>
              <a:srgbClr val="ECECEC"/>
            </a:solidFill>
            <a:ln>
              <a:noFill/>
            </a:ln>
          </p:spPr>
        </p:pic>
        <p:pic>
          <p:nvPicPr>
            <p:cNvPr descr="The Little Prince by Antoine de Saint-Exupéry, Theo Cuffe | Hatchards" id="92" name="Google Shape;92;p13"/>
            <p:cNvPicPr preferRelativeResize="0"/>
            <p:nvPr/>
          </p:nvPicPr>
          <p:blipFill rotWithShape="1">
            <a:blip r:embed="rId4">
              <a:alphaModFix/>
            </a:blip>
            <a:srcRect b="0" l="0" r="0" t="0"/>
            <a:stretch/>
          </p:blipFill>
          <p:spPr>
            <a:xfrm>
              <a:off x="6535780" y="4449720"/>
              <a:ext cx="488955" cy="740840"/>
            </a:xfrm>
            <a:prstGeom prst="roundRect">
              <a:avLst>
                <a:gd fmla="val 8594" name="adj"/>
              </a:avLst>
            </a:prstGeom>
            <a:solidFill>
              <a:srgbClr val="ECECEC"/>
            </a:solidFill>
            <a:ln>
              <a:noFill/>
            </a:ln>
          </p:spPr>
        </p:pic>
        <p:pic>
          <p:nvPicPr>
            <p:cNvPr descr="Le Petit Prince: French Edition: Saint-Exupéry, Antoine de: Amazon.com:  Books" id="93" name="Google Shape;93;p13"/>
            <p:cNvPicPr preferRelativeResize="0"/>
            <p:nvPr/>
          </p:nvPicPr>
          <p:blipFill rotWithShape="1">
            <a:blip r:embed="rId5">
              <a:alphaModFix/>
            </a:blip>
            <a:srcRect b="0" l="0" r="0" t="0"/>
            <a:stretch/>
          </p:blipFill>
          <p:spPr>
            <a:xfrm>
              <a:off x="6549487" y="5495927"/>
              <a:ext cx="494696" cy="745024"/>
            </a:xfrm>
            <a:prstGeom prst="roundRect">
              <a:avLst>
                <a:gd fmla="val 8594" name="adj"/>
              </a:avLst>
            </a:prstGeom>
            <a:solidFill>
              <a:srgbClr val="ECECEC"/>
            </a:solidFill>
            <a:ln>
              <a:noFill/>
            </a:ln>
          </p:spPr>
        </p:pic>
      </p:grpSp>
      <p:grpSp>
        <p:nvGrpSpPr>
          <p:cNvPr id="94" name="Google Shape;94;p13"/>
          <p:cNvGrpSpPr/>
          <p:nvPr/>
        </p:nvGrpSpPr>
        <p:grpSpPr>
          <a:xfrm>
            <a:off x="6416418" y="2288331"/>
            <a:ext cx="4937382" cy="981789"/>
            <a:chOff x="6416418" y="2288331"/>
            <a:chExt cx="4937382" cy="981789"/>
          </a:xfrm>
        </p:grpSpPr>
        <p:sp>
          <p:nvSpPr>
            <p:cNvPr id="95" name="Google Shape;95;p13"/>
            <p:cNvSpPr/>
            <p:nvPr/>
          </p:nvSpPr>
          <p:spPr>
            <a:xfrm>
              <a:off x="6416418" y="2288331"/>
              <a:ext cx="4937382" cy="981789"/>
            </a:xfrm>
            <a:prstGeom prst="roundRect">
              <a:avLst>
                <a:gd fmla="val 5271" name="adj"/>
              </a:avLst>
            </a:prstGeom>
            <a:solidFill>
              <a:srgbClr val="FFD579">
                <a:alpha val="9804"/>
              </a:srgbClr>
            </a:solidFill>
            <a:ln cap="flat" cmpd="sng" w="9525">
              <a:solidFill>
                <a:schemeClr val="dk2"/>
              </a:solidFill>
              <a:prstDash val="solid"/>
              <a:miter lim="8000"/>
              <a:headEnd len="sm" w="sm" type="none"/>
              <a:tailEnd len="sm" w="sm" type="none"/>
            </a:ln>
          </p:spPr>
          <p:txBody>
            <a:bodyPr anchorCtr="0" anchor="ctr" bIns="91425" lIns="822950" spcFirstLastPara="1" rIns="182875" wrap="square" tIns="91425">
              <a:noAutofit/>
            </a:bodyPr>
            <a:lstStyle/>
            <a:p>
              <a:pPr indent="0" lvl="0" marL="0" marR="0" rtl="0" algn="l">
                <a:lnSpc>
                  <a:spcPct val="100000"/>
                </a:lnSpc>
                <a:spcBef>
                  <a:spcPts val="0"/>
                </a:spcBef>
                <a:spcAft>
                  <a:spcPts val="0"/>
                </a:spcAft>
                <a:buClr>
                  <a:srgbClr val="979797"/>
                </a:buClr>
                <a:buSzPts val="1200"/>
                <a:buFont typeface="Arial"/>
                <a:buNone/>
              </a:pPr>
              <a:r>
                <a:rPr b="0" i="0" lang="en-US" sz="1200" u="none" cap="none" strike="noStrike">
                  <a:solidFill>
                    <a:srgbClr val="979797"/>
                  </a:solidFill>
                  <a:latin typeface="Arial"/>
                  <a:ea typeface="Arial"/>
                  <a:cs typeface="Arial"/>
                  <a:sym typeface="Arial"/>
                </a:rPr>
                <a:t>Saint-Exupéry · </a:t>
              </a:r>
              <a:r>
                <a:rPr b="0" i="1" lang="en-US" sz="1200" u="none" cap="none" strike="noStrike">
                  <a:solidFill>
                    <a:srgbClr val="979797"/>
                  </a:solidFill>
                  <a:latin typeface="Arial"/>
                  <a:ea typeface="Arial"/>
                  <a:cs typeface="Arial"/>
                  <a:sym typeface="Arial"/>
                </a:rPr>
                <a:t>Le Petit Prince</a:t>
              </a:r>
              <a:r>
                <a:rPr b="0" i="0" lang="en-US" sz="1200" u="none" cap="none" strike="noStrike">
                  <a:solidFill>
                    <a:srgbClr val="979797"/>
                  </a:solidFill>
                  <a:latin typeface="Arial"/>
                  <a:ea typeface="Arial"/>
                  <a:cs typeface="Arial"/>
                  <a:sym typeface="Arial"/>
                </a:rPr>
                <a:t> · 1943</a:t>
              </a:r>
              <a:endParaRPr b="0" i="0" sz="1200" u="none" cap="none" strike="noStrike">
                <a:solidFill>
                  <a:srgbClr val="7D7D7D"/>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On ne voit bien qu’avec le cœur. L’essentiel est invisible pour les yeux. »</a:t>
              </a:r>
              <a:endParaRPr b="0" i="0" sz="1400" u="none" cap="none" strike="noStrike">
                <a:solidFill>
                  <a:srgbClr val="7D7D7D"/>
                </a:solidFill>
                <a:latin typeface="Arial"/>
                <a:ea typeface="Arial"/>
                <a:cs typeface="Arial"/>
                <a:sym typeface="Arial"/>
              </a:endParaRPr>
            </a:p>
          </p:txBody>
        </p:sp>
        <p:pic>
          <p:nvPicPr>
            <p:cNvPr descr="The Little Prince Le Petit Prince Antoine De Saint-Exupery Early Printing" id="96" name="Google Shape;96;p13"/>
            <p:cNvPicPr preferRelativeResize="0"/>
            <p:nvPr/>
          </p:nvPicPr>
          <p:blipFill rotWithShape="1">
            <a:blip r:embed="rId6">
              <a:alphaModFix/>
            </a:blip>
            <a:srcRect b="5000" l="24000" r="23733" t="5581"/>
            <a:stretch/>
          </p:blipFill>
          <p:spPr>
            <a:xfrm>
              <a:off x="6502426" y="2373936"/>
              <a:ext cx="585303" cy="801064"/>
            </a:xfrm>
            <a:prstGeom prst="roundRect">
              <a:avLst>
                <a:gd fmla="val 8594" name="adj"/>
              </a:avLst>
            </a:prstGeom>
            <a:solidFill>
              <a:srgbClr val="ECECEC"/>
            </a:solidFill>
            <a:ln>
              <a:noFill/>
            </a:ln>
            <a:effectLst>
              <a:reflection blurRad="0" dir="5400000" dist="5000" endA="0" endPos="0" kx="0" rotWithShape="0" algn="bl" stPos="0" sy="-100000" ky="0"/>
            </a:effectLst>
          </p:spPr>
        </p:pic>
      </p:grpSp>
      <p:sp>
        <p:nvSpPr>
          <p:cNvPr id="97" name="Google Shape;97;p13"/>
          <p:cNvSpPr/>
          <p:nvPr/>
        </p:nvSpPr>
        <p:spPr>
          <a:xfrm>
            <a:off x="980818" y="5478157"/>
            <a:ext cx="4937382" cy="427196"/>
          </a:xfrm>
          <a:prstGeom prst="roundRect">
            <a:avLst>
              <a:gd fmla="val 11328" name="adj"/>
            </a:avLst>
          </a:prstGeom>
          <a:solidFill>
            <a:srgbClr val="7030A0">
              <a:alpha val="18824"/>
            </a:srgbClr>
          </a:solidFill>
          <a:ln>
            <a:noFill/>
          </a:ln>
        </p:spPr>
        <p:txBody>
          <a:bodyPr anchorCtr="0" anchor="ctr" bIns="91425" lIns="73150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200"/>
              <a:buFont typeface="Play"/>
              <a:buNone/>
            </a:pPr>
            <a:r>
              <a:rPr lang="en-US" sz="4200"/>
              <a:t>Work Overview</a:t>
            </a:r>
            <a:endParaRPr/>
          </a:p>
        </p:txBody>
      </p:sp>
      <p:sp>
        <p:nvSpPr>
          <p:cNvPr id="103" name="Google Shape;103;p14"/>
          <p:cNvSpPr txBox="1"/>
          <p:nvPr>
            <p:ph idx="1" type="body"/>
          </p:nvPr>
        </p:nvSpPr>
        <p:spPr>
          <a:xfrm>
            <a:off x="838200" y="1690688"/>
            <a:ext cx="10515600" cy="4578667"/>
          </a:xfrm>
          <a:prstGeom prst="rect">
            <a:avLst/>
          </a:prstGeom>
          <a:noFill/>
          <a:ln>
            <a:noFill/>
          </a:ln>
        </p:spPr>
        <p:txBody>
          <a:bodyPr anchorCtr="0" anchor="t" bIns="45700" lIns="45700" spcFirstLastPara="1" rIns="45700" wrap="square" tIns="45700">
            <a:normAutofit fontScale="92500" lnSpcReduction="10000"/>
          </a:bodyPr>
          <a:lstStyle/>
          <a:p>
            <a:pPr indent="-228600" lvl="0" marL="228600" marR="0" rtl="0" algn="l">
              <a:lnSpc>
                <a:spcPct val="114000"/>
              </a:lnSpc>
              <a:spcBef>
                <a:spcPts val="0"/>
              </a:spcBef>
              <a:spcAft>
                <a:spcPts val="0"/>
              </a:spcAft>
              <a:buClr>
                <a:srgbClr val="CACACA"/>
              </a:buClr>
              <a:buSzPct val="100000"/>
              <a:buFont typeface="NTR"/>
              <a:buChar char="-"/>
            </a:pPr>
            <a:r>
              <a:rPr lang="en-US">
                <a:solidFill>
                  <a:srgbClr val="CACACA"/>
                </a:solidFill>
              </a:rPr>
              <a:t>Language of Bargaining </a:t>
            </a:r>
            <a:r>
              <a:rPr b="0" i="0" lang="en-US" sz="1800" u="none" cap="none" strike="noStrike">
                <a:solidFill>
                  <a:srgbClr val="CACACA"/>
                </a:solidFill>
                <a:latin typeface="Arial"/>
                <a:ea typeface="Arial"/>
                <a:cs typeface="Arial"/>
                <a:sym typeface="Arial"/>
              </a:rPr>
              <a:t>[</a:t>
            </a:r>
            <a:r>
              <a:rPr b="1" i="0" lang="en-US" sz="1800" u="none" cap="none" strike="noStrike">
                <a:solidFill>
                  <a:srgbClr val="CACACA"/>
                </a:solidFill>
                <a:latin typeface="Arial"/>
                <a:ea typeface="Arial"/>
                <a:cs typeface="Arial"/>
                <a:sym typeface="Arial"/>
              </a:rPr>
              <a:t>M. Heddaya</a:t>
            </a:r>
            <a:r>
              <a:rPr b="0" i="0" lang="en-US" sz="1800" u="none" cap="none" strike="noStrike">
                <a:solidFill>
                  <a:srgbClr val="CACACA"/>
                </a:solidFill>
                <a:latin typeface="Arial"/>
                <a:ea typeface="Arial"/>
                <a:cs typeface="Arial"/>
                <a:sym typeface="Arial"/>
              </a:rPr>
              <a:t>, Dworkin, Tan, Voigt, Zeng, Zentefis, 2023]</a:t>
            </a:r>
            <a:endParaRPr>
              <a:solidFill>
                <a:srgbClr val="CACACA"/>
              </a:solidFill>
            </a:endParaRPr>
          </a:p>
          <a:p>
            <a:pPr indent="-228600" lvl="0" marL="228600" marR="0" rtl="0" algn="l">
              <a:lnSpc>
                <a:spcPct val="114000"/>
              </a:lnSpc>
              <a:spcBef>
                <a:spcPts val="1000"/>
              </a:spcBef>
              <a:spcAft>
                <a:spcPts val="0"/>
              </a:spcAft>
              <a:buClr>
                <a:srgbClr val="000000"/>
              </a:buClr>
              <a:buSzPct val="155556"/>
              <a:buFont typeface="NTR"/>
              <a:buChar char="-"/>
            </a:pPr>
            <a:r>
              <a:rPr b="1" lang="en-US"/>
              <a:t>Causal Micro-Narratives  </a:t>
            </a:r>
            <a:r>
              <a:rPr b="0" i="0" lang="en-US" sz="1800" u="none" cap="none" strike="noStrike">
                <a:solidFill>
                  <a:srgbClr val="000000"/>
                </a:solidFill>
                <a:latin typeface="Arial"/>
                <a:ea typeface="Arial"/>
                <a:cs typeface="Arial"/>
                <a:sym typeface="Arial"/>
              </a:rPr>
              <a:t>[</a:t>
            </a:r>
            <a:r>
              <a:rPr b="1" i="0" lang="en-US" sz="1800" u="none" cap="none" strike="noStrike">
                <a:solidFill>
                  <a:srgbClr val="000000"/>
                </a:solidFill>
                <a:latin typeface="Arial"/>
                <a:ea typeface="Arial"/>
                <a:cs typeface="Arial"/>
                <a:sym typeface="Arial"/>
              </a:rPr>
              <a:t>M. Heddaya</a:t>
            </a:r>
            <a:r>
              <a:rPr b="0" i="0" lang="en-US" sz="1800" u="none" cap="none" strike="noStrike">
                <a:solidFill>
                  <a:srgbClr val="000000"/>
                </a:solidFill>
                <a:latin typeface="Arial"/>
                <a:ea typeface="Arial"/>
                <a:cs typeface="Arial"/>
                <a:sym typeface="Arial"/>
              </a:rPr>
              <a:t>, Zeng, Tan, Voigt, Zentefis, 2024]</a:t>
            </a:r>
            <a:endParaRPr i="0" sz="1800" u="none" cap="none" strike="noStrike">
              <a:solidFill>
                <a:srgbClr val="000000"/>
              </a:solidFill>
              <a:latin typeface="Arial"/>
              <a:ea typeface="Arial"/>
              <a:cs typeface="Arial"/>
              <a:sym typeface="Arial"/>
            </a:endParaRPr>
          </a:p>
          <a:p>
            <a:pPr indent="-266700" lvl="1" marL="723900" rtl="0" algn="l">
              <a:lnSpc>
                <a:spcPct val="114000"/>
              </a:lnSpc>
              <a:spcBef>
                <a:spcPts val="1000"/>
              </a:spcBef>
              <a:spcAft>
                <a:spcPts val="0"/>
              </a:spcAft>
              <a:buClr>
                <a:srgbClr val="000000"/>
              </a:buClr>
              <a:buSzPct val="100000"/>
              <a:buFont typeface="NTR"/>
              <a:buChar char="-"/>
            </a:pPr>
            <a:r>
              <a:rPr b="1" lang="en-US"/>
              <a:t>A Century of Inflation Narratives</a:t>
            </a:r>
            <a:r>
              <a:rPr lang="en-US"/>
              <a:t> </a:t>
            </a:r>
            <a:r>
              <a:rPr lang="en-US" sz="1800"/>
              <a:t>[</a:t>
            </a:r>
            <a:r>
              <a:rPr b="1" lang="en-US" sz="1800"/>
              <a:t>M. Heddaya</a:t>
            </a:r>
            <a:r>
              <a:rPr lang="en-US" sz="1800"/>
              <a:t>, Zeng, Tan, Voigt, Zentefis, 2025]</a:t>
            </a:r>
            <a:endParaRPr/>
          </a:p>
          <a:p>
            <a:pPr indent="-228600" lvl="0" marL="228600" rtl="0" algn="l">
              <a:lnSpc>
                <a:spcPct val="114000"/>
              </a:lnSpc>
              <a:spcBef>
                <a:spcPts val="1000"/>
              </a:spcBef>
              <a:spcAft>
                <a:spcPts val="0"/>
              </a:spcAft>
              <a:buClr>
                <a:srgbClr val="000000"/>
              </a:buClr>
              <a:buSzPct val="100000"/>
              <a:buFont typeface="NTR"/>
              <a:buChar char="-"/>
            </a:pPr>
            <a:r>
              <a:rPr b="1" lang="en-US" cap="small"/>
              <a:t>CaseSumm</a:t>
            </a:r>
            <a:r>
              <a:rPr b="1" lang="en-US"/>
              <a:t>: A Large-Scale Dataset for Long-Context Summarization from Supreme Court Opinions </a:t>
            </a:r>
            <a:r>
              <a:rPr lang="en-US" sz="1800"/>
              <a:t>[</a:t>
            </a:r>
            <a:r>
              <a:rPr b="1" lang="en-US" sz="1800"/>
              <a:t>M. Heddaya</a:t>
            </a:r>
            <a:r>
              <a:rPr lang="en-US" sz="1800"/>
              <a:t>, MacMillan, Malani, Mei, Tan, 2025]</a:t>
            </a:r>
            <a:endParaRPr/>
          </a:p>
          <a:p>
            <a:pPr indent="-228600" lvl="0" marL="228600" rtl="0" algn="l">
              <a:lnSpc>
                <a:spcPct val="114000"/>
              </a:lnSpc>
              <a:spcBef>
                <a:spcPts val="1000"/>
              </a:spcBef>
              <a:spcAft>
                <a:spcPts val="0"/>
              </a:spcAft>
              <a:buClr>
                <a:srgbClr val="CACACA"/>
              </a:buClr>
              <a:buSzPct val="100000"/>
              <a:buFont typeface="NTR"/>
              <a:buChar char="-"/>
            </a:pPr>
            <a:r>
              <a:rPr lang="en-US">
                <a:solidFill>
                  <a:srgbClr val="CACACA"/>
                </a:solidFill>
              </a:rPr>
              <a:t>When Internalization Fails: Finding Better Targets for Reasoning Compression </a:t>
            </a:r>
            <a:r>
              <a:rPr lang="en-US" sz="1800">
                <a:solidFill>
                  <a:srgbClr val="CACACA"/>
                </a:solidFill>
              </a:rPr>
              <a:t>[</a:t>
            </a:r>
            <a:r>
              <a:rPr b="1" lang="en-US" sz="1800">
                <a:solidFill>
                  <a:srgbClr val="CACACA"/>
                </a:solidFill>
              </a:rPr>
              <a:t>Mourad Heddaya</a:t>
            </a:r>
            <a:r>
              <a:rPr lang="en-US" sz="1800">
                <a:solidFill>
                  <a:srgbClr val="CACACA"/>
                </a:solidFill>
              </a:rPr>
              <a:t>, Roberts, Wadhawan, Tan, 2026]</a:t>
            </a:r>
            <a:endParaRPr/>
          </a:p>
          <a:p>
            <a:pPr indent="-228600" lvl="0" marL="228600" rtl="0" algn="l">
              <a:lnSpc>
                <a:spcPct val="114000"/>
              </a:lnSpc>
              <a:spcBef>
                <a:spcPts val="1000"/>
              </a:spcBef>
              <a:spcAft>
                <a:spcPts val="0"/>
              </a:spcAft>
              <a:buClr>
                <a:srgbClr val="000000"/>
              </a:buClr>
              <a:buSzPct val="100000"/>
              <a:buFont typeface="NTR"/>
              <a:buChar char="-"/>
            </a:pPr>
            <a:r>
              <a:rPr b="1" lang="en-US"/>
              <a:t>CivicChats: Shaping the Future of Civic Discourse</a:t>
            </a:r>
            <a:r>
              <a:rPr lang="en-US"/>
              <a:t> </a:t>
            </a:r>
            <a:r>
              <a:rPr lang="en-US" sz="1800"/>
              <a:t>[</a:t>
            </a:r>
            <a:r>
              <a:rPr b="1" lang="en-US" sz="1800"/>
              <a:t>M. Heddaya</a:t>
            </a:r>
            <a:r>
              <a:rPr lang="en-US" sz="1800"/>
              <a:t>, Zhou, Margie, Lee, Tan, Xie, Mendelsohn]</a:t>
            </a:r>
            <a:endParaRPr/>
          </a:p>
        </p:txBody>
      </p:sp>
      <p:sp>
        <p:nvSpPr>
          <p:cNvPr id="104" name="Google Shape;104;p1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105" name="Google Shape;105;p14"/>
          <p:cNvSpPr txBox="1"/>
          <p:nvPr/>
        </p:nvSpPr>
        <p:spPr>
          <a:xfrm>
            <a:off x="831850" y="3837675"/>
            <a:ext cx="10521950" cy="1641475"/>
          </a:xfrm>
          <a:prstGeom prst="rect">
            <a:avLst/>
          </a:prstGeom>
          <a:noFill/>
          <a:ln>
            <a:noFill/>
          </a:ln>
        </p:spPr>
        <p:txBody>
          <a:bodyPr anchorCtr="0" anchor="b" bIns="45700" lIns="45700" spcFirstLastPara="1" rIns="45700" wrap="square" tIns="45700">
            <a:normAutofit/>
          </a:bodyPr>
          <a:lstStyle/>
          <a:p>
            <a:pPr indent="0" lvl="0" marL="0" marR="0" rtl="0" algn="l">
              <a:lnSpc>
                <a:spcPct val="90000"/>
              </a:lnSpc>
              <a:spcBef>
                <a:spcPts val="0"/>
              </a:spcBef>
              <a:spcAft>
                <a:spcPts val="0"/>
              </a:spcAft>
              <a:buClr>
                <a:srgbClr val="000000"/>
              </a:buClr>
              <a:buSzPts val="6000"/>
              <a:buFont typeface="Play"/>
              <a:buNone/>
            </a:pPr>
            <a:r>
              <a:t/>
            </a:r>
            <a:endParaRPr b="0" i="0" sz="6000" u="none" cap="none" strike="noStrike">
              <a:solidFill>
                <a:srgbClr val="000000"/>
              </a:solidFill>
              <a:latin typeface="Play"/>
              <a:ea typeface="Play"/>
              <a:cs typeface="Play"/>
              <a:sym typeface="Play"/>
            </a:endParaRPr>
          </a:p>
        </p:txBody>
      </p:sp>
      <p:sp>
        <p:nvSpPr>
          <p:cNvPr id="106" name="Google Shape;106;p14"/>
          <p:cNvSpPr txBox="1"/>
          <p:nvPr/>
        </p:nvSpPr>
        <p:spPr>
          <a:xfrm>
            <a:off x="838200" y="365125"/>
            <a:ext cx="10515600" cy="1325563"/>
          </a:xfrm>
          <a:prstGeom prst="rect">
            <a:avLst/>
          </a:prstGeom>
          <a:noFill/>
          <a:ln>
            <a:noFill/>
          </a:ln>
        </p:spPr>
        <p:txBody>
          <a:bodyPr anchorCtr="0" anchor="b"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400"/>
              <a:buFont typeface="Play"/>
              <a:buNone/>
            </a:pPr>
            <a:r>
              <a:t/>
            </a:r>
            <a:endParaRPr b="0" i="0" sz="4400" u="none" cap="none" strike="noStrike">
              <a:solidFill>
                <a:srgbClr val="000000"/>
              </a:solidFill>
              <a:latin typeface="Play"/>
              <a:ea typeface="Play"/>
              <a:cs typeface="Play"/>
              <a:sym typeface="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5"/>
          <p:cNvSpPr/>
          <p:nvPr/>
        </p:nvSpPr>
        <p:spPr>
          <a:xfrm>
            <a:off x="685800" y="2218267"/>
            <a:ext cx="10490200" cy="1092200"/>
          </a:xfrm>
          <a:prstGeom prst="roundRect">
            <a:avLst>
              <a:gd fmla="val 23644" name="adj"/>
            </a:avLst>
          </a:prstGeom>
          <a:solidFill>
            <a:srgbClr val="EDEDED"/>
          </a:solidFill>
          <a:ln cap="flat" cmpd="sng" w="25400">
            <a:solidFill>
              <a:schemeClr val="dk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 name="Google Shape;112;p1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200"/>
              <a:buFont typeface="Play"/>
              <a:buNone/>
            </a:pPr>
            <a:r>
              <a:rPr lang="en-US" sz="4200"/>
              <a:t>Work Overview</a:t>
            </a:r>
            <a:endParaRPr/>
          </a:p>
        </p:txBody>
      </p:sp>
      <p:sp>
        <p:nvSpPr>
          <p:cNvPr id="113" name="Google Shape;113;p15"/>
          <p:cNvSpPr txBox="1"/>
          <p:nvPr>
            <p:ph idx="1" type="body"/>
          </p:nvPr>
        </p:nvSpPr>
        <p:spPr>
          <a:xfrm>
            <a:off x="838200" y="1690688"/>
            <a:ext cx="10515600" cy="4578667"/>
          </a:xfrm>
          <a:prstGeom prst="rect">
            <a:avLst/>
          </a:prstGeom>
          <a:noFill/>
          <a:ln>
            <a:noFill/>
          </a:ln>
        </p:spPr>
        <p:txBody>
          <a:bodyPr anchorCtr="0" anchor="t" bIns="45700" lIns="45700" spcFirstLastPara="1" rIns="45700" wrap="square" tIns="45700">
            <a:normAutofit fontScale="92500" lnSpcReduction="10000"/>
          </a:bodyPr>
          <a:lstStyle/>
          <a:p>
            <a:pPr indent="-228600" lvl="0" marL="228600" marR="0" rtl="0" algn="l">
              <a:lnSpc>
                <a:spcPct val="114000"/>
              </a:lnSpc>
              <a:spcBef>
                <a:spcPts val="0"/>
              </a:spcBef>
              <a:spcAft>
                <a:spcPts val="0"/>
              </a:spcAft>
              <a:buClr>
                <a:srgbClr val="CACACA"/>
              </a:buClr>
              <a:buSzPct val="100000"/>
              <a:buFont typeface="NTR"/>
              <a:buChar char="-"/>
            </a:pPr>
            <a:r>
              <a:rPr lang="en-US">
                <a:solidFill>
                  <a:srgbClr val="CACACA"/>
                </a:solidFill>
              </a:rPr>
              <a:t>Language of Bargaining </a:t>
            </a:r>
            <a:r>
              <a:rPr b="0" i="0" lang="en-US" sz="1800" u="none" cap="none" strike="noStrike">
                <a:solidFill>
                  <a:srgbClr val="CACACA"/>
                </a:solidFill>
                <a:latin typeface="Arial"/>
                <a:ea typeface="Arial"/>
                <a:cs typeface="Arial"/>
                <a:sym typeface="Arial"/>
              </a:rPr>
              <a:t>[</a:t>
            </a:r>
            <a:r>
              <a:rPr b="1" i="0" lang="en-US" sz="1800" u="none" cap="none" strike="noStrike">
                <a:solidFill>
                  <a:srgbClr val="CACACA"/>
                </a:solidFill>
                <a:latin typeface="Arial"/>
                <a:ea typeface="Arial"/>
                <a:cs typeface="Arial"/>
                <a:sym typeface="Arial"/>
              </a:rPr>
              <a:t>M. Heddaya</a:t>
            </a:r>
            <a:r>
              <a:rPr b="0" i="0" lang="en-US" sz="1800" u="none" cap="none" strike="noStrike">
                <a:solidFill>
                  <a:srgbClr val="CACACA"/>
                </a:solidFill>
                <a:latin typeface="Arial"/>
                <a:ea typeface="Arial"/>
                <a:cs typeface="Arial"/>
                <a:sym typeface="Arial"/>
              </a:rPr>
              <a:t>, Dworkin, Tan, Voigt, Zeng, Zentefis, 2023]</a:t>
            </a:r>
            <a:endParaRPr>
              <a:solidFill>
                <a:srgbClr val="CACACA"/>
              </a:solidFill>
            </a:endParaRPr>
          </a:p>
          <a:p>
            <a:pPr indent="-228600" lvl="0" marL="228600" marR="0" rtl="0" algn="l">
              <a:lnSpc>
                <a:spcPct val="114000"/>
              </a:lnSpc>
              <a:spcBef>
                <a:spcPts val="1000"/>
              </a:spcBef>
              <a:spcAft>
                <a:spcPts val="0"/>
              </a:spcAft>
              <a:buClr>
                <a:srgbClr val="000000"/>
              </a:buClr>
              <a:buSzPct val="155556"/>
              <a:buFont typeface="NTR"/>
              <a:buChar char="-"/>
            </a:pPr>
            <a:r>
              <a:rPr b="1" lang="en-US"/>
              <a:t>Causal Micro-Narratives  </a:t>
            </a:r>
            <a:r>
              <a:rPr b="0" i="0" lang="en-US" sz="1800" u="none" cap="none" strike="noStrike">
                <a:solidFill>
                  <a:srgbClr val="000000"/>
                </a:solidFill>
                <a:latin typeface="Arial"/>
                <a:ea typeface="Arial"/>
                <a:cs typeface="Arial"/>
                <a:sym typeface="Arial"/>
              </a:rPr>
              <a:t>[</a:t>
            </a:r>
            <a:r>
              <a:rPr b="1" i="0" lang="en-US" sz="1800" u="none" cap="none" strike="noStrike">
                <a:solidFill>
                  <a:srgbClr val="000000"/>
                </a:solidFill>
                <a:latin typeface="Arial"/>
                <a:ea typeface="Arial"/>
                <a:cs typeface="Arial"/>
                <a:sym typeface="Arial"/>
              </a:rPr>
              <a:t>M. Heddaya</a:t>
            </a:r>
            <a:r>
              <a:rPr b="0" i="0" lang="en-US" sz="1800" u="none" cap="none" strike="noStrike">
                <a:solidFill>
                  <a:srgbClr val="000000"/>
                </a:solidFill>
                <a:latin typeface="Arial"/>
                <a:ea typeface="Arial"/>
                <a:cs typeface="Arial"/>
                <a:sym typeface="Arial"/>
              </a:rPr>
              <a:t>, Zeng, Tan, Voigt, Zentefis, 2024]</a:t>
            </a:r>
            <a:endParaRPr i="0" sz="1800" u="none" cap="none" strike="noStrike">
              <a:solidFill>
                <a:srgbClr val="000000"/>
              </a:solidFill>
              <a:latin typeface="Arial"/>
              <a:ea typeface="Arial"/>
              <a:cs typeface="Arial"/>
              <a:sym typeface="Arial"/>
            </a:endParaRPr>
          </a:p>
          <a:p>
            <a:pPr indent="-266700" lvl="1" marL="723900" rtl="0" algn="l">
              <a:lnSpc>
                <a:spcPct val="114000"/>
              </a:lnSpc>
              <a:spcBef>
                <a:spcPts val="1000"/>
              </a:spcBef>
              <a:spcAft>
                <a:spcPts val="0"/>
              </a:spcAft>
              <a:buClr>
                <a:srgbClr val="000000"/>
              </a:buClr>
              <a:buSzPct val="100000"/>
              <a:buFont typeface="NTR"/>
              <a:buChar char="-"/>
            </a:pPr>
            <a:r>
              <a:rPr b="1" lang="en-US"/>
              <a:t>A Century of Inflation Narratives</a:t>
            </a:r>
            <a:r>
              <a:rPr lang="en-US"/>
              <a:t> </a:t>
            </a:r>
            <a:r>
              <a:rPr lang="en-US" sz="1800"/>
              <a:t>[</a:t>
            </a:r>
            <a:r>
              <a:rPr b="1" lang="en-US" sz="1800"/>
              <a:t>M. Heddaya</a:t>
            </a:r>
            <a:r>
              <a:rPr lang="en-US" sz="1800"/>
              <a:t>, Zeng, Tan, Voigt, Zentefis, 2025]</a:t>
            </a:r>
            <a:endParaRPr/>
          </a:p>
          <a:p>
            <a:pPr indent="-228600" lvl="0" marL="228600" rtl="0" algn="l">
              <a:lnSpc>
                <a:spcPct val="114000"/>
              </a:lnSpc>
              <a:spcBef>
                <a:spcPts val="1000"/>
              </a:spcBef>
              <a:spcAft>
                <a:spcPts val="0"/>
              </a:spcAft>
              <a:buClr>
                <a:srgbClr val="000000"/>
              </a:buClr>
              <a:buSzPct val="100000"/>
              <a:buFont typeface="NTR"/>
              <a:buChar char="-"/>
            </a:pPr>
            <a:r>
              <a:rPr b="1" lang="en-US" cap="small"/>
              <a:t>CaseSumm</a:t>
            </a:r>
            <a:r>
              <a:rPr b="1" lang="en-US"/>
              <a:t>: A Large-Scale Dataset for Long-Context Summarization from Supreme Court Opinions </a:t>
            </a:r>
            <a:r>
              <a:rPr lang="en-US" sz="1800"/>
              <a:t>[</a:t>
            </a:r>
            <a:r>
              <a:rPr b="1" lang="en-US" sz="1800"/>
              <a:t>M. Heddaya</a:t>
            </a:r>
            <a:r>
              <a:rPr lang="en-US" sz="1800"/>
              <a:t>, MacMillan, Malani, Mei, Tan, 2025]</a:t>
            </a:r>
            <a:endParaRPr/>
          </a:p>
          <a:p>
            <a:pPr indent="-228600" lvl="0" marL="228600" rtl="0" algn="l">
              <a:lnSpc>
                <a:spcPct val="114000"/>
              </a:lnSpc>
              <a:spcBef>
                <a:spcPts val="1000"/>
              </a:spcBef>
              <a:spcAft>
                <a:spcPts val="0"/>
              </a:spcAft>
              <a:buClr>
                <a:srgbClr val="CACACA"/>
              </a:buClr>
              <a:buSzPct val="100000"/>
              <a:buFont typeface="NTR"/>
              <a:buChar char="-"/>
            </a:pPr>
            <a:r>
              <a:rPr lang="en-US">
                <a:solidFill>
                  <a:srgbClr val="CACACA"/>
                </a:solidFill>
              </a:rPr>
              <a:t>When Internalization Fails: Finding Better Targets for Reasoning Compression </a:t>
            </a:r>
            <a:r>
              <a:rPr lang="en-US" sz="1800">
                <a:solidFill>
                  <a:srgbClr val="CACACA"/>
                </a:solidFill>
              </a:rPr>
              <a:t>[</a:t>
            </a:r>
            <a:r>
              <a:rPr b="1" lang="en-US" sz="1800">
                <a:solidFill>
                  <a:srgbClr val="CACACA"/>
                </a:solidFill>
              </a:rPr>
              <a:t>Mourad Heddaya</a:t>
            </a:r>
            <a:r>
              <a:rPr lang="en-US" sz="1800">
                <a:solidFill>
                  <a:srgbClr val="CACACA"/>
                </a:solidFill>
              </a:rPr>
              <a:t>, Roberts, Wadhawan, Tan, 2026]</a:t>
            </a:r>
            <a:endParaRPr/>
          </a:p>
          <a:p>
            <a:pPr indent="-228600" lvl="0" marL="228600" rtl="0" algn="l">
              <a:lnSpc>
                <a:spcPct val="114000"/>
              </a:lnSpc>
              <a:spcBef>
                <a:spcPts val="1000"/>
              </a:spcBef>
              <a:spcAft>
                <a:spcPts val="0"/>
              </a:spcAft>
              <a:buClr>
                <a:srgbClr val="000000"/>
              </a:buClr>
              <a:buSzPct val="100000"/>
              <a:buFont typeface="NTR"/>
              <a:buChar char="-"/>
            </a:pPr>
            <a:r>
              <a:rPr b="1" lang="en-US"/>
              <a:t>CivicChats: Shaping the Future of Civic Discourse</a:t>
            </a:r>
            <a:r>
              <a:rPr lang="en-US"/>
              <a:t> </a:t>
            </a:r>
            <a:r>
              <a:rPr lang="en-US" sz="1800"/>
              <a:t>[</a:t>
            </a:r>
            <a:r>
              <a:rPr b="1" lang="en-US" sz="1800"/>
              <a:t>M. Heddaya</a:t>
            </a:r>
            <a:r>
              <a:rPr lang="en-US" sz="1800"/>
              <a:t>, Zhou, Margie, Lee, Tan, Xie, Mendelsohn]</a:t>
            </a:r>
            <a:endParaRPr/>
          </a:p>
        </p:txBody>
      </p:sp>
      <p:sp>
        <p:nvSpPr>
          <p:cNvPr id="114" name="Google Shape;114;p1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115" name="Google Shape;115;p15"/>
          <p:cNvSpPr txBox="1"/>
          <p:nvPr/>
        </p:nvSpPr>
        <p:spPr>
          <a:xfrm>
            <a:off x="831850" y="3837675"/>
            <a:ext cx="10521950" cy="1641475"/>
          </a:xfrm>
          <a:prstGeom prst="rect">
            <a:avLst/>
          </a:prstGeom>
          <a:noFill/>
          <a:ln>
            <a:noFill/>
          </a:ln>
        </p:spPr>
        <p:txBody>
          <a:bodyPr anchorCtr="0" anchor="b" bIns="45700" lIns="45700" spcFirstLastPara="1" rIns="45700" wrap="square" tIns="45700">
            <a:normAutofit/>
          </a:bodyPr>
          <a:lstStyle/>
          <a:p>
            <a:pPr indent="0" lvl="0" marL="0" marR="0" rtl="0" algn="l">
              <a:lnSpc>
                <a:spcPct val="90000"/>
              </a:lnSpc>
              <a:spcBef>
                <a:spcPts val="0"/>
              </a:spcBef>
              <a:spcAft>
                <a:spcPts val="0"/>
              </a:spcAft>
              <a:buClr>
                <a:srgbClr val="000000"/>
              </a:buClr>
              <a:buSzPts val="6000"/>
              <a:buFont typeface="Play"/>
              <a:buNone/>
            </a:pPr>
            <a:r>
              <a:t/>
            </a:r>
            <a:endParaRPr b="0" i="0" sz="6000" u="none" cap="none" strike="noStrike">
              <a:solidFill>
                <a:srgbClr val="000000"/>
              </a:solidFill>
              <a:latin typeface="Play"/>
              <a:ea typeface="Play"/>
              <a:cs typeface="Play"/>
              <a:sym typeface="Play"/>
            </a:endParaRPr>
          </a:p>
        </p:txBody>
      </p:sp>
      <p:sp>
        <p:nvSpPr>
          <p:cNvPr id="116" name="Google Shape;116;p15"/>
          <p:cNvSpPr txBox="1"/>
          <p:nvPr/>
        </p:nvSpPr>
        <p:spPr>
          <a:xfrm>
            <a:off x="838200" y="365125"/>
            <a:ext cx="10515600" cy="1325563"/>
          </a:xfrm>
          <a:prstGeom prst="rect">
            <a:avLst/>
          </a:prstGeom>
          <a:noFill/>
          <a:ln>
            <a:noFill/>
          </a:ln>
        </p:spPr>
        <p:txBody>
          <a:bodyPr anchorCtr="0" anchor="b"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400"/>
              <a:buFont typeface="Play"/>
              <a:buNone/>
            </a:pPr>
            <a:r>
              <a:t/>
            </a:r>
            <a:endParaRPr b="0" i="0" sz="4400" u="none" cap="none" strike="noStrike">
              <a:solidFill>
                <a:srgbClr val="000000"/>
              </a:solidFill>
              <a:latin typeface="Play"/>
              <a:ea typeface="Play"/>
              <a:cs typeface="Play"/>
              <a:sym typeface="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Economic narratives are a mechanism for behavior change</a:t>
            </a:r>
            <a:endParaRPr/>
          </a:p>
        </p:txBody>
      </p:sp>
      <p:sp>
        <p:nvSpPr>
          <p:cNvPr id="122" name="Google Shape;122;p16"/>
          <p:cNvSpPr txBox="1"/>
          <p:nvPr>
            <p:ph idx="12" type="sldNum"/>
          </p:nvPr>
        </p:nvSpPr>
        <p:spPr>
          <a:xfrm>
            <a:off x="11164902" y="6404292"/>
            <a:ext cx="188898"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123" name="Google Shape;123;p16"/>
          <p:cNvSpPr txBox="1"/>
          <p:nvPr/>
        </p:nvSpPr>
        <p:spPr>
          <a:xfrm>
            <a:off x="883919" y="4343112"/>
            <a:ext cx="10424161" cy="2378363"/>
          </a:xfrm>
          <a:prstGeom prst="rect">
            <a:avLst/>
          </a:prstGeom>
          <a:noFill/>
          <a:ln>
            <a:noFill/>
          </a:ln>
        </p:spPr>
        <p:txBody>
          <a:bodyPr anchorCtr="0" anchor="t" bIns="45700" lIns="45700" spcFirstLastPara="1" rIns="45700" wrap="square" tIns="45700">
            <a:normAutofit/>
          </a:bodyPr>
          <a:lstStyle/>
          <a:p>
            <a:pPr indent="0" lvl="0" marL="0" marR="0" rtl="0" algn="l">
              <a:lnSpc>
                <a:spcPct val="135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If we fail to consider and understand the properties of narratives, “we remain blind to a very real, very palpable, very important </a:t>
            </a:r>
            <a:r>
              <a:rPr b="1" i="0" lang="en-US" sz="2500" u="none" cap="none" strike="noStrike">
                <a:solidFill>
                  <a:srgbClr val="000000"/>
                </a:solidFill>
                <a:latin typeface="Arial"/>
                <a:ea typeface="Arial"/>
                <a:cs typeface="Arial"/>
                <a:sym typeface="Arial"/>
              </a:rPr>
              <a:t>mechanism for economic change</a:t>
            </a:r>
            <a:r>
              <a:rPr b="0" i="0" lang="en-US" sz="2500" u="none" cap="none" strike="noStrike">
                <a:solidFill>
                  <a:srgbClr val="000000"/>
                </a:solidFill>
                <a:latin typeface="Arial"/>
                <a:ea typeface="Arial"/>
                <a:cs typeface="Arial"/>
                <a:sym typeface="Arial"/>
              </a:rPr>
              <a:t>, as well as a </a:t>
            </a:r>
            <a:r>
              <a:rPr b="1" i="0" lang="en-US" sz="2500" u="none" cap="none" strike="noStrike">
                <a:solidFill>
                  <a:srgbClr val="000000"/>
                </a:solidFill>
                <a:latin typeface="Arial"/>
                <a:ea typeface="Arial"/>
                <a:cs typeface="Arial"/>
                <a:sym typeface="Arial"/>
              </a:rPr>
              <a:t>crucial element for economic forecasting.</a:t>
            </a:r>
            <a:r>
              <a:rPr b="0" i="0" lang="en-US" sz="2500" u="none" cap="none" strike="noStrike">
                <a:solidFill>
                  <a:srgbClr val="000000"/>
                </a:solidFill>
                <a:latin typeface="Arial"/>
                <a:ea typeface="Arial"/>
                <a:cs typeface="Arial"/>
                <a:sym typeface="Arial"/>
              </a:rPr>
              <a:t>” [Shiller, 2017]</a:t>
            </a:r>
            <a:endParaRPr/>
          </a:p>
        </p:txBody>
      </p:sp>
      <p:grpSp>
        <p:nvGrpSpPr>
          <p:cNvPr id="124" name="Google Shape;124;p16"/>
          <p:cNvGrpSpPr/>
          <p:nvPr/>
        </p:nvGrpSpPr>
        <p:grpSpPr>
          <a:xfrm>
            <a:off x="1349096" y="1552317"/>
            <a:ext cx="9954206" cy="2462766"/>
            <a:chOff x="0" y="0"/>
            <a:chExt cx="9954205" cy="2462764"/>
          </a:xfrm>
        </p:grpSpPr>
        <p:grpSp>
          <p:nvGrpSpPr>
            <p:cNvPr id="125" name="Google Shape;125;p16"/>
            <p:cNvGrpSpPr/>
            <p:nvPr/>
          </p:nvGrpSpPr>
          <p:grpSpPr>
            <a:xfrm>
              <a:off x="0" y="0"/>
              <a:ext cx="9954205" cy="2462764"/>
              <a:chOff x="0" y="0"/>
              <a:chExt cx="9954204" cy="2462763"/>
            </a:xfrm>
          </p:grpSpPr>
          <p:pic>
            <p:nvPicPr>
              <p:cNvPr descr="Picture 2" id="126" name="Google Shape;126;p16"/>
              <p:cNvPicPr preferRelativeResize="0"/>
              <p:nvPr/>
            </p:nvPicPr>
            <p:blipFill rotWithShape="1">
              <a:blip r:embed="rId3">
                <a:alphaModFix/>
              </a:blip>
              <a:srcRect b="0" l="0" r="0" t="0"/>
              <a:stretch/>
            </p:blipFill>
            <p:spPr>
              <a:xfrm>
                <a:off x="0" y="0"/>
                <a:ext cx="2378363" cy="2378363"/>
              </a:xfrm>
              <a:prstGeom prst="rect">
                <a:avLst/>
              </a:prstGeom>
              <a:noFill/>
              <a:ln>
                <a:noFill/>
              </a:ln>
            </p:spPr>
          </p:pic>
          <p:pic>
            <p:nvPicPr>
              <p:cNvPr descr="Picture 5" id="127" name="Google Shape;127;p16"/>
              <p:cNvPicPr preferRelativeResize="0"/>
              <p:nvPr/>
            </p:nvPicPr>
            <p:blipFill rotWithShape="1">
              <a:blip r:embed="rId4">
                <a:alphaModFix/>
              </a:blip>
              <a:srcRect b="0" l="0" r="0" t="0"/>
              <a:stretch/>
            </p:blipFill>
            <p:spPr>
              <a:xfrm>
                <a:off x="3826133" y="100148"/>
                <a:ext cx="1841542" cy="1841542"/>
              </a:xfrm>
              <a:prstGeom prst="rect">
                <a:avLst/>
              </a:prstGeom>
              <a:noFill/>
              <a:ln>
                <a:noFill/>
              </a:ln>
            </p:spPr>
          </p:pic>
          <p:pic>
            <p:nvPicPr>
              <p:cNvPr descr="Picture 16" id="128" name="Google Shape;128;p16"/>
              <p:cNvPicPr preferRelativeResize="0"/>
              <p:nvPr/>
            </p:nvPicPr>
            <p:blipFill rotWithShape="1">
              <a:blip r:embed="rId5">
                <a:alphaModFix/>
              </a:blip>
              <a:srcRect b="0" l="0" r="0" t="0"/>
              <a:stretch/>
            </p:blipFill>
            <p:spPr>
              <a:xfrm>
                <a:off x="6954595" y="26723"/>
                <a:ext cx="2999609" cy="2216991"/>
              </a:xfrm>
              <a:prstGeom prst="rect">
                <a:avLst/>
              </a:prstGeom>
              <a:noFill/>
              <a:ln>
                <a:noFill/>
              </a:ln>
            </p:spPr>
          </p:pic>
          <p:sp>
            <p:nvSpPr>
              <p:cNvPr id="129" name="Google Shape;129;p16"/>
              <p:cNvSpPr txBox="1"/>
              <p:nvPr/>
            </p:nvSpPr>
            <p:spPr>
              <a:xfrm>
                <a:off x="323275" y="2091922"/>
                <a:ext cx="1841542"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Buying a home</a:t>
                </a:r>
                <a:endParaRPr/>
              </a:p>
            </p:txBody>
          </p:sp>
          <p:sp>
            <p:nvSpPr>
              <p:cNvPr id="130" name="Google Shape;130;p16"/>
              <p:cNvSpPr txBox="1"/>
              <p:nvPr/>
            </p:nvSpPr>
            <p:spPr>
              <a:xfrm>
                <a:off x="3289679" y="2066522"/>
                <a:ext cx="2618360" cy="370841"/>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Investing in stock market</a:t>
                </a:r>
                <a:endParaRPr/>
              </a:p>
            </p:txBody>
          </p:sp>
          <p:sp>
            <p:nvSpPr>
              <p:cNvPr id="131" name="Google Shape;131;p16"/>
              <p:cNvSpPr txBox="1"/>
              <p:nvPr/>
            </p:nvSpPr>
            <p:spPr>
              <a:xfrm>
                <a:off x="7032900" y="2091922"/>
                <a:ext cx="2843000"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Pursuing higher education</a:t>
                </a:r>
                <a:endParaRPr/>
              </a:p>
            </p:txBody>
          </p:sp>
        </p:grpSp>
        <p:pic>
          <p:nvPicPr>
            <p:cNvPr descr="Picture 2" id="132" name="Google Shape;132;p16"/>
            <p:cNvPicPr preferRelativeResize="0"/>
            <p:nvPr/>
          </p:nvPicPr>
          <p:blipFill rotWithShape="1">
            <a:blip r:embed="rId3">
              <a:alphaModFix/>
            </a:blip>
            <a:srcRect b="22428" l="55391" r="41070" t="70803"/>
            <a:stretch/>
          </p:blipFill>
          <p:spPr>
            <a:xfrm>
              <a:off x="1544877" y="1475107"/>
              <a:ext cx="109731" cy="209917"/>
            </a:xfrm>
            <a:prstGeom prst="rect">
              <a:avLst/>
            </a:prstGeom>
            <a:noFill/>
            <a:ln>
              <a:noFill/>
            </a:ln>
          </p:spPr>
        </p:pic>
        <p:pic>
          <p:nvPicPr>
            <p:cNvPr descr="Picture 8" id="133" name="Google Shape;133;p16"/>
            <p:cNvPicPr preferRelativeResize="0"/>
            <p:nvPr/>
          </p:nvPicPr>
          <p:blipFill rotWithShape="1">
            <a:blip r:embed="rId3">
              <a:alphaModFix/>
            </a:blip>
            <a:srcRect b="22428" l="55391" r="41070" t="70803"/>
            <a:stretch/>
          </p:blipFill>
          <p:spPr>
            <a:xfrm>
              <a:off x="1502712" y="1475107"/>
              <a:ext cx="109731" cy="209917"/>
            </a:xfrm>
            <a:prstGeom prst="rect">
              <a:avLst/>
            </a:prstGeom>
            <a:noFill/>
            <a:ln>
              <a:noFill/>
            </a:ln>
          </p:spPr>
        </p:pic>
        <p:pic>
          <p:nvPicPr>
            <p:cNvPr descr="Picture 12" id="134" name="Google Shape;134;p16"/>
            <p:cNvPicPr preferRelativeResize="0"/>
            <p:nvPr/>
          </p:nvPicPr>
          <p:blipFill rotWithShape="1">
            <a:blip r:embed="rId3">
              <a:alphaModFix/>
            </a:blip>
            <a:srcRect b="22428" l="55391" r="41070" t="70803"/>
            <a:stretch/>
          </p:blipFill>
          <p:spPr>
            <a:xfrm>
              <a:off x="1413099" y="1494666"/>
              <a:ext cx="109731" cy="183043"/>
            </a:xfrm>
            <a:prstGeom prst="rect">
              <a:avLst/>
            </a:prstGeom>
            <a:noFill/>
            <a:ln>
              <a:noFill/>
            </a:ln>
          </p:spPr>
        </p:pic>
        <p:pic>
          <p:nvPicPr>
            <p:cNvPr descr="Picture 2" id="135" name="Google Shape;135;p16"/>
            <p:cNvPicPr preferRelativeResize="0"/>
            <p:nvPr/>
          </p:nvPicPr>
          <p:blipFill rotWithShape="1">
            <a:blip r:embed="rId3">
              <a:alphaModFix/>
            </a:blip>
            <a:srcRect b="22428" l="55391" r="41070" t="70803"/>
            <a:stretch/>
          </p:blipFill>
          <p:spPr>
            <a:xfrm>
              <a:off x="1557577" y="1475107"/>
              <a:ext cx="109731" cy="209917"/>
            </a:xfrm>
            <a:prstGeom prst="rect">
              <a:avLst/>
            </a:prstGeom>
            <a:noFill/>
            <a:ln>
              <a:noFill/>
            </a:ln>
          </p:spPr>
        </p:pic>
        <p:pic>
          <p:nvPicPr>
            <p:cNvPr descr="Picture 2" id="136" name="Google Shape;136;p16"/>
            <p:cNvPicPr preferRelativeResize="0"/>
            <p:nvPr/>
          </p:nvPicPr>
          <p:blipFill rotWithShape="1">
            <a:blip r:embed="rId3">
              <a:alphaModFix/>
            </a:blip>
            <a:srcRect b="22428" l="55391" r="41070" t="70803"/>
            <a:stretch/>
          </p:blipFill>
          <p:spPr>
            <a:xfrm>
              <a:off x="1544877" y="1475107"/>
              <a:ext cx="109731" cy="209917"/>
            </a:xfrm>
            <a:prstGeom prst="rect">
              <a:avLst/>
            </a:prstGeom>
            <a:noFill/>
            <a:ln>
              <a:noFill/>
            </a:ln>
          </p:spPr>
        </p:pic>
        <p:pic>
          <p:nvPicPr>
            <p:cNvPr descr="Picture 2" id="137" name="Google Shape;137;p16"/>
            <p:cNvPicPr preferRelativeResize="0"/>
            <p:nvPr/>
          </p:nvPicPr>
          <p:blipFill rotWithShape="1">
            <a:blip r:embed="rId3">
              <a:alphaModFix/>
            </a:blip>
            <a:srcRect b="22428" l="55391" r="41070" t="70803"/>
            <a:stretch/>
          </p:blipFill>
          <p:spPr>
            <a:xfrm>
              <a:off x="1544877" y="1475107"/>
              <a:ext cx="109731" cy="209917"/>
            </a:xfrm>
            <a:prstGeom prst="rect">
              <a:avLst/>
            </a:prstGeom>
            <a:noFill/>
            <a:ln>
              <a:noFill/>
            </a:ln>
          </p:spPr>
        </p:pic>
        <p:pic>
          <p:nvPicPr>
            <p:cNvPr descr="Picture 2" id="138" name="Google Shape;138;p16"/>
            <p:cNvPicPr preferRelativeResize="0"/>
            <p:nvPr/>
          </p:nvPicPr>
          <p:blipFill rotWithShape="1">
            <a:blip r:embed="rId3">
              <a:alphaModFix/>
            </a:blip>
            <a:srcRect b="22428" l="55391" r="41070" t="70803"/>
            <a:stretch/>
          </p:blipFill>
          <p:spPr>
            <a:xfrm>
              <a:off x="1532177" y="1475107"/>
              <a:ext cx="109731" cy="209917"/>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Measuring narratives: prior work captures concept but not scale</a:t>
            </a:r>
            <a:endParaRPr b="0" i="0" sz="4180" u="none" cap="none" strike="noStrike">
              <a:solidFill>
                <a:srgbClr val="000000"/>
              </a:solidFill>
              <a:latin typeface="Play"/>
              <a:ea typeface="Play"/>
              <a:cs typeface="Play"/>
              <a:sym typeface="Play"/>
            </a:endParaRPr>
          </a:p>
        </p:txBody>
      </p:sp>
      <p:sp>
        <p:nvSpPr>
          <p:cNvPr id="144" name="Google Shape;144;p17"/>
          <p:cNvSpPr txBox="1"/>
          <p:nvPr>
            <p:ph idx="1" type="body"/>
          </p:nvPr>
        </p:nvSpPr>
        <p:spPr>
          <a:xfrm>
            <a:off x="745731" y="2052954"/>
            <a:ext cx="10851651" cy="4351338"/>
          </a:xfrm>
          <a:prstGeom prst="rect">
            <a:avLst/>
          </a:prstGeom>
          <a:noFill/>
          <a:ln>
            <a:noFill/>
          </a:ln>
        </p:spPr>
        <p:txBody>
          <a:bodyPr anchorCtr="0" anchor="t" bIns="45700" lIns="45700" spcFirstLastPara="1" rIns="45700" wrap="square" tIns="45700">
            <a:normAutofit/>
          </a:bodyPr>
          <a:lstStyle/>
          <a:p>
            <a:pPr indent="-457200" lvl="0" marL="457200" rtl="0" algn="l">
              <a:lnSpc>
                <a:spcPct val="100000"/>
              </a:lnSpc>
              <a:spcBef>
                <a:spcPts val="0"/>
              </a:spcBef>
              <a:spcAft>
                <a:spcPts val="0"/>
              </a:spcAft>
              <a:buClr>
                <a:srgbClr val="000000"/>
              </a:buClr>
              <a:buSzPts val="2400"/>
              <a:buFont typeface="Arial"/>
              <a:buAutoNum type="arabicPeriod"/>
            </a:pPr>
            <a:r>
              <a:rPr b="1" lang="en-US" sz="2400"/>
              <a:t>Definitions of narrative</a:t>
            </a:r>
            <a:r>
              <a:rPr lang="en-US" sz="2400"/>
              <a:t> are not built to be extracted and measured from actual text</a:t>
            </a:r>
            <a:endParaRPr/>
          </a:p>
          <a:p>
            <a:pPr indent="-457200" lvl="0" marL="457200" rtl="0" algn="l">
              <a:lnSpc>
                <a:spcPct val="100000"/>
              </a:lnSpc>
              <a:spcBef>
                <a:spcPts val="1000"/>
              </a:spcBef>
              <a:spcAft>
                <a:spcPts val="0"/>
              </a:spcAft>
              <a:buClr>
                <a:srgbClr val="000000"/>
              </a:buClr>
              <a:buSzPts val="2400"/>
              <a:buFont typeface="Arial"/>
              <a:buAutoNum type="arabicPeriod"/>
            </a:pPr>
            <a:r>
              <a:rPr b="1" lang="en-US" sz="2400"/>
              <a:t>Extraction methods </a:t>
            </a:r>
            <a:r>
              <a:rPr lang="en-US" sz="2400"/>
              <a:t>are not built around any definition of narrative</a:t>
            </a:r>
            <a:endParaRPr/>
          </a:p>
          <a:p>
            <a:pPr indent="-266700" lvl="1" marL="723900" rtl="0" algn="l">
              <a:lnSpc>
                <a:spcPct val="100000"/>
              </a:lnSpc>
              <a:spcBef>
                <a:spcPts val="1000"/>
              </a:spcBef>
              <a:spcAft>
                <a:spcPts val="0"/>
              </a:spcAft>
              <a:buClr>
                <a:srgbClr val="000000"/>
              </a:buClr>
              <a:buSzPts val="2400"/>
              <a:buFont typeface="NTR"/>
              <a:buChar char="-"/>
            </a:pPr>
            <a:r>
              <a:rPr i="1" lang="en-US" sz="2400"/>
              <a:t>“We can contain costs and help enable every American have access to health insurance coverage.”</a:t>
            </a:r>
            <a:endParaRPr/>
          </a:p>
          <a:p>
            <a:pPr indent="-320039" lvl="2" marL="1234439" rtl="0" algn="l">
              <a:lnSpc>
                <a:spcPct val="100000"/>
              </a:lnSpc>
              <a:spcBef>
                <a:spcPts val="1000"/>
              </a:spcBef>
              <a:spcAft>
                <a:spcPts val="0"/>
              </a:spcAft>
              <a:buClr>
                <a:srgbClr val="000000"/>
              </a:buClr>
              <a:buSzPts val="2400"/>
              <a:buFont typeface="Noto Sans Symbols"/>
              <a:buChar char="⮚"/>
            </a:pPr>
            <a:r>
              <a:rPr lang="en-US" sz="2400">
                <a:latin typeface="Lemon"/>
                <a:ea typeface="Lemon"/>
                <a:cs typeface="Lemon"/>
                <a:sym typeface="Lemon"/>
              </a:rPr>
              <a:t>americans have healthcare </a:t>
            </a:r>
            <a:r>
              <a:rPr lang="en-US" sz="1800">
                <a:solidFill>
                  <a:schemeClr val="dk2"/>
                </a:solidFill>
                <a:latin typeface="Lemon"/>
                <a:ea typeface="Lemon"/>
                <a:cs typeface="Lemon"/>
                <a:sym typeface="Lemon"/>
              </a:rPr>
              <a:t>[</a:t>
            </a:r>
            <a:r>
              <a:rPr lang="en-US" sz="1800">
                <a:solidFill>
                  <a:schemeClr val="dk2"/>
                </a:solidFill>
              </a:rPr>
              <a:t>Ash et al., 2022]</a:t>
            </a:r>
            <a:endParaRPr sz="2400">
              <a:solidFill>
                <a:schemeClr val="dk2"/>
              </a:solidFill>
              <a:latin typeface="Lemon"/>
              <a:ea typeface="Lemon"/>
              <a:cs typeface="Lemon"/>
              <a:sym typeface="Lemon"/>
            </a:endParaRPr>
          </a:p>
        </p:txBody>
      </p:sp>
      <p:sp>
        <p:nvSpPr>
          <p:cNvPr id="145" name="Google Shape;145;p1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8"/>
          <p:cNvSpPr txBox="1"/>
          <p:nvPr>
            <p:ph type="title"/>
          </p:nvPr>
        </p:nvSpPr>
        <p:spPr>
          <a:xfrm>
            <a:off x="678094" y="365125"/>
            <a:ext cx="10900881"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How can we measure narratives in millions of documents?</a:t>
            </a:r>
            <a:endParaRPr b="0" i="0" sz="4180" u="none" cap="none" strike="noStrike">
              <a:solidFill>
                <a:srgbClr val="000000"/>
              </a:solidFill>
              <a:latin typeface="Play"/>
              <a:ea typeface="Play"/>
              <a:cs typeface="Play"/>
              <a:sym typeface="Play"/>
            </a:endParaRPr>
          </a:p>
        </p:txBody>
      </p:sp>
      <p:pic>
        <p:nvPicPr>
          <p:cNvPr descr="Picture 10" id="151" name="Google Shape;151;p18"/>
          <p:cNvPicPr preferRelativeResize="0"/>
          <p:nvPr/>
        </p:nvPicPr>
        <p:blipFill rotWithShape="1">
          <a:blip r:embed="rId3">
            <a:alphaModFix/>
          </a:blip>
          <a:srcRect b="0" l="0" r="0" t="0"/>
          <a:stretch/>
        </p:blipFill>
        <p:spPr>
          <a:xfrm>
            <a:off x="6915491" y="4521610"/>
            <a:ext cx="4795653" cy="1563028"/>
          </a:xfrm>
          <a:prstGeom prst="rect">
            <a:avLst/>
          </a:prstGeom>
          <a:noFill/>
          <a:ln>
            <a:noFill/>
          </a:ln>
        </p:spPr>
      </p:pic>
      <p:pic>
        <p:nvPicPr>
          <p:cNvPr descr="Picture 12" id="152" name="Google Shape;152;p18"/>
          <p:cNvPicPr preferRelativeResize="0"/>
          <p:nvPr/>
        </p:nvPicPr>
        <p:blipFill rotWithShape="1">
          <a:blip r:embed="rId4">
            <a:alphaModFix/>
          </a:blip>
          <a:srcRect b="0" l="433" r="0" t="8819"/>
          <a:stretch/>
        </p:blipFill>
        <p:spPr>
          <a:xfrm>
            <a:off x="6839471" y="1690687"/>
            <a:ext cx="4947695" cy="2595934"/>
          </a:xfrm>
          <a:prstGeom prst="rect">
            <a:avLst/>
          </a:prstGeom>
          <a:noFill/>
          <a:ln>
            <a:noFill/>
          </a:ln>
        </p:spPr>
      </p:pic>
      <p:grpSp>
        <p:nvGrpSpPr>
          <p:cNvPr id="153" name="Google Shape;153;p18"/>
          <p:cNvGrpSpPr/>
          <p:nvPr/>
        </p:nvGrpSpPr>
        <p:grpSpPr>
          <a:xfrm>
            <a:off x="4090141" y="3797884"/>
            <a:ext cx="1211527" cy="178082"/>
            <a:chOff x="0" y="0"/>
            <a:chExt cx="1211526" cy="178080"/>
          </a:xfrm>
        </p:grpSpPr>
        <p:sp>
          <p:nvSpPr>
            <p:cNvPr id="154" name="Google Shape;154;p18"/>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 name="Google Shape;155;p18"/>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 name="Google Shape;156;p18"/>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57" name="Google Shape;157;p18"/>
          <p:cNvGrpSpPr/>
          <p:nvPr/>
        </p:nvGrpSpPr>
        <p:grpSpPr>
          <a:xfrm>
            <a:off x="4093631" y="4052284"/>
            <a:ext cx="1211528" cy="178082"/>
            <a:chOff x="0" y="0"/>
            <a:chExt cx="1211526" cy="178080"/>
          </a:xfrm>
        </p:grpSpPr>
        <p:sp>
          <p:nvSpPr>
            <p:cNvPr id="158" name="Google Shape;158;p18"/>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 name="Google Shape;159;p18"/>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 name="Google Shape;160;p18"/>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1" name="Google Shape;161;p18"/>
          <p:cNvGrpSpPr/>
          <p:nvPr/>
        </p:nvGrpSpPr>
        <p:grpSpPr>
          <a:xfrm>
            <a:off x="4093631" y="5445697"/>
            <a:ext cx="1211528" cy="178082"/>
            <a:chOff x="0" y="0"/>
            <a:chExt cx="1211526" cy="178080"/>
          </a:xfrm>
        </p:grpSpPr>
        <p:sp>
          <p:nvSpPr>
            <p:cNvPr id="162" name="Google Shape;162;p18"/>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 name="Google Shape;163;p18"/>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 name="Google Shape;164;p18"/>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5" name="Google Shape;165;p18"/>
          <p:cNvGrpSpPr/>
          <p:nvPr/>
        </p:nvGrpSpPr>
        <p:grpSpPr>
          <a:xfrm>
            <a:off x="4093631" y="5698961"/>
            <a:ext cx="1211528" cy="182336"/>
            <a:chOff x="0" y="-1"/>
            <a:chExt cx="1211526" cy="182334"/>
          </a:xfrm>
        </p:grpSpPr>
        <p:sp>
          <p:nvSpPr>
            <p:cNvPr id="166" name="Google Shape;166;p18"/>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 name="Google Shape;167;p18"/>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 name="Google Shape;168;p18"/>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9" name="Google Shape;169;p18"/>
          <p:cNvGrpSpPr/>
          <p:nvPr/>
        </p:nvGrpSpPr>
        <p:grpSpPr>
          <a:xfrm>
            <a:off x="4084249" y="4307653"/>
            <a:ext cx="1211528" cy="182336"/>
            <a:chOff x="0" y="-1"/>
            <a:chExt cx="1211526" cy="182334"/>
          </a:xfrm>
        </p:grpSpPr>
        <p:sp>
          <p:nvSpPr>
            <p:cNvPr id="170" name="Google Shape;170;p18"/>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 name="Google Shape;171;p18"/>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 name="Google Shape;172;p18"/>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3" name="Google Shape;173;p18"/>
          <p:cNvGrpSpPr/>
          <p:nvPr/>
        </p:nvGrpSpPr>
        <p:grpSpPr>
          <a:xfrm>
            <a:off x="4089615" y="5189193"/>
            <a:ext cx="1211528" cy="182336"/>
            <a:chOff x="0" y="-1"/>
            <a:chExt cx="1211526" cy="182334"/>
          </a:xfrm>
        </p:grpSpPr>
        <p:sp>
          <p:nvSpPr>
            <p:cNvPr id="174" name="Google Shape;174;p18"/>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 name="Google Shape;175;p18"/>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 name="Google Shape;176;p18"/>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7" name="Google Shape;177;p18"/>
          <p:cNvSpPr/>
          <p:nvPr/>
        </p:nvSpPr>
        <p:spPr>
          <a:xfrm>
            <a:off x="5641823" y="3346319"/>
            <a:ext cx="810330" cy="620487"/>
          </a:xfrm>
          <a:prstGeom prst="rightArrow">
            <a:avLst>
              <a:gd fmla="val 50000" name="adj1"/>
              <a:gd fmla="val 50000" name="adj2"/>
            </a:avLst>
          </a:prstGeom>
          <a:noFill/>
          <a:ln cap="flat" cmpd="sng" w="3810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78" name="Google Shape;178;p18"/>
          <p:cNvGrpSpPr/>
          <p:nvPr/>
        </p:nvGrpSpPr>
        <p:grpSpPr>
          <a:xfrm>
            <a:off x="4098831" y="2256163"/>
            <a:ext cx="1211528" cy="178082"/>
            <a:chOff x="0" y="0"/>
            <a:chExt cx="1211526" cy="178080"/>
          </a:xfrm>
        </p:grpSpPr>
        <p:sp>
          <p:nvSpPr>
            <p:cNvPr id="179" name="Google Shape;179;p18"/>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 name="Google Shape;180;p18"/>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 name="Google Shape;181;p18"/>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82" name="Google Shape;182;p18"/>
          <p:cNvGrpSpPr/>
          <p:nvPr/>
        </p:nvGrpSpPr>
        <p:grpSpPr>
          <a:xfrm>
            <a:off x="4098831" y="2512264"/>
            <a:ext cx="1211528" cy="178082"/>
            <a:chOff x="0" y="0"/>
            <a:chExt cx="1211526" cy="178080"/>
          </a:xfrm>
        </p:grpSpPr>
        <p:sp>
          <p:nvSpPr>
            <p:cNvPr id="183" name="Google Shape;183;p18"/>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 name="Google Shape;184;p18"/>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 name="Google Shape;185;p18"/>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86" name="Google Shape;186;p18"/>
          <p:cNvGrpSpPr/>
          <p:nvPr/>
        </p:nvGrpSpPr>
        <p:grpSpPr>
          <a:xfrm>
            <a:off x="4098831" y="3274485"/>
            <a:ext cx="1211528" cy="178082"/>
            <a:chOff x="0" y="0"/>
            <a:chExt cx="1211526" cy="178080"/>
          </a:xfrm>
        </p:grpSpPr>
        <p:sp>
          <p:nvSpPr>
            <p:cNvPr id="187" name="Google Shape;187;p18"/>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 name="Google Shape;188;p18"/>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 name="Google Shape;189;p18"/>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90" name="Google Shape;190;p18"/>
          <p:cNvGrpSpPr/>
          <p:nvPr/>
        </p:nvGrpSpPr>
        <p:grpSpPr>
          <a:xfrm>
            <a:off x="4098831" y="3527749"/>
            <a:ext cx="1211528" cy="182336"/>
            <a:chOff x="0" y="-1"/>
            <a:chExt cx="1211526" cy="182334"/>
          </a:xfrm>
        </p:grpSpPr>
        <p:sp>
          <p:nvSpPr>
            <p:cNvPr id="191" name="Google Shape;191;p18"/>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 name="Google Shape;192;p18"/>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 name="Google Shape;193;p18"/>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94" name="Google Shape;194;p18"/>
          <p:cNvGrpSpPr/>
          <p:nvPr/>
        </p:nvGrpSpPr>
        <p:grpSpPr>
          <a:xfrm>
            <a:off x="4089451" y="2767632"/>
            <a:ext cx="1211528" cy="182336"/>
            <a:chOff x="0" y="-1"/>
            <a:chExt cx="1211526" cy="182334"/>
          </a:xfrm>
        </p:grpSpPr>
        <p:sp>
          <p:nvSpPr>
            <p:cNvPr id="195" name="Google Shape;195;p18"/>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6" name="Google Shape;196;p18"/>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 name="Google Shape;197;p18"/>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98" name="Google Shape;198;p18"/>
          <p:cNvGrpSpPr/>
          <p:nvPr/>
        </p:nvGrpSpPr>
        <p:grpSpPr>
          <a:xfrm>
            <a:off x="4094817" y="3017981"/>
            <a:ext cx="1211528" cy="182336"/>
            <a:chOff x="0" y="-1"/>
            <a:chExt cx="1211526" cy="182334"/>
          </a:xfrm>
        </p:grpSpPr>
        <p:sp>
          <p:nvSpPr>
            <p:cNvPr id="199" name="Google Shape;199;p18"/>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 name="Google Shape;200;p18"/>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 name="Google Shape;201;p18"/>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2" name="Google Shape;202;p18"/>
          <p:cNvSpPr txBox="1"/>
          <p:nvPr>
            <p:ph idx="12" type="sldNum"/>
          </p:nvPr>
        </p:nvSpPr>
        <p:spPr>
          <a:xfrm>
            <a:off x="11164902" y="6404292"/>
            <a:ext cx="188898"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203" name="Google Shape;203;p18"/>
          <p:cNvSpPr txBox="1"/>
          <p:nvPr/>
        </p:nvSpPr>
        <p:spPr>
          <a:xfrm rot="5400000">
            <a:off x="4361585" y="4782912"/>
            <a:ext cx="894054" cy="574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747474"/>
              </a:buClr>
              <a:buSzPts val="3200"/>
              <a:buFont typeface="Arial"/>
              <a:buNone/>
            </a:pPr>
            <a:r>
              <a:rPr b="0" i="0" lang="en-US" sz="3200" u="none" cap="none" strike="noStrike">
                <a:solidFill>
                  <a:srgbClr val="747474"/>
                </a:solidFill>
                <a:latin typeface="Arial"/>
                <a:ea typeface="Arial"/>
                <a:cs typeface="Arial"/>
                <a:sym typeface="Arial"/>
              </a:rPr>
              <a:t>…</a:t>
            </a:r>
            <a:endParaRPr/>
          </a:p>
        </p:txBody>
      </p:sp>
      <p:pic>
        <p:nvPicPr>
          <p:cNvPr descr="Picture 2" id="204" name="Google Shape;204;p18"/>
          <p:cNvPicPr preferRelativeResize="0"/>
          <p:nvPr/>
        </p:nvPicPr>
        <p:blipFill rotWithShape="1">
          <a:blip r:embed="rId5">
            <a:alphaModFix/>
          </a:blip>
          <a:srcRect b="0" l="0" r="0" t="0"/>
          <a:stretch/>
        </p:blipFill>
        <p:spPr>
          <a:xfrm>
            <a:off x="246489" y="2413680"/>
            <a:ext cx="1325564" cy="1325564"/>
          </a:xfrm>
          <a:prstGeom prst="rect">
            <a:avLst/>
          </a:prstGeom>
          <a:noFill/>
          <a:ln>
            <a:noFill/>
          </a:ln>
        </p:spPr>
      </p:pic>
      <p:pic>
        <p:nvPicPr>
          <p:cNvPr descr="Picture 2" id="205" name="Google Shape;205;p18"/>
          <p:cNvPicPr preferRelativeResize="0"/>
          <p:nvPr/>
        </p:nvPicPr>
        <p:blipFill rotWithShape="1">
          <a:blip r:embed="rId5">
            <a:alphaModFix/>
          </a:blip>
          <a:srcRect b="0" l="0" r="0" t="0"/>
          <a:stretch/>
        </p:blipFill>
        <p:spPr>
          <a:xfrm>
            <a:off x="1426909" y="3846967"/>
            <a:ext cx="1325564" cy="1325564"/>
          </a:xfrm>
          <a:prstGeom prst="rect">
            <a:avLst/>
          </a:prstGeom>
          <a:noFill/>
          <a:ln>
            <a:noFill/>
          </a:ln>
        </p:spPr>
      </p:pic>
      <p:pic>
        <p:nvPicPr>
          <p:cNvPr descr="Picture 2" id="206" name="Google Shape;206;p18"/>
          <p:cNvPicPr preferRelativeResize="0"/>
          <p:nvPr/>
        </p:nvPicPr>
        <p:blipFill rotWithShape="1">
          <a:blip r:embed="rId5">
            <a:alphaModFix/>
          </a:blip>
          <a:srcRect b="0" l="0" r="0" t="0"/>
          <a:stretch/>
        </p:blipFill>
        <p:spPr>
          <a:xfrm>
            <a:off x="246489" y="3846967"/>
            <a:ext cx="1325564" cy="1325564"/>
          </a:xfrm>
          <a:prstGeom prst="rect">
            <a:avLst/>
          </a:prstGeom>
          <a:noFill/>
          <a:ln>
            <a:noFill/>
          </a:ln>
        </p:spPr>
      </p:pic>
      <p:pic>
        <p:nvPicPr>
          <p:cNvPr descr="Picture 2" id="207" name="Google Shape;207;p18"/>
          <p:cNvPicPr preferRelativeResize="0"/>
          <p:nvPr/>
        </p:nvPicPr>
        <p:blipFill rotWithShape="1">
          <a:blip r:embed="rId5">
            <a:alphaModFix/>
          </a:blip>
          <a:srcRect b="0" l="0" r="0" t="0"/>
          <a:stretch/>
        </p:blipFill>
        <p:spPr>
          <a:xfrm>
            <a:off x="1416399" y="2413679"/>
            <a:ext cx="1325563" cy="1325564"/>
          </a:xfrm>
          <a:prstGeom prst="rect">
            <a:avLst/>
          </a:prstGeom>
          <a:noFill/>
          <a:ln>
            <a:noFill/>
          </a:ln>
        </p:spPr>
      </p:pic>
      <p:sp>
        <p:nvSpPr>
          <p:cNvPr id="208" name="Google Shape;208;p18"/>
          <p:cNvSpPr/>
          <p:nvPr/>
        </p:nvSpPr>
        <p:spPr>
          <a:xfrm>
            <a:off x="2986945" y="3366430"/>
            <a:ext cx="810329" cy="620487"/>
          </a:xfrm>
          <a:prstGeom prst="rightArrow">
            <a:avLst>
              <a:gd fmla="val 50000" name="adj1"/>
              <a:gd fmla="val 50000" name="adj2"/>
            </a:avLst>
          </a:prstGeom>
          <a:noFill/>
          <a:ln cap="flat" cmpd="sng" w="3810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9" name="Google Shape;209;p18"/>
          <p:cNvSpPr txBox="1"/>
          <p:nvPr/>
        </p:nvSpPr>
        <p:spPr>
          <a:xfrm>
            <a:off x="883919" y="1990486"/>
            <a:ext cx="1344969"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1923 - 2025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9"/>
          <p:cNvSpPr/>
          <p:nvPr/>
        </p:nvSpPr>
        <p:spPr>
          <a:xfrm>
            <a:off x="5640240" y="3343980"/>
            <a:ext cx="810329" cy="620487"/>
          </a:xfrm>
          <a:prstGeom prst="rightArrow">
            <a:avLst>
              <a:gd fmla="val 50000" name="adj1"/>
              <a:gd fmla="val 50000" name="adj2"/>
            </a:avLst>
          </a:prstGeom>
          <a:noFill/>
          <a:ln cap="flat" cmpd="sng" w="38100">
            <a:solidFill>
              <a:srgbClr val="E8E8E8"/>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D9D9D9"/>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 name="Google Shape;215;p19"/>
          <p:cNvSpPr txBox="1"/>
          <p:nvPr>
            <p:ph type="title"/>
          </p:nvPr>
        </p:nvSpPr>
        <p:spPr>
          <a:xfrm>
            <a:off x="678094" y="365125"/>
            <a:ext cx="10900881"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How can we measure narratives in millions of documents?</a:t>
            </a:r>
            <a:endParaRPr b="0" i="0" sz="4180" u="none" cap="none" strike="noStrike">
              <a:solidFill>
                <a:srgbClr val="000000"/>
              </a:solidFill>
              <a:latin typeface="Play"/>
              <a:ea typeface="Play"/>
              <a:cs typeface="Play"/>
              <a:sym typeface="Play"/>
            </a:endParaRPr>
          </a:p>
        </p:txBody>
      </p:sp>
      <p:pic>
        <p:nvPicPr>
          <p:cNvPr descr="Picture 10" id="216" name="Google Shape;216;p19"/>
          <p:cNvPicPr preferRelativeResize="0"/>
          <p:nvPr/>
        </p:nvPicPr>
        <p:blipFill rotWithShape="1">
          <a:blip r:embed="rId3">
            <a:alphaModFix amt="20000"/>
          </a:blip>
          <a:srcRect b="0" l="0" r="0" t="0"/>
          <a:stretch/>
        </p:blipFill>
        <p:spPr>
          <a:xfrm>
            <a:off x="6915491" y="4521610"/>
            <a:ext cx="4795653" cy="1563028"/>
          </a:xfrm>
          <a:prstGeom prst="rect">
            <a:avLst/>
          </a:prstGeom>
          <a:noFill/>
          <a:ln>
            <a:noFill/>
          </a:ln>
        </p:spPr>
      </p:pic>
      <p:pic>
        <p:nvPicPr>
          <p:cNvPr descr="Picture 12" id="217" name="Google Shape;217;p19"/>
          <p:cNvPicPr preferRelativeResize="0"/>
          <p:nvPr/>
        </p:nvPicPr>
        <p:blipFill rotWithShape="1">
          <a:blip r:embed="rId4">
            <a:alphaModFix amt="20000"/>
          </a:blip>
          <a:srcRect b="0" l="433" r="0" t="8819"/>
          <a:stretch/>
        </p:blipFill>
        <p:spPr>
          <a:xfrm>
            <a:off x="6839471" y="1690687"/>
            <a:ext cx="4947695" cy="2595934"/>
          </a:xfrm>
          <a:prstGeom prst="rect">
            <a:avLst/>
          </a:prstGeom>
          <a:noFill/>
          <a:ln>
            <a:noFill/>
          </a:ln>
        </p:spPr>
      </p:pic>
      <p:grpSp>
        <p:nvGrpSpPr>
          <p:cNvPr id="218" name="Google Shape;218;p19"/>
          <p:cNvGrpSpPr/>
          <p:nvPr/>
        </p:nvGrpSpPr>
        <p:grpSpPr>
          <a:xfrm>
            <a:off x="4090141" y="3797884"/>
            <a:ext cx="1211527" cy="178082"/>
            <a:chOff x="0" y="0"/>
            <a:chExt cx="1211526" cy="178080"/>
          </a:xfrm>
        </p:grpSpPr>
        <p:sp>
          <p:nvSpPr>
            <p:cNvPr id="219" name="Google Shape;219;p19"/>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0" name="Google Shape;220;p19"/>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1" name="Google Shape;221;p19"/>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22" name="Google Shape;222;p19"/>
          <p:cNvGrpSpPr/>
          <p:nvPr/>
        </p:nvGrpSpPr>
        <p:grpSpPr>
          <a:xfrm>
            <a:off x="4093631" y="4052284"/>
            <a:ext cx="1211528" cy="178082"/>
            <a:chOff x="0" y="0"/>
            <a:chExt cx="1211526" cy="178080"/>
          </a:xfrm>
        </p:grpSpPr>
        <p:sp>
          <p:nvSpPr>
            <p:cNvPr id="223" name="Google Shape;223;p19"/>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 name="Google Shape;224;p19"/>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5" name="Google Shape;225;p19"/>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26" name="Google Shape;226;p19"/>
          <p:cNvGrpSpPr/>
          <p:nvPr/>
        </p:nvGrpSpPr>
        <p:grpSpPr>
          <a:xfrm>
            <a:off x="4093631" y="5445697"/>
            <a:ext cx="1211528" cy="178082"/>
            <a:chOff x="0" y="0"/>
            <a:chExt cx="1211526" cy="178080"/>
          </a:xfrm>
        </p:grpSpPr>
        <p:sp>
          <p:nvSpPr>
            <p:cNvPr id="227" name="Google Shape;227;p19"/>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 name="Google Shape;228;p19"/>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 name="Google Shape;229;p19"/>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0" name="Google Shape;230;p19"/>
          <p:cNvGrpSpPr/>
          <p:nvPr/>
        </p:nvGrpSpPr>
        <p:grpSpPr>
          <a:xfrm>
            <a:off x="4093631" y="5698961"/>
            <a:ext cx="1211528" cy="182336"/>
            <a:chOff x="0" y="-1"/>
            <a:chExt cx="1211526" cy="182334"/>
          </a:xfrm>
        </p:grpSpPr>
        <p:sp>
          <p:nvSpPr>
            <p:cNvPr id="231" name="Google Shape;231;p19"/>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 name="Google Shape;232;p19"/>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 name="Google Shape;233;p19"/>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4" name="Google Shape;234;p19"/>
          <p:cNvGrpSpPr/>
          <p:nvPr/>
        </p:nvGrpSpPr>
        <p:grpSpPr>
          <a:xfrm>
            <a:off x="4084249" y="4307653"/>
            <a:ext cx="1211528" cy="182336"/>
            <a:chOff x="0" y="-1"/>
            <a:chExt cx="1211526" cy="182334"/>
          </a:xfrm>
        </p:grpSpPr>
        <p:sp>
          <p:nvSpPr>
            <p:cNvPr id="235" name="Google Shape;235;p19"/>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 name="Google Shape;236;p19"/>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 name="Google Shape;237;p19"/>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8" name="Google Shape;238;p19"/>
          <p:cNvGrpSpPr/>
          <p:nvPr/>
        </p:nvGrpSpPr>
        <p:grpSpPr>
          <a:xfrm>
            <a:off x="4089615" y="5189193"/>
            <a:ext cx="1211528" cy="182336"/>
            <a:chOff x="0" y="-1"/>
            <a:chExt cx="1211526" cy="182334"/>
          </a:xfrm>
        </p:grpSpPr>
        <p:sp>
          <p:nvSpPr>
            <p:cNvPr id="239" name="Google Shape;239;p19"/>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 name="Google Shape;240;p19"/>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 name="Google Shape;241;p19"/>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42" name="Google Shape;242;p19"/>
          <p:cNvGrpSpPr/>
          <p:nvPr/>
        </p:nvGrpSpPr>
        <p:grpSpPr>
          <a:xfrm>
            <a:off x="4098831" y="2256163"/>
            <a:ext cx="1211528" cy="178082"/>
            <a:chOff x="0" y="0"/>
            <a:chExt cx="1211526" cy="178080"/>
          </a:xfrm>
        </p:grpSpPr>
        <p:sp>
          <p:nvSpPr>
            <p:cNvPr id="243" name="Google Shape;243;p19"/>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 name="Google Shape;244;p19"/>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 name="Google Shape;245;p19"/>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46" name="Google Shape;246;p19"/>
          <p:cNvGrpSpPr/>
          <p:nvPr/>
        </p:nvGrpSpPr>
        <p:grpSpPr>
          <a:xfrm>
            <a:off x="4098831" y="2512264"/>
            <a:ext cx="1211528" cy="178082"/>
            <a:chOff x="0" y="0"/>
            <a:chExt cx="1211526" cy="178080"/>
          </a:xfrm>
        </p:grpSpPr>
        <p:sp>
          <p:nvSpPr>
            <p:cNvPr id="247" name="Google Shape;247;p19"/>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8" name="Google Shape;248;p19"/>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9" name="Google Shape;249;p19"/>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50" name="Google Shape;250;p19"/>
          <p:cNvGrpSpPr/>
          <p:nvPr/>
        </p:nvGrpSpPr>
        <p:grpSpPr>
          <a:xfrm>
            <a:off x="4098831" y="3274485"/>
            <a:ext cx="1211528" cy="178082"/>
            <a:chOff x="0" y="0"/>
            <a:chExt cx="1211526" cy="178080"/>
          </a:xfrm>
        </p:grpSpPr>
        <p:sp>
          <p:nvSpPr>
            <p:cNvPr id="251" name="Google Shape;251;p19"/>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 name="Google Shape;252;p19"/>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 name="Google Shape;253;p19"/>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54" name="Google Shape;254;p19"/>
          <p:cNvGrpSpPr/>
          <p:nvPr/>
        </p:nvGrpSpPr>
        <p:grpSpPr>
          <a:xfrm>
            <a:off x="4098831" y="3527749"/>
            <a:ext cx="1211528" cy="182336"/>
            <a:chOff x="0" y="-1"/>
            <a:chExt cx="1211526" cy="182334"/>
          </a:xfrm>
        </p:grpSpPr>
        <p:sp>
          <p:nvSpPr>
            <p:cNvPr id="255" name="Google Shape;255;p19"/>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 name="Google Shape;256;p19"/>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 name="Google Shape;257;p19"/>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58" name="Google Shape;258;p19"/>
          <p:cNvGrpSpPr/>
          <p:nvPr/>
        </p:nvGrpSpPr>
        <p:grpSpPr>
          <a:xfrm>
            <a:off x="4089451" y="2767632"/>
            <a:ext cx="1211528" cy="182336"/>
            <a:chOff x="0" y="-1"/>
            <a:chExt cx="1211526" cy="182334"/>
          </a:xfrm>
        </p:grpSpPr>
        <p:sp>
          <p:nvSpPr>
            <p:cNvPr id="259" name="Google Shape;259;p19"/>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 name="Google Shape;260;p19"/>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1" name="Google Shape;261;p19"/>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2" name="Google Shape;262;p19"/>
          <p:cNvGrpSpPr/>
          <p:nvPr/>
        </p:nvGrpSpPr>
        <p:grpSpPr>
          <a:xfrm>
            <a:off x="4094817" y="3017981"/>
            <a:ext cx="1211528" cy="182336"/>
            <a:chOff x="0" y="-1"/>
            <a:chExt cx="1211526" cy="182334"/>
          </a:xfrm>
        </p:grpSpPr>
        <p:sp>
          <p:nvSpPr>
            <p:cNvPr id="263" name="Google Shape;263;p19"/>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 name="Google Shape;264;p19"/>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 name="Google Shape;265;p19"/>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66" name="Google Shape;266;p19"/>
          <p:cNvSpPr txBox="1"/>
          <p:nvPr>
            <p:ph idx="12" type="sldNum"/>
          </p:nvPr>
        </p:nvSpPr>
        <p:spPr>
          <a:xfrm>
            <a:off x="11164902" y="6404292"/>
            <a:ext cx="188898"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267" name="Google Shape;267;p19"/>
          <p:cNvSpPr txBox="1"/>
          <p:nvPr/>
        </p:nvSpPr>
        <p:spPr>
          <a:xfrm rot="5400000">
            <a:off x="4361585" y="4782912"/>
            <a:ext cx="894054" cy="574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747474"/>
              </a:buClr>
              <a:buSzPts val="3200"/>
              <a:buFont typeface="Arial"/>
              <a:buNone/>
            </a:pPr>
            <a:r>
              <a:rPr b="0" i="0" lang="en-US" sz="3200" u="none" cap="none" strike="noStrike">
                <a:solidFill>
                  <a:srgbClr val="747474"/>
                </a:solidFill>
                <a:latin typeface="Arial"/>
                <a:ea typeface="Arial"/>
                <a:cs typeface="Arial"/>
                <a:sym typeface="Arial"/>
              </a:rPr>
              <a:t>…</a:t>
            </a:r>
            <a:endParaRPr/>
          </a:p>
        </p:txBody>
      </p:sp>
      <p:pic>
        <p:nvPicPr>
          <p:cNvPr descr="Picture 2" id="268" name="Google Shape;268;p19"/>
          <p:cNvPicPr preferRelativeResize="0"/>
          <p:nvPr/>
        </p:nvPicPr>
        <p:blipFill rotWithShape="1">
          <a:blip r:embed="rId5">
            <a:alphaModFix/>
          </a:blip>
          <a:srcRect b="0" l="0" r="0" t="0"/>
          <a:stretch/>
        </p:blipFill>
        <p:spPr>
          <a:xfrm>
            <a:off x="246489" y="2413680"/>
            <a:ext cx="1325564" cy="1325564"/>
          </a:xfrm>
          <a:prstGeom prst="rect">
            <a:avLst/>
          </a:prstGeom>
          <a:noFill/>
          <a:ln>
            <a:noFill/>
          </a:ln>
        </p:spPr>
      </p:pic>
      <p:pic>
        <p:nvPicPr>
          <p:cNvPr descr="Picture 2" id="269" name="Google Shape;269;p19"/>
          <p:cNvPicPr preferRelativeResize="0"/>
          <p:nvPr/>
        </p:nvPicPr>
        <p:blipFill rotWithShape="1">
          <a:blip r:embed="rId5">
            <a:alphaModFix/>
          </a:blip>
          <a:srcRect b="0" l="0" r="0" t="0"/>
          <a:stretch/>
        </p:blipFill>
        <p:spPr>
          <a:xfrm>
            <a:off x="1426909" y="3846967"/>
            <a:ext cx="1325564" cy="1325564"/>
          </a:xfrm>
          <a:prstGeom prst="rect">
            <a:avLst/>
          </a:prstGeom>
          <a:noFill/>
          <a:ln>
            <a:noFill/>
          </a:ln>
        </p:spPr>
      </p:pic>
      <p:pic>
        <p:nvPicPr>
          <p:cNvPr descr="Picture 2" id="270" name="Google Shape;270;p19"/>
          <p:cNvPicPr preferRelativeResize="0"/>
          <p:nvPr/>
        </p:nvPicPr>
        <p:blipFill rotWithShape="1">
          <a:blip r:embed="rId5">
            <a:alphaModFix/>
          </a:blip>
          <a:srcRect b="0" l="0" r="0" t="0"/>
          <a:stretch/>
        </p:blipFill>
        <p:spPr>
          <a:xfrm>
            <a:off x="246489" y="3846967"/>
            <a:ext cx="1325564" cy="1325564"/>
          </a:xfrm>
          <a:prstGeom prst="rect">
            <a:avLst/>
          </a:prstGeom>
          <a:noFill/>
          <a:ln>
            <a:noFill/>
          </a:ln>
        </p:spPr>
      </p:pic>
      <p:pic>
        <p:nvPicPr>
          <p:cNvPr descr="Picture 2" id="271" name="Google Shape;271;p19"/>
          <p:cNvPicPr preferRelativeResize="0"/>
          <p:nvPr/>
        </p:nvPicPr>
        <p:blipFill rotWithShape="1">
          <a:blip r:embed="rId5">
            <a:alphaModFix/>
          </a:blip>
          <a:srcRect b="0" l="0" r="0" t="0"/>
          <a:stretch/>
        </p:blipFill>
        <p:spPr>
          <a:xfrm>
            <a:off x="1416399" y="2413679"/>
            <a:ext cx="1325563" cy="1325564"/>
          </a:xfrm>
          <a:prstGeom prst="rect">
            <a:avLst/>
          </a:prstGeom>
          <a:noFill/>
          <a:ln>
            <a:noFill/>
          </a:ln>
        </p:spPr>
      </p:pic>
      <p:sp>
        <p:nvSpPr>
          <p:cNvPr id="272" name="Google Shape;272;p19"/>
          <p:cNvSpPr/>
          <p:nvPr/>
        </p:nvSpPr>
        <p:spPr>
          <a:xfrm>
            <a:off x="2986945" y="3366430"/>
            <a:ext cx="810329" cy="620487"/>
          </a:xfrm>
          <a:prstGeom prst="rightArrow">
            <a:avLst>
              <a:gd fmla="val 50000" name="adj1"/>
              <a:gd fmla="val 50000" name="adj2"/>
            </a:avLst>
          </a:prstGeom>
          <a:noFill/>
          <a:ln cap="flat" cmpd="sng" w="3810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 name="Google Shape;273;p19"/>
          <p:cNvSpPr txBox="1"/>
          <p:nvPr/>
        </p:nvSpPr>
        <p:spPr>
          <a:xfrm>
            <a:off x="883919" y="1990486"/>
            <a:ext cx="1344969"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1923 - 2025</a:t>
            </a:r>
            <a:endParaRPr/>
          </a:p>
        </p:txBody>
      </p:sp>
      <p:sp>
        <p:nvSpPr>
          <p:cNvPr id="274" name="Google Shape;274;p19"/>
          <p:cNvSpPr/>
          <p:nvPr/>
        </p:nvSpPr>
        <p:spPr>
          <a:xfrm>
            <a:off x="163586" y="1818577"/>
            <a:ext cx="5307368" cy="4529058"/>
          </a:xfrm>
          <a:prstGeom prst="rect">
            <a:avLst/>
          </a:prstGeom>
          <a:noFill/>
          <a:ln cap="flat" cmpd="sng" w="28575">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Example: Causal Micro-Narratives</a:t>
            </a:r>
            <a:endParaRPr/>
          </a:p>
        </p:txBody>
      </p:sp>
      <p:grpSp>
        <p:nvGrpSpPr>
          <p:cNvPr id="280" name="Google Shape;280;p20"/>
          <p:cNvGrpSpPr/>
          <p:nvPr/>
        </p:nvGrpSpPr>
        <p:grpSpPr>
          <a:xfrm>
            <a:off x="6439184" y="1846494"/>
            <a:ext cx="5009091" cy="1233593"/>
            <a:chOff x="0" y="0"/>
            <a:chExt cx="5009089" cy="1233591"/>
          </a:xfrm>
        </p:grpSpPr>
        <p:sp>
          <p:nvSpPr>
            <p:cNvPr id="281" name="Google Shape;281;p20"/>
            <p:cNvSpPr/>
            <p:nvPr/>
          </p:nvSpPr>
          <p:spPr>
            <a:xfrm>
              <a:off x="0" y="0"/>
              <a:ext cx="4943078" cy="1233591"/>
            </a:xfrm>
            <a:prstGeom prst="roundRect">
              <a:avLst>
                <a:gd fmla="val 4762" name="adj"/>
              </a:avLst>
            </a:prstGeom>
            <a:solidFill>
              <a:srgbClr val="ECECEC"/>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2" name="Google Shape;282;p20"/>
            <p:cNvSpPr txBox="1"/>
            <p:nvPr/>
          </p:nvSpPr>
          <p:spPr>
            <a:xfrm>
              <a:off x="118290" y="65863"/>
              <a:ext cx="4890799" cy="955041"/>
            </a:xfrm>
            <a:prstGeom prst="rect">
              <a:avLst/>
            </a:prstGeom>
            <a:noFill/>
            <a:ln>
              <a:noFill/>
            </a:ln>
          </p:spPr>
          <p:txBody>
            <a:bodyPr anchorCtr="0" anchor="t" bIns="45700" lIns="45700" spcFirstLastPara="1" rIns="45700" wrap="square" tIns="45700">
              <a:spAutoFit/>
            </a:bodyPr>
            <a:lstStyle/>
            <a:p>
              <a:pPr indent="0" lvl="0" marL="0" marR="0" rtl="0" algn="l">
                <a:lnSpc>
                  <a:spcPct val="150000"/>
                </a:lnSpc>
                <a:spcBef>
                  <a:spcPts val="0"/>
                </a:spcBef>
                <a:spcAft>
                  <a:spcPts val="0"/>
                </a:spcAft>
                <a:buClr>
                  <a:srgbClr val="000000"/>
                </a:buClr>
                <a:buSzPts val="1400"/>
                <a:buFont typeface="Century Schoolbook"/>
                <a:buNone/>
              </a:pPr>
              <a:r>
                <a:rPr b="1" i="0" lang="en-US" sz="1400" u="none" cap="none" strike="noStrike">
                  <a:solidFill>
                    <a:srgbClr val="000000"/>
                  </a:solidFill>
                  <a:latin typeface="Century Schoolbook"/>
                  <a:ea typeface="Century Schoolbook"/>
                  <a:cs typeface="Century Schoolbook"/>
                  <a:sym typeface="Century Schoolbook"/>
                </a:rPr>
                <a:t>If these fiscal policies materialize</a:t>
              </a:r>
              <a:r>
                <a:rPr b="0" i="0" lang="en-US" sz="1400" u="none" cap="none" strike="noStrike">
                  <a:solidFill>
                    <a:srgbClr val="000000"/>
                  </a:solidFill>
                  <a:latin typeface="Century Schoolbook"/>
                  <a:ea typeface="Century Schoolbook"/>
                  <a:cs typeface="Century Schoolbook"/>
                  <a:sym typeface="Century Schoolbook"/>
                </a:rPr>
                <a:t>, they are likely to boost economic growth and spur </a:t>
              </a:r>
              <a:r>
                <a:rPr b="0" i="0" lang="en-US" sz="1400" u="sng" cap="none" strike="noStrike">
                  <a:solidFill>
                    <a:srgbClr val="000000"/>
                  </a:solidFill>
                  <a:latin typeface="Century Schoolbook"/>
                  <a:ea typeface="Century Schoolbook"/>
                  <a:cs typeface="Century Schoolbook"/>
                  <a:sym typeface="Century Schoolbook"/>
                </a:rPr>
                <a:t>inflation</a:t>
              </a:r>
              <a:r>
                <a:rPr b="0" i="0" lang="en-US" sz="1400" u="none" cap="none" strike="noStrike">
                  <a:solidFill>
                    <a:srgbClr val="000000"/>
                  </a:solidFill>
                  <a:latin typeface="Century Schoolbook"/>
                  <a:ea typeface="Century Schoolbook"/>
                  <a:cs typeface="Century Schoolbook"/>
                  <a:sym typeface="Century Schoolbook"/>
                </a:rPr>
                <a:t>, potentially </a:t>
              </a:r>
              <a:r>
                <a:rPr b="1" i="0" lang="en-US" sz="1400" u="none" cap="none" strike="noStrike">
                  <a:solidFill>
                    <a:srgbClr val="000000"/>
                  </a:solidFill>
                  <a:latin typeface="Century Schoolbook"/>
                  <a:ea typeface="Century Schoolbook"/>
                  <a:cs typeface="Century Schoolbook"/>
                  <a:sym typeface="Century Schoolbook"/>
                </a:rPr>
                <a:t>forcing the Fed to hike rates </a:t>
              </a:r>
              <a:r>
                <a:rPr b="0" i="0" lang="en-US" sz="1400" u="none" cap="none" strike="noStrike">
                  <a:solidFill>
                    <a:srgbClr val="000000"/>
                  </a:solidFill>
                  <a:latin typeface="Century Schoolbook"/>
                  <a:ea typeface="Century Schoolbook"/>
                  <a:cs typeface="Century Schoolbook"/>
                  <a:sym typeface="Century Schoolbook"/>
                </a:rPr>
                <a:t>more quickly to keep up.</a:t>
              </a:r>
              <a:endParaRPr/>
            </a:p>
          </p:txBody>
        </p:sp>
      </p:grpSp>
      <p:grpSp>
        <p:nvGrpSpPr>
          <p:cNvPr id="283" name="Google Shape;283;p20"/>
          <p:cNvGrpSpPr/>
          <p:nvPr/>
        </p:nvGrpSpPr>
        <p:grpSpPr>
          <a:xfrm>
            <a:off x="838199" y="1839717"/>
            <a:ext cx="4938488" cy="1222797"/>
            <a:chOff x="0" y="0"/>
            <a:chExt cx="4938487" cy="1222796"/>
          </a:xfrm>
        </p:grpSpPr>
        <p:sp>
          <p:nvSpPr>
            <p:cNvPr id="284" name="Google Shape;284;p20"/>
            <p:cNvSpPr/>
            <p:nvPr/>
          </p:nvSpPr>
          <p:spPr>
            <a:xfrm>
              <a:off x="0" y="0"/>
              <a:ext cx="4938487" cy="1222796"/>
            </a:xfrm>
            <a:prstGeom prst="roundRect">
              <a:avLst>
                <a:gd fmla="val 7478" name="adj"/>
              </a:avLst>
            </a:prstGeom>
            <a:solidFill>
              <a:srgbClr val="ECECEC"/>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5" name="Google Shape;285;p20"/>
            <p:cNvSpPr txBox="1"/>
            <p:nvPr/>
          </p:nvSpPr>
          <p:spPr>
            <a:xfrm>
              <a:off x="144655" y="230273"/>
              <a:ext cx="4732266" cy="694691"/>
            </a:xfrm>
            <a:prstGeom prst="rect">
              <a:avLst/>
            </a:prstGeom>
            <a:noFill/>
            <a:ln>
              <a:noFill/>
            </a:ln>
          </p:spPr>
          <p:txBody>
            <a:bodyPr anchorCtr="0" anchor="t" bIns="45700" lIns="45700" spcFirstLastPara="1" rIns="45700" wrap="square" tIns="45700">
              <a:spAutoFit/>
            </a:bodyPr>
            <a:lstStyle/>
            <a:p>
              <a:pPr indent="0" lvl="0" marL="0" marR="0" rtl="0" algn="l">
                <a:lnSpc>
                  <a:spcPct val="150000"/>
                </a:lnSpc>
                <a:spcBef>
                  <a:spcPts val="0"/>
                </a:spcBef>
                <a:spcAft>
                  <a:spcPts val="0"/>
                </a:spcAft>
                <a:buClr>
                  <a:srgbClr val="000000"/>
                </a:buClr>
                <a:buSzPts val="1600"/>
                <a:buFont typeface="Century Schoolbook"/>
                <a:buNone/>
              </a:pPr>
              <a:r>
                <a:rPr b="0" i="0" lang="en-US" sz="1600" u="none" cap="none" strike="noStrike">
                  <a:solidFill>
                    <a:srgbClr val="000000"/>
                  </a:solidFill>
                  <a:latin typeface="Century Schoolbook"/>
                  <a:ea typeface="Century Schoolbook"/>
                  <a:cs typeface="Century Schoolbook"/>
                  <a:sym typeface="Century Schoolbook"/>
                </a:rPr>
                <a:t>A year ago the administration assumed inflation would run at 7.5 percent in 1979.</a:t>
              </a:r>
              <a:endParaRPr/>
            </a:p>
          </p:txBody>
        </p:sp>
      </p:grpSp>
      <p:grpSp>
        <p:nvGrpSpPr>
          <p:cNvPr id="286" name="Google Shape;286;p20"/>
          <p:cNvGrpSpPr/>
          <p:nvPr/>
        </p:nvGrpSpPr>
        <p:grpSpPr>
          <a:xfrm>
            <a:off x="6083468" y="3483387"/>
            <a:ext cx="5270333" cy="869979"/>
            <a:chOff x="0" y="-1"/>
            <a:chExt cx="5270331" cy="869978"/>
          </a:xfrm>
        </p:grpSpPr>
        <p:grpSp>
          <p:nvGrpSpPr>
            <p:cNvPr id="287" name="Google Shape;287;p20"/>
            <p:cNvGrpSpPr/>
            <p:nvPr/>
          </p:nvGrpSpPr>
          <p:grpSpPr>
            <a:xfrm>
              <a:off x="811361" y="65554"/>
              <a:ext cx="1801578" cy="447260"/>
              <a:chOff x="0" y="0"/>
              <a:chExt cx="1801577" cy="447258"/>
            </a:xfrm>
          </p:grpSpPr>
          <p:sp>
            <p:nvSpPr>
              <p:cNvPr id="288" name="Google Shape;288;p20"/>
              <p:cNvSpPr/>
              <p:nvPr/>
            </p:nvSpPr>
            <p:spPr>
              <a:xfrm>
                <a:off x="0" y="0"/>
                <a:ext cx="1767239" cy="447258"/>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9" name="Google Shape;289;p20"/>
              <p:cNvSpPr txBox="1"/>
              <p:nvPr/>
            </p:nvSpPr>
            <p:spPr>
              <a:xfrm>
                <a:off x="142751" y="28362"/>
                <a:ext cx="1658826"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Fiscal Factors</a:t>
                </a:r>
                <a:endParaRPr/>
              </a:p>
            </p:txBody>
          </p:sp>
        </p:grpSp>
        <p:sp>
          <p:nvSpPr>
            <p:cNvPr id="290" name="Google Shape;290;p20"/>
            <p:cNvSpPr/>
            <p:nvPr/>
          </p:nvSpPr>
          <p:spPr>
            <a:xfrm rot="-5400000">
              <a:off x="2826489" y="162447"/>
              <a:ext cx="113265" cy="266877"/>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1" name="Google Shape;291;p20"/>
            <p:cNvSpPr txBox="1"/>
            <p:nvPr/>
          </p:nvSpPr>
          <p:spPr>
            <a:xfrm>
              <a:off x="0" y="133225"/>
              <a:ext cx="502148" cy="332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747474"/>
                </a:buClr>
                <a:buSzPts val="1600"/>
                <a:buFont typeface="Arial"/>
                <a:buNone/>
              </a:pPr>
              <a:r>
                <a:rPr b="1" i="0" lang="en-US" sz="1600" u="none" cap="none" strike="noStrike">
                  <a:solidFill>
                    <a:srgbClr val="747474"/>
                  </a:solidFill>
                  <a:latin typeface="Arial"/>
                  <a:ea typeface="Arial"/>
                  <a:cs typeface="Arial"/>
                  <a:sym typeface="Arial"/>
                </a:rPr>
                <a:t>N1 :</a:t>
              </a:r>
              <a:endParaRPr/>
            </a:p>
          </p:txBody>
        </p:sp>
        <p:sp>
          <p:nvSpPr>
            <p:cNvPr id="292" name="Google Shape;292;p20"/>
            <p:cNvSpPr txBox="1"/>
            <p:nvPr/>
          </p:nvSpPr>
          <p:spPr>
            <a:xfrm>
              <a:off x="1342370" y="499136"/>
              <a:ext cx="834175"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cause</a:t>
              </a:r>
              <a:endParaRPr/>
            </a:p>
          </p:txBody>
        </p:sp>
        <p:grpSp>
          <p:nvGrpSpPr>
            <p:cNvPr id="293" name="Google Shape;293;p20"/>
            <p:cNvGrpSpPr/>
            <p:nvPr/>
          </p:nvGrpSpPr>
          <p:grpSpPr>
            <a:xfrm>
              <a:off x="3220671" y="65053"/>
              <a:ext cx="1795860" cy="447260"/>
              <a:chOff x="0" y="0"/>
              <a:chExt cx="1795859" cy="447258"/>
            </a:xfrm>
          </p:grpSpPr>
          <p:sp>
            <p:nvSpPr>
              <p:cNvPr id="294" name="Google Shape;294;p20"/>
              <p:cNvSpPr/>
              <p:nvPr/>
            </p:nvSpPr>
            <p:spPr>
              <a:xfrm>
                <a:off x="0" y="0"/>
                <a:ext cx="1795859" cy="447258"/>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5" name="Google Shape;295;p20"/>
              <p:cNvSpPr txBox="1"/>
              <p:nvPr/>
            </p:nvSpPr>
            <p:spPr>
              <a:xfrm>
                <a:off x="483679" y="33349"/>
                <a:ext cx="995056"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Inflation</a:t>
                </a:r>
                <a:endParaRPr/>
              </a:p>
            </p:txBody>
          </p:sp>
        </p:grpSp>
        <p:sp>
          <p:nvSpPr>
            <p:cNvPr id="296" name="Google Shape;296;p20"/>
            <p:cNvSpPr txBox="1"/>
            <p:nvPr/>
          </p:nvSpPr>
          <p:spPr>
            <a:xfrm>
              <a:off x="3767756" y="497642"/>
              <a:ext cx="739639"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Effect</a:t>
              </a:r>
              <a:endParaRPr/>
            </a:p>
          </p:txBody>
        </p:sp>
        <p:sp>
          <p:nvSpPr>
            <p:cNvPr id="297" name="Google Shape;297;p20"/>
            <p:cNvSpPr/>
            <p:nvPr/>
          </p:nvSpPr>
          <p:spPr>
            <a:xfrm>
              <a:off x="557650" y="3203"/>
              <a:ext cx="102695" cy="557168"/>
            </a:xfrm>
            <a:custGeom>
              <a:rect b="b" l="l" r="r" t="t"/>
              <a:pathLst>
                <a:path extrusionOk="0" h="21600" w="21600">
                  <a:moveTo>
                    <a:pt x="21600" y="21600"/>
                  </a:moveTo>
                  <a:cubicBezTo>
                    <a:pt x="9671" y="21600"/>
                    <a:pt x="0" y="21451"/>
                    <a:pt x="0" y="21268"/>
                  </a:cubicBezTo>
                  <a:lnTo>
                    <a:pt x="0" y="332"/>
                  </a:lnTo>
                  <a:cubicBezTo>
                    <a:pt x="0" y="149"/>
                    <a:pt x="9671" y="0"/>
                    <a:pt x="21600" y="0"/>
                  </a:cubicBezTo>
                </a:path>
              </a:pathLst>
            </a:custGeom>
            <a:noFill/>
            <a:ln cap="flat" cmpd="sng" w="19050">
              <a:solidFill>
                <a:srgbClr val="747474"/>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8" name="Google Shape;298;p20"/>
            <p:cNvSpPr/>
            <p:nvPr/>
          </p:nvSpPr>
          <p:spPr>
            <a:xfrm rot="10800000">
              <a:off x="5167636" y="-1"/>
              <a:ext cx="102695" cy="557169"/>
            </a:xfrm>
            <a:custGeom>
              <a:rect b="b" l="l" r="r" t="t"/>
              <a:pathLst>
                <a:path extrusionOk="0" h="21600" w="21600">
                  <a:moveTo>
                    <a:pt x="21600" y="21600"/>
                  </a:moveTo>
                  <a:cubicBezTo>
                    <a:pt x="9671" y="21600"/>
                    <a:pt x="0" y="21451"/>
                    <a:pt x="0" y="21268"/>
                  </a:cubicBezTo>
                  <a:lnTo>
                    <a:pt x="0" y="332"/>
                  </a:lnTo>
                  <a:cubicBezTo>
                    <a:pt x="0" y="149"/>
                    <a:pt x="9671" y="0"/>
                    <a:pt x="21600" y="0"/>
                  </a:cubicBezTo>
                </a:path>
              </a:pathLst>
            </a:custGeom>
            <a:noFill/>
            <a:ln cap="flat" cmpd="sng" w="19050">
              <a:solidFill>
                <a:srgbClr val="747474"/>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99" name="Google Shape;299;p20"/>
          <p:cNvGrpSpPr/>
          <p:nvPr/>
        </p:nvGrpSpPr>
        <p:grpSpPr>
          <a:xfrm>
            <a:off x="6076029" y="4453242"/>
            <a:ext cx="5277773" cy="870902"/>
            <a:chOff x="0" y="0"/>
            <a:chExt cx="5277772" cy="870901"/>
          </a:xfrm>
        </p:grpSpPr>
        <p:grpSp>
          <p:nvGrpSpPr>
            <p:cNvPr id="300" name="Google Shape;300;p20"/>
            <p:cNvGrpSpPr/>
            <p:nvPr/>
          </p:nvGrpSpPr>
          <p:grpSpPr>
            <a:xfrm>
              <a:off x="3228110" y="53643"/>
              <a:ext cx="1794354" cy="447259"/>
              <a:chOff x="0" y="0"/>
              <a:chExt cx="1794352" cy="447257"/>
            </a:xfrm>
          </p:grpSpPr>
          <p:sp>
            <p:nvSpPr>
              <p:cNvPr id="301" name="Google Shape;301;p20"/>
              <p:cNvSpPr/>
              <p:nvPr/>
            </p:nvSpPr>
            <p:spPr>
              <a:xfrm>
                <a:off x="0" y="0"/>
                <a:ext cx="1767239" cy="447257"/>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2" name="Google Shape;302;p20"/>
              <p:cNvSpPr/>
              <p:nvPr/>
            </p:nvSpPr>
            <p:spPr>
              <a:xfrm>
                <a:off x="15665" y="82505"/>
                <a:ext cx="1778687"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Rates Increased</a:t>
                </a:r>
                <a:endParaRPr/>
              </a:p>
            </p:txBody>
          </p:sp>
        </p:grpSp>
        <p:sp>
          <p:nvSpPr>
            <p:cNvPr id="303" name="Google Shape;303;p20"/>
            <p:cNvSpPr txBox="1"/>
            <p:nvPr/>
          </p:nvSpPr>
          <p:spPr>
            <a:xfrm>
              <a:off x="3792232" y="500060"/>
              <a:ext cx="834175"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effect</a:t>
              </a:r>
              <a:endParaRPr/>
            </a:p>
          </p:txBody>
        </p:sp>
        <p:sp>
          <p:nvSpPr>
            <p:cNvPr id="304" name="Google Shape;304;p20"/>
            <p:cNvSpPr/>
            <p:nvPr/>
          </p:nvSpPr>
          <p:spPr>
            <a:xfrm rot="-5400000">
              <a:off x="2833929" y="139000"/>
              <a:ext cx="113264" cy="266877"/>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05" name="Google Shape;305;p20"/>
            <p:cNvGrpSpPr/>
            <p:nvPr/>
          </p:nvGrpSpPr>
          <p:grpSpPr>
            <a:xfrm>
              <a:off x="790182" y="54422"/>
              <a:ext cx="1795860" cy="447259"/>
              <a:chOff x="0" y="0"/>
              <a:chExt cx="1795859" cy="447257"/>
            </a:xfrm>
          </p:grpSpPr>
          <p:sp>
            <p:nvSpPr>
              <p:cNvPr id="306" name="Google Shape;306;p20"/>
              <p:cNvSpPr/>
              <p:nvPr/>
            </p:nvSpPr>
            <p:spPr>
              <a:xfrm>
                <a:off x="0" y="0"/>
                <a:ext cx="1795859" cy="447257"/>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7" name="Google Shape;307;p20"/>
              <p:cNvSpPr txBox="1"/>
              <p:nvPr/>
            </p:nvSpPr>
            <p:spPr>
              <a:xfrm>
                <a:off x="483679" y="33349"/>
                <a:ext cx="995056"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Inflation</a:t>
                </a:r>
                <a:endParaRPr/>
              </a:p>
            </p:txBody>
          </p:sp>
        </p:grpSp>
        <p:sp>
          <p:nvSpPr>
            <p:cNvPr id="308" name="Google Shape;308;p20"/>
            <p:cNvSpPr txBox="1"/>
            <p:nvPr/>
          </p:nvSpPr>
          <p:spPr>
            <a:xfrm>
              <a:off x="1337267" y="487011"/>
              <a:ext cx="739640"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cause</a:t>
              </a:r>
              <a:endParaRPr/>
            </a:p>
          </p:txBody>
        </p:sp>
        <p:sp>
          <p:nvSpPr>
            <p:cNvPr id="309" name="Google Shape;309;p20"/>
            <p:cNvSpPr/>
            <p:nvPr/>
          </p:nvSpPr>
          <p:spPr>
            <a:xfrm>
              <a:off x="565090" y="3203"/>
              <a:ext cx="102695" cy="557167"/>
            </a:xfrm>
            <a:custGeom>
              <a:rect b="b" l="l" r="r" t="t"/>
              <a:pathLst>
                <a:path extrusionOk="0" h="21600" w="21600">
                  <a:moveTo>
                    <a:pt x="21600" y="21600"/>
                  </a:moveTo>
                  <a:cubicBezTo>
                    <a:pt x="9671" y="21600"/>
                    <a:pt x="0" y="21451"/>
                    <a:pt x="0" y="21268"/>
                  </a:cubicBezTo>
                  <a:lnTo>
                    <a:pt x="0" y="332"/>
                  </a:lnTo>
                  <a:cubicBezTo>
                    <a:pt x="0" y="149"/>
                    <a:pt x="9671" y="0"/>
                    <a:pt x="21600" y="0"/>
                  </a:cubicBezTo>
                </a:path>
              </a:pathLst>
            </a:custGeom>
            <a:noFill/>
            <a:ln cap="flat" cmpd="sng" w="19050">
              <a:solidFill>
                <a:srgbClr val="747474"/>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0" name="Google Shape;310;p20"/>
            <p:cNvSpPr/>
            <p:nvPr/>
          </p:nvSpPr>
          <p:spPr>
            <a:xfrm rot="10800000">
              <a:off x="5175077" y="0"/>
              <a:ext cx="102695" cy="557167"/>
            </a:xfrm>
            <a:custGeom>
              <a:rect b="b" l="l" r="r" t="t"/>
              <a:pathLst>
                <a:path extrusionOk="0" h="21600" w="21600">
                  <a:moveTo>
                    <a:pt x="21600" y="21600"/>
                  </a:moveTo>
                  <a:cubicBezTo>
                    <a:pt x="9671" y="21600"/>
                    <a:pt x="0" y="21451"/>
                    <a:pt x="0" y="21268"/>
                  </a:cubicBezTo>
                  <a:lnTo>
                    <a:pt x="0" y="332"/>
                  </a:lnTo>
                  <a:cubicBezTo>
                    <a:pt x="0" y="149"/>
                    <a:pt x="9671" y="0"/>
                    <a:pt x="21600" y="0"/>
                  </a:cubicBezTo>
                </a:path>
              </a:pathLst>
            </a:custGeom>
            <a:noFill/>
            <a:ln cap="flat" cmpd="sng" w="19050">
              <a:solidFill>
                <a:srgbClr val="747474"/>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1" name="Google Shape;311;p20"/>
            <p:cNvSpPr txBox="1"/>
            <p:nvPr/>
          </p:nvSpPr>
          <p:spPr>
            <a:xfrm>
              <a:off x="0" y="91635"/>
              <a:ext cx="502148" cy="332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747474"/>
                </a:buClr>
                <a:buSzPts val="1600"/>
                <a:buFont typeface="Arial"/>
                <a:buNone/>
              </a:pPr>
              <a:r>
                <a:rPr b="1" i="0" lang="en-US" sz="1600" u="none" cap="none" strike="noStrike">
                  <a:solidFill>
                    <a:srgbClr val="747474"/>
                  </a:solidFill>
                  <a:latin typeface="Arial"/>
                  <a:ea typeface="Arial"/>
                  <a:cs typeface="Arial"/>
                  <a:sym typeface="Arial"/>
                </a:rPr>
                <a:t>N2 :</a:t>
              </a:r>
              <a:endParaRPr/>
            </a:p>
          </p:txBody>
        </p:sp>
      </p:grpSp>
      <p:grpSp>
        <p:nvGrpSpPr>
          <p:cNvPr id="312" name="Google Shape;312;p20"/>
          <p:cNvGrpSpPr/>
          <p:nvPr/>
        </p:nvGrpSpPr>
        <p:grpSpPr>
          <a:xfrm>
            <a:off x="2156048" y="3642809"/>
            <a:ext cx="2302789" cy="468004"/>
            <a:chOff x="0" y="0"/>
            <a:chExt cx="2302787" cy="468003"/>
          </a:xfrm>
        </p:grpSpPr>
        <p:sp>
          <p:nvSpPr>
            <p:cNvPr id="313" name="Google Shape;313;p20"/>
            <p:cNvSpPr/>
            <p:nvPr/>
          </p:nvSpPr>
          <p:spPr>
            <a:xfrm>
              <a:off x="0" y="0"/>
              <a:ext cx="2302787" cy="468003"/>
            </a:xfrm>
            <a:prstGeom prst="roundRect">
              <a:avLst>
                <a:gd fmla="val 5991" name="adj"/>
              </a:avLst>
            </a:prstGeom>
            <a:solidFill>
              <a:srgbClr val="F2AA8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4" name="Google Shape;314;p20"/>
            <p:cNvSpPr txBox="1"/>
            <p:nvPr/>
          </p:nvSpPr>
          <p:spPr>
            <a:xfrm>
              <a:off x="442024" y="33945"/>
              <a:ext cx="1591507" cy="3962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 narrative</a:t>
              </a:r>
              <a:endParaRPr/>
            </a:p>
          </p:txBody>
        </p:sp>
      </p:grpSp>
      <p:sp>
        <p:nvSpPr>
          <p:cNvPr id="315" name="Google Shape;315;p20"/>
          <p:cNvSpPr txBox="1"/>
          <p:nvPr>
            <p:ph idx="12" type="sldNum"/>
          </p:nvPr>
        </p:nvSpPr>
        <p:spPr>
          <a:xfrm>
            <a:off x="11091381" y="6404292"/>
            <a:ext cx="262420"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316" name="Google Shape;316;p20"/>
          <p:cNvSpPr txBox="1"/>
          <p:nvPr/>
        </p:nvSpPr>
        <p:spPr>
          <a:xfrm>
            <a:off x="1257299" y="5465329"/>
            <a:ext cx="9677401" cy="974091"/>
          </a:xfrm>
          <a:prstGeom prst="rect">
            <a:avLst/>
          </a:prstGeom>
          <a:noFill/>
          <a:ln cap="flat" cmpd="sng" w="19050">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Causal Micro-Narrative</a:t>
            </a:r>
            <a:r>
              <a:rPr b="0" i="0" lang="en-US" sz="2800" u="none" cap="none" strike="noStrike">
                <a:solidFill>
                  <a:srgbClr val="000000"/>
                </a:solidFill>
                <a:latin typeface="Arial"/>
                <a:ea typeface="Arial"/>
                <a:cs typeface="Arial"/>
                <a:sym typeface="Arial"/>
              </a:rPr>
              <a:t>:</a:t>
            </a:r>
            <a:r>
              <a:rPr b="0" i="1" lang="en-US" sz="2800" u="none" cap="none" strike="noStrike">
                <a:solidFill>
                  <a:srgbClr val="000000"/>
                </a:solidFill>
                <a:latin typeface="Arial"/>
                <a:ea typeface="Arial"/>
                <a:cs typeface="Arial"/>
                <a:sym typeface="Arial"/>
              </a:rPr>
              <a:t> a sentence-level explanation of the cause(s) and/or effect(s) of a target subject.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Definition: Causal Micro-Narratives</a:t>
            </a:r>
            <a:endParaRPr/>
          </a:p>
        </p:txBody>
      </p:sp>
      <p:sp>
        <p:nvSpPr>
          <p:cNvPr id="322" name="Google Shape;322;p21"/>
          <p:cNvSpPr txBox="1"/>
          <p:nvPr>
            <p:ph idx="1" type="body"/>
          </p:nvPr>
        </p:nvSpPr>
        <p:spPr>
          <a:xfrm>
            <a:off x="838200" y="3509319"/>
            <a:ext cx="10515600" cy="2747963"/>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lang="en-US"/>
              <a:t>Prioritize measuring meaningful and interpretable narratives.</a:t>
            </a:r>
            <a:endParaRPr/>
          </a:p>
          <a:p>
            <a:pPr indent="-228600" lvl="0" marL="228600" rtl="0" algn="l">
              <a:lnSpc>
                <a:spcPct val="90000"/>
              </a:lnSpc>
              <a:spcBef>
                <a:spcPts val="1000"/>
              </a:spcBef>
              <a:spcAft>
                <a:spcPts val="0"/>
              </a:spcAft>
              <a:buClr>
                <a:srgbClr val="000000"/>
              </a:buClr>
              <a:buSzPts val="2800"/>
              <a:buChar char="•"/>
            </a:pPr>
            <a:r>
              <a:rPr lang="en-US"/>
              <a:t>Make limited assumptions about text structure and syntax.</a:t>
            </a:r>
            <a:endParaRPr/>
          </a:p>
          <a:p>
            <a:pPr indent="-228600" lvl="0" marL="228600" rtl="0" algn="l">
              <a:lnSpc>
                <a:spcPct val="90000"/>
              </a:lnSpc>
              <a:spcBef>
                <a:spcPts val="1000"/>
              </a:spcBef>
              <a:spcAft>
                <a:spcPts val="0"/>
              </a:spcAft>
              <a:buClr>
                <a:srgbClr val="000000"/>
              </a:buClr>
              <a:buSzPts val="2800"/>
              <a:buChar char="•"/>
            </a:pPr>
            <a:r>
              <a:rPr lang="en-US"/>
              <a:t>Sentence as unit of analysis.</a:t>
            </a:r>
            <a:endParaRPr/>
          </a:p>
        </p:txBody>
      </p:sp>
      <p:sp>
        <p:nvSpPr>
          <p:cNvPr id="323" name="Google Shape;323;p2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324" name="Google Shape;324;p21"/>
          <p:cNvSpPr txBox="1"/>
          <p:nvPr/>
        </p:nvSpPr>
        <p:spPr>
          <a:xfrm>
            <a:off x="780036" y="1870075"/>
            <a:ext cx="10631928" cy="974091"/>
          </a:xfrm>
          <a:prstGeom prst="rect">
            <a:avLst/>
          </a:prstGeom>
          <a:noFill/>
          <a:ln cap="flat" cmpd="sng" w="19050">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1" lang="en-US" sz="2800" u="none" cap="none" strike="noStrike">
                <a:solidFill>
                  <a:srgbClr val="000000"/>
                </a:solidFill>
                <a:latin typeface="Arial"/>
                <a:ea typeface="Arial"/>
                <a:cs typeface="Arial"/>
                <a:sym typeface="Arial"/>
              </a:rPr>
              <a:t>a </a:t>
            </a:r>
            <a:r>
              <a:rPr b="1" i="1" lang="en-US" sz="2800" u="none" cap="none" strike="noStrike">
                <a:solidFill>
                  <a:srgbClr val="000000"/>
                </a:solidFill>
                <a:latin typeface="Arial"/>
                <a:ea typeface="Arial"/>
                <a:cs typeface="Arial"/>
                <a:sym typeface="Arial"/>
              </a:rPr>
              <a:t>sentence-level explanation</a:t>
            </a:r>
            <a:r>
              <a:rPr b="0" i="1" lang="en-US" sz="2800" u="none" cap="none" strike="noStrike">
                <a:solidFill>
                  <a:srgbClr val="000000"/>
                </a:solidFill>
                <a:latin typeface="Arial"/>
                <a:ea typeface="Arial"/>
                <a:cs typeface="Arial"/>
                <a:sym typeface="Arial"/>
              </a:rPr>
              <a:t> of the </a:t>
            </a:r>
            <a:r>
              <a:rPr b="1" i="1" lang="en-US" sz="2800" u="none" cap="none" strike="noStrike">
                <a:solidFill>
                  <a:srgbClr val="000000"/>
                </a:solidFill>
                <a:latin typeface="Arial"/>
                <a:ea typeface="Arial"/>
                <a:cs typeface="Arial"/>
                <a:sym typeface="Arial"/>
              </a:rPr>
              <a:t>cause</a:t>
            </a:r>
            <a:r>
              <a:rPr b="0" i="1" lang="en-US" sz="2800" u="none" cap="none" strike="noStrike">
                <a:solidFill>
                  <a:srgbClr val="000000"/>
                </a:solidFill>
                <a:latin typeface="Arial"/>
                <a:ea typeface="Arial"/>
                <a:cs typeface="Arial"/>
                <a:sym typeface="Arial"/>
              </a:rPr>
              <a:t>(s) and/or </a:t>
            </a:r>
            <a:r>
              <a:rPr b="1" i="1" lang="en-US" sz="2800" u="none" cap="none" strike="noStrike">
                <a:solidFill>
                  <a:srgbClr val="000000"/>
                </a:solidFill>
                <a:latin typeface="Arial"/>
                <a:ea typeface="Arial"/>
                <a:cs typeface="Arial"/>
                <a:sym typeface="Arial"/>
              </a:rPr>
              <a:t>effect</a:t>
            </a:r>
            <a:r>
              <a:rPr b="0" i="1" lang="en-US" sz="2800" u="none" cap="none" strike="noStrike">
                <a:solidFill>
                  <a:srgbClr val="000000"/>
                </a:solidFill>
                <a:latin typeface="Arial"/>
                <a:ea typeface="Arial"/>
                <a:cs typeface="Arial"/>
                <a:sym typeface="Arial"/>
              </a:rPr>
              <a:t>(s) of a </a:t>
            </a:r>
            <a:r>
              <a:rPr b="1" i="1" lang="en-US" sz="2800" u="none" cap="none" strike="noStrike">
                <a:solidFill>
                  <a:srgbClr val="000000"/>
                </a:solidFill>
                <a:latin typeface="Arial"/>
                <a:ea typeface="Arial"/>
                <a:cs typeface="Arial"/>
                <a:sym typeface="Arial"/>
              </a:rPr>
              <a:t>target subject</a:t>
            </a:r>
            <a:r>
              <a:rPr b="0" i="1" lang="en-US" sz="2800" u="none" cap="none" strike="noStrike">
                <a:solidFill>
                  <a:srgbClr val="000000"/>
                </a:solidFill>
                <a:latin typeface="Arial"/>
                <a:ea typeface="Arial"/>
                <a:cs typeface="Arial"/>
                <a:sym typeface="Arial"/>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2"/>
          <p:cNvSpPr txBox="1"/>
          <p:nvPr>
            <p:ph type="title"/>
          </p:nvPr>
        </p:nvSpPr>
        <p:spPr>
          <a:xfrm>
            <a:off x="398581" y="365125"/>
            <a:ext cx="11394838"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00"/>
              <a:buFont typeface="Play"/>
              <a:buNone/>
            </a:pPr>
            <a:r>
              <a:rPr lang="en-US"/>
              <a:t>We annotated ~2.5k news sentences</a:t>
            </a:r>
            <a:r>
              <a:rPr b="1" lang="en-US"/>
              <a:t> </a:t>
            </a:r>
            <a:r>
              <a:rPr lang="en-US"/>
              <a:t>with</a:t>
            </a:r>
            <a:endParaRPr/>
          </a:p>
          <a:p>
            <a:pPr indent="0" lvl="0" marL="0" rtl="0" algn="l">
              <a:lnSpc>
                <a:spcPct val="90000"/>
              </a:lnSpc>
              <a:spcBef>
                <a:spcPts val="0"/>
              </a:spcBef>
              <a:spcAft>
                <a:spcPts val="0"/>
              </a:spcAft>
              <a:buClr>
                <a:srgbClr val="000000"/>
              </a:buClr>
              <a:buSzPts val="4100"/>
              <a:buFont typeface="Play"/>
              <a:buNone/>
            </a:pPr>
            <a:r>
              <a:rPr b="1" lang="en-US"/>
              <a:t>causes &amp; effects of inflation</a:t>
            </a:r>
            <a:endParaRPr/>
          </a:p>
        </p:txBody>
      </p:sp>
      <p:pic>
        <p:nvPicPr>
          <p:cNvPr descr="Picture 4" id="330" name="Google Shape;330;p22"/>
          <p:cNvPicPr preferRelativeResize="0"/>
          <p:nvPr/>
        </p:nvPicPr>
        <p:blipFill rotWithShape="1">
          <a:blip r:embed="rId3">
            <a:alphaModFix/>
          </a:blip>
          <a:srcRect b="12130" l="0" r="0" t="0"/>
          <a:stretch/>
        </p:blipFill>
        <p:spPr>
          <a:xfrm>
            <a:off x="2095226" y="2139655"/>
            <a:ext cx="8001548" cy="3333909"/>
          </a:xfrm>
          <a:prstGeom prst="rect">
            <a:avLst/>
          </a:prstGeom>
          <a:noFill/>
          <a:ln>
            <a:noFill/>
          </a:ln>
        </p:spPr>
      </p:pic>
      <p:sp>
        <p:nvSpPr>
          <p:cNvPr id="331" name="Google Shape;331;p2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3"/>
          <p:cNvSpPr txBox="1"/>
          <p:nvPr>
            <p:ph type="title"/>
          </p:nvPr>
        </p:nvSpPr>
        <p:spPr>
          <a:xfrm>
            <a:off x="838198" y="365125"/>
            <a:ext cx="10762755"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This is a challenging pragmatic annotation task</a:t>
            </a:r>
            <a:endParaRPr/>
          </a:p>
        </p:txBody>
      </p:sp>
      <p:sp>
        <p:nvSpPr>
          <p:cNvPr id="337" name="Google Shape;337;p2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338" name="Google Shape;338;p23"/>
          <p:cNvSpPr txBox="1"/>
          <p:nvPr>
            <p:ph idx="1" type="body"/>
          </p:nvPr>
        </p:nvSpPr>
        <p:spPr>
          <a:xfrm>
            <a:off x="961775" y="4178456"/>
            <a:ext cx="10515600" cy="1891417"/>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lang="en-US"/>
              <a:t>Good inter-annotator agreement for a pragmatic annotation task (0.6 – 0.8 Krippendorff’s alpha)</a:t>
            </a:r>
            <a:endParaRPr/>
          </a:p>
          <a:p>
            <a:pPr indent="-228600" lvl="0" marL="228600" rtl="0" algn="l">
              <a:lnSpc>
                <a:spcPct val="90000"/>
              </a:lnSpc>
              <a:spcBef>
                <a:spcPts val="1000"/>
              </a:spcBef>
              <a:spcAft>
                <a:spcPts val="0"/>
              </a:spcAft>
              <a:buClr>
                <a:srgbClr val="000000"/>
              </a:buClr>
              <a:buSzPts val="2800"/>
              <a:buChar char="•"/>
            </a:pPr>
            <a:r>
              <a:rPr lang="en-US"/>
              <a:t>We use these annotations to train and evaluate language model classifiers on this task</a:t>
            </a:r>
            <a:endParaRPr/>
          </a:p>
          <a:p>
            <a:pPr indent="-50800" lvl="0" marL="228600" rtl="0" algn="l">
              <a:lnSpc>
                <a:spcPct val="90000"/>
              </a:lnSpc>
              <a:spcBef>
                <a:spcPts val="1000"/>
              </a:spcBef>
              <a:spcAft>
                <a:spcPts val="0"/>
              </a:spcAft>
              <a:buClr>
                <a:srgbClr val="000000"/>
              </a:buClr>
              <a:buSzPts val="2800"/>
              <a:buNone/>
            </a:pPr>
            <a:r>
              <a:t/>
            </a:r>
            <a:endParaRPr/>
          </a:p>
          <a:p>
            <a:pPr indent="-50800" lvl="0" marL="228600" rtl="0" algn="l">
              <a:lnSpc>
                <a:spcPct val="90000"/>
              </a:lnSpc>
              <a:spcBef>
                <a:spcPts val="1000"/>
              </a:spcBef>
              <a:spcAft>
                <a:spcPts val="0"/>
              </a:spcAft>
              <a:buClr>
                <a:srgbClr val="000000"/>
              </a:buClr>
              <a:buSzPts val="2800"/>
              <a:buNone/>
            </a:pPr>
            <a:r>
              <a:t/>
            </a:r>
            <a:endParaRPr/>
          </a:p>
        </p:txBody>
      </p:sp>
      <p:grpSp>
        <p:nvGrpSpPr>
          <p:cNvPr id="339" name="Google Shape;339;p23"/>
          <p:cNvGrpSpPr/>
          <p:nvPr/>
        </p:nvGrpSpPr>
        <p:grpSpPr>
          <a:xfrm>
            <a:off x="692809" y="1817967"/>
            <a:ext cx="10784567" cy="2256052"/>
            <a:chOff x="703717" y="2165145"/>
            <a:chExt cx="10784567" cy="2256052"/>
          </a:xfrm>
        </p:grpSpPr>
        <p:grpSp>
          <p:nvGrpSpPr>
            <p:cNvPr id="340" name="Google Shape;340;p23"/>
            <p:cNvGrpSpPr/>
            <p:nvPr/>
          </p:nvGrpSpPr>
          <p:grpSpPr>
            <a:xfrm>
              <a:off x="703717" y="2165145"/>
              <a:ext cx="10784567" cy="2192422"/>
              <a:chOff x="0" y="-1"/>
              <a:chExt cx="10784565" cy="2192421"/>
            </a:xfrm>
          </p:grpSpPr>
          <p:pic>
            <p:nvPicPr>
              <p:cNvPr descr="Picture 4" id="341" name="Google Shape;341;p23"/>
              <p:cNvPicPr preferRelativeResize="0"/>
              <p:nvPr/>
            </p:nvPicPr>
            <p:blipFill rotWithShape="1">
              <a:blip r:embed="rId3">
                <a:alphaModFix/>
              </a:blip>
              <a:srcRect b="0" l="0" r="0" t="66748"/>
              <a:stretch/>
            </p:blipFill>
            <p:spPr>
              <a:xfrm>
                <a:off x="0" y="461315"/>
                <a:ext cx="10784565" cy="1731105"/>
              </a:xfrm>
              <a:prstGeom prst="rect">
                <a:avLst/>
              </a:prstGeom>
              <a:noFill/>
              <a:ln>
                <a:noFill/>
              </a:ln>
            </p:spPr>
          </p:pic>
          <p:pic>
            <p:nvPicPr>
              <p:cNvPr descr="Picture 2" id="342" name="Google Shape;342;p23"/>
              <p:cNvPicPr preferRelativeResize="0"/>
              <p:nvPr/>
            </p:nvPicPr>
            <p:blipFill rotWithShape="1">
              <a:blip r:embed="rId3">
                <a:alphaModFix/>
              </a:blip>
              <a:srcRect b="91139" l="0" r="0" t="0"/>
              <a:stretch/>
            </p:blipFill>
            <p:spPr>
              <a:xfrm>
                <a:off x="0" y="-1"/>
                <a:ext cx="10784565" cy="461317"/>
              </a:xfrm>
              <a:prstGeom prst="rect">
                <a:avLst/>
              </a:prstGeom>
              <a:noFill/>
              <a:ln>
                <a:noFill/>
              </a:ln>
            </p:spPr>
          </p:pic>
        </p:grpSp>
        <p:sp>
          <p:nvSpPr>
            <p:cNvPr id="343" name="Google Shape;343;p23"/>
            <p:cNvSpPr/>
            <p:nvPr/>
          </p:nvSpPr>
          <p:spPr>
            <a:xfrm>
              <a:off x="2619767" y="3959880"/>
              <a:ext cx="6977653" cy="461317"/>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4" name="Google Shape;344;p23"/>
            <p:cNvSpPr/>
            <p:nvPr/>
          </p:nvSpPr>
          <p:spPr>
            <a:xfrm>
              <a:off x="5107287" y="2325582"/>
              <a:ext cx="6039325" cy="270623"/>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45" name="Google Shape;345;p23"/>
            <p:cNvPicPr preferRelativeResize="0"/>
            <p:nvPr/>
          </p:nvPicPr>
          <p:blipFill rotWithShape="1">
            <a:blip r:embed="rId4">
              <a:alphaModFix/>
            </a:blip>
            <a:srcRect b="4474" l="1" r="794" t="0"/>
            <a:stretch/>
          </p:blipFill>
          <p:spPr>
            <a:xfrm>
              <a:off x="8510730" y="2348934"/>
              <a:ext cx="1535370" cy="213897"/>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351" name="Google Shape;351;p2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00"/>
              <a:buFont typeface="Play"/>
              <a:buNone/>
            </a:pPr>
            <a:r>
              <a:rPr lang="en-US"/>
              <a:t>10x smaller fine-tuned models achieve </a:t>
            </a:r>
            <a:r>
              <a:rPr b="1" lang="en-US"/>
              <a:t>good performance</a:t>
            </a:r>
            <a:r>
              <a:rPr lang="en-US"/>
              <a:t> &amp; </a:t>
            </a:r>
            <a:r>
              <a:rPr b="1" lang="en-US"/>
              <a:t>outperform GPT-4</a:t>
            </a:r>
            <a:endParaRPr/>
          </a:p>
        </p:txBody>
      </p:sp>
      <p:sp>
        <p:nvSpPr>
          <p:cNvPr id="352" name="Google Shape;352;p24"/>
          <p:cNvSpPr txBox="1"/>
          <p:nvPr>
            <p:ph idx="1" type="body"/>
          </p:nvPr>
        </p:nvSpPr>
        <p:spPr>
          <a:xfrm>
            <a:off x="7001435" y="2881226"/>
            <a:ext cx="4686696" cy="1957206"/>
          </a:xfrm>
          <a:prstGeom prst="rect">
            <a:avLst/>
          </a:prstGeom>
          <a:noFill/>
          <a:ln>
            <a:noFill/>
          </a:ln>
        </p:spPr>
        <p:txBody>
          <a:bodyPr anchorCtr="0" anchor="t" bIns="45700" lIns="45700" spcFirstLastPara="1" rIns="45700" wrap="square" tIns="45700">
            <a:normAutofit/>
          </a:bodyPr>
          <a:lstStyle/>
          <a:p>
            <a:pPr indent="-228600" lvl="0" marL="228600" rtl="0" algn="l">
              <a:lnSpc>
                <a:spcPct val="110000"/>
              </a:lnSpc>
              <a:spcBef>
                <a:spcPts val="0"/>
              </a:spcBef>
              <a:spcAft>
                <a:spcPts val="0"/>
              </a:spcAft>
              <a:buClr>
                <a:srgbClr val="000000"/>
              </a:buClr>
              <a:buSzPts val="2400"/>
              <a:buChar char="•"/>
            </a:pPr>
            <a:r>
              <a:rPr b="0" i="0" lang="en-US" sz="2400" u="none" cap="none" strike="noStrike">
                <a:solidFill>
                  <a:srgbClr val="000000"/>
                </a:solidFill>
                <a:latin typeface="Arial"/>
                <a:ea typeface="Arial"/>
                <a:cs typeface="Arial"/>
                <a:sym typeface="Arial"/>
              </a:rPr>
              <a:t>And fine-tuned Llama better reflects the natural human disagreements than GPT-4 </a:t>
            </a:r>
            <a:br>
              <a:rPr b="0" i="0" lang="en-US" sz="2400" u="none" cap="none" strike="noStrike">
                <a:solidFill>
                  <a:srgbClr val="000000"/>
                </a:solidFill>
                <a:latin typeface="Arial"/>
                <a:ea typeface="Arial"/>
                <a:cs typeface="Arial"/>
                <a:sym typeface="Arial"/>
              </a:rPr>
            </a:br>
            <a:r>
              <a:rPr b="0" i="0" lang="en-US" sz="2400" u="none" cap="none" strike="noStrike">
                <a:solidFill>
                  <a:srgbClr val="000000"/>
                </a:solidFill>
                <a:latin typeface="Arial"/>
                <a:ea typeface="Arial"/>
                <a:cs typeface="Arial"/>
                <a:sym typeface="Arial"/>
              </a:rPr>
              <a:t>( r = 0.97 vs 0.70)</a:t>
            </a:r>
            <a:endParaRPr/>
          </a:p>
        </p:txBody>
      </p:sp>
      <p:pic>
        <p:nvPicPr>
          <p:cNvPr id="353" name="Google Shape;353;p24"/>
          <p:cNvPicPr preferRelativeResize="0"/>
          <p:nvPr/>
        </p:nvPicPr>
        <p:blipFill rotWithShape="1">
          <a:blip r:embed="rId3">
            <a:alphaModFix/>
          </a:blip>
          <a:srcRect b="0" l="0" r="0" t="0"/>
          <a:stretch/>
        </p:blipFill>
        <p:spPr>
          <a:xfrm>
            <a:off x="597648" y="2017058"/>
            <a:ext cx="6068955" cy="421341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5"/>
          <p:cNvSpPr txBox="1"/>
          <p:nvPr>
            <p:ph type="title"/>
          </p:nvPr>
        </p:nvSpPr>
        <p:spPr>
          <a:xfrm>
            <a:off x="838199" y="170532"/>
            <a:ext cx="10872945"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Analyzing narratives in millions of articles</a:t>
            </a:r>
            <a:endParaRPr/>
          </a:p>
        </p:txBody>
      </p:sp>
      <p:sp>
        <p:nvSpPr>
          <p:cNvPr id="359" name="Google Shape;359;p25"/>
          <p:cNvSpPr/>
          <p:nvPr/>
        </p:nvSpPr>
        <p:spPr>
          <a:xfrm>
            <a:off x="2986945" y="3366430"/>
            <a:ext cx="810329" cy="620487"/>
          </a:xfrm>
          <a:prstGeom prst="rightArrow">
            <a:avLst>
              <a:gd fmla="val 50000" name="adj1"/>
              <a:gd fmla="val 50000" name="adj2"/>
            </a:avLst>
          </a:prstGeom>
          <a:noFill/>
          <a:ln cap="flat" cmpd="sng" w="38100">
            <a:solidFill>
              <a:srgbClr val="E8E8E8"/>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D9D9D9"/>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Picture 10" id="360" name="Google Shape;360;p25"/>
          <p:cNvPicPr preferRelativeResize="0"/>
          <p:nvPr/>
        </p:nvPicPr>
        <p:blipFill rotWithShape="1">
          <a:blip r:embed="rId3">
            <a:alphaModFix/>
          </a:blip>
          <a:srcRect b="0" l="0" r="0" t="0"/>
          <a:stretch/>
        </p:blipFill>
        <p:spPr>
          <a:xfrm>
            <a:off x="6915491" y="4521610"/>
            <a:ext cx="4795653" cy="1563028"/>
          </a:xfrm>
          <a:prstGeom prst="rect">
            <a:avLst/>
          </a:prstGeom>
          <a:noFill/>
          <a:ln>
            <a:noFill/>
          </a:ln>
        </p:spPr>
      </p:pic>
      <p:pic>
        <p:nvPicPr>
          <p:cNvPr descr="Picture 12" id="361" name="Google Shape;361;p25"/>
          <p:cNvPicPr preferRelativeResize="0"/>
          <p:nvPr/>
        </p:nvPicPr>
        <p:blipFill rotWithShape="1">
          <a:blip r:embed="rId4">
            <a:alphaModFix/>
          </a:blip>
          <a:srcRect b="0" l="433" r="0" t="8819"/>
          <a:stretch/>
        </p:blipFill>
        <p:spPr>
          <a:xfrm>
            <a:off x="6839471" y="1690687"/>
            <a:ext cx="4947695" cy="2595934"/>
          </a:xfrm>
          <a:prstGeom prst="rect">
            <a:avLst/>
          </a:prstGeom>
          <a:noFill/>
          <a:ln>
            <a:noFill/>
          </a:ln>
        </p:spPr>
      </p:pic>
      <p:grpSp>
        <p:nvGrpSpPr>
          <p:cNvPr id="362" name="Google Shape;362;p25"/>
          <p:cNvGrpSpPr/>
          <p:nvPr/>
        </p:nvGrpSpPr>
        <p:grpSpPr>
          <a:xfrm>
            <a:off x="4090141" y="3797884"/>
            <a:ext cx="1211527" cy="178082"/>
            <a:chOff x="0" y="0"/>
            <a:chExt cx="1211526" cy="178080"/>
          </a:xfrm>
        </p:grpSpPr>
        <p:sp>
          <p:nvSpPr>
            <p:cNvPr id="363" name="Google Shape;363;p25"/>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4" name="Google Shape;364;p25"/>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5" name="Google Shape;365;p25"/>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66" name="Google Shape;366;p25"/>
          <p:cNvGrpSpPr/>
          <p:nvPr/>
        </p:nvGrpSpPr>
        <p:grpSpPr>
          <a:xfrm>
            <a:off x="4093631" y="4052284"/>
            <a:ext cx="1211528" cy="178082"/>
            <a:chOff x="0" y="0"/>
            <a:chExt cx="1211526" cy="178080"/>
          </a:xfrm>
        </p:grpSpPr>
        <p:sp>
          <p:nvSpPr>
            <p:cNvPr id="367" name="Google Shape;367;p25"/>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8" name="Google Shape;368;p25"/>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9" name="Google Shape;369;p25"/>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0" name="Google Shape;370;p25"/>
          <p:cNvGrpSpPr/>
          <p:nvPr/>
        </p:nvGrpSpPr>
        <p:grpSpPr>
          <a:xfrm>
            <a:off x="4093631" y="5445697"/>
            <a:ext cx="1211528" cy="178082"/>
            <a:chOff x="0" y="0"/>
            <a:chExt cx="1211526" cy="178080"/>
          </a:xfrm>
        </p:grpSpPr>
        <p:sp>
          <p:nvSpPr>
            <p:cNvPr id="371" name="Google Shape;371;p25"/>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2" name="Google Shape;372;p25"/>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 name="Google Shape;373;p25"/>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4" name="Google Shape;374;p25"/>
          <p:cNvGrpSpPr/>
          <p:nvPr/>
        </p:nvGrpSpPr>
        <p:grpSpPr>
          <a:xfrm>
            <a:off x="4093631" y="5698961"/>
            <a:ext cx="1211528" cy="182336"/>
            <a:chOff x="0" y="-1"/>
            <a:chExt cx="1211526" cy="182334"/>
          </a:xfrm>
        </p:grpSpPr>
        <p:sp>
          <p:nvSpPr>
            <p:cNvPr id="375" name="Google Shape;375;p25"/>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 name="Google Shape;376;p25"/>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 name="Google Shape;377;p25"/>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8" name="Google Shape;378;p25"/>
          <p:cNvGrpSpPr/>
          <p:nvPr/>
        </p:nvGrpSpPr>
        <p:grpSpPr>
          <a:xfrm>
            <a:off x="4084249" y="4307653"/>
            <a:ext cx="1211528" cy="182336"/>
            <a:chOff x="0" y="-1"/>
            <a:chExt cx="1211526" cy="182334"/>
          </a:xfrm>
        </p:grpSpPr>
        <p:sp>
          <p:nvSpPr>
            <p:cNvPr id="379" name="Google Shape;379;p25"/>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 name="Google Shape;380;p25"/>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 name="Google Shape;381;p25"/>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2" name="Google Shape;382;p25"/>
          <p:cNvGrpSpPr/>
          <p:nvPr/>
        </p:nvGrpSpPr>
        <p:grpSpPr>
          <a:xfrm>
            <a:off x="4089615" y="5189193"/>
            <a:ext cx="1211528" cy="182336"/>
            <a:chOff x="0" y="-1"/>
            <a:chExt cx="1211526" cy="182334"/>
          </a:xfrm>
        </p:grpSpPr>
        <p:sp>
          <p:nvSpPr>
            <p:cNvPr id="383" name="Google Shape;383;p25"/>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 name="Google Shape;384;p25"/>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 name="Google Shape;385;p25"/>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6" name="Google Shape;386;p25"/>
          <p:cNvSpPr/>
          <p:nvPr/>
        </p:nvSpPr>
        <p:spPr>
          <a:xfrm>
            <a:off x="5641823" y="3346319"/>
            <a:ext cx="810330" cy="620487"/>
          </a:xfrm>
          <a:prstGeom prst="rightArrow">
            <a:avLst>
              <a:gd fmla="val 50000" name="adj1"/>
              <a:gd fmla="val 50000" name="adj2"/>
            </a:avLst>
          </a:prstGeom>
          <a:noFill/>
          <a:ln cap="flat" cmpd="sng" w="3810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7" name="Google Shape;387;p25"/>
          <p:cNvGrpSpPr/>
          <p:nvPr/>
        </p:nvGrpSpPr>
        <p:grpSpPr>
          <a:xfrm>
            <a:off x="4098831" y="2256163"/>
            <a:ext cx="1211528" cy="178082"/>
            <a:chOff x="0" y="0"/>
            <a:chExt cx="1211526" cy="178080"/>
          </a:xfrm>
        </p:grpSpPr>
        <p:sp>
          <p:nvSpPr>
            <p:cNvPr id="388" name="Google Shape;388;p25"/>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9" name="Google Shape;389;p25"/>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0" name="Google Shape;390;p25"/>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1" name="Google Shape;391;p25"/>
          <p:cNvGrpSpPr/>
          <p:nvPr/>
        </p:nvGrpSpPr>
        <p:grpSpPr>
          <a:xfrm>
            <a:off x="4098831" y="2512264"/>
            <a:ext cx="1211528" cy="178082"/>
            <a:chOff x="0" y="0"/>
            <a:chExt cx="1211526" cy="178080"/>
          </a:xfrm>
        </p:grpSpPr>
        <p:sp>
          <p:nvSpPr>
            <p:cNvPr id="392" name="Google Shape;392;p25"/>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 name="Google Shape;393;p25"/>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 name="Google Shape;394;p25"/>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5" name="Google Shape;395;p25"/>
          <p:cNvGrpSpPr/>
          <p:nvPr/>
        </p:nvGrpSpPr>
        <p:grpSpPr>
          <a:xfrm>
            <a:off x="4098831" y="3274485"/>
            <a:ext cx="1211528" cy="178082"/>
            <a:chOff x="0" y="0"/>
            <a:chExt cx="1211526" cy="178080"/>
          </a:xfrm>
        </p:grpSpPr>
        <p:sp>
          <p:nvSpPr>
            <p:cNvPr id="396" name="Google Shape;396;p25"/>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 name="Google Shape;397;p25"/>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 name="Google Shape;398;p25"/>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9" name="Google Shape;399;p25"/>
          <p:cNvGrpSpPr/>
          <p:nvPr/>
        </p:nvGrpSpPr>
        <p:grpSpPr>
          <a:xfrm>
            <a:off x="4098831" y="3527749"/>
            <a:ext cx="1211528" cy="182336"/>
            <a:chOff x="0" y="-1"/>
            <a:chExt cx="1211526" cy="182334"/>
          </a:xfrm>
        </p:grpSpPr>
        <p:sp>
          <p:nvSpPr>
            <p:cNvPr id="400" name="Google Shape;400;p25"/>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 name="Google Shape;401;p25"/>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 name="Google Shape;402;p25"/>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3" name="Google Shape;403;p25"/>
          <p:cNvGrpSpPr/>
          <p:nvPr/>
        </p:nvGrpSpPr>
        <p:grpSpPr>
          <a:xfrm>
            <a:off x="4089451" y="2767632"/>
            <a:ext cx="1211528" cy="182336"/>
            <a:chOff x="0" y="-1"/>
            <a:chExt cx="1211526" cy="182334"/>
          </a:xfrm>
        </p:grpSpPr>
        <p:sp>
          <p:nvSpPr>
            <p:cNvPr id="404" name="Google Shape;404;p25"/>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 name="Google Shape;405;p25"/>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6" name="Google Shape;406;p25"/>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7" name="Google Shape;407;p25"/>
          <p:cNvGrpSpPr/>
          <p:nvPr/>
        </p:nvGrpSpPr>
        <p:grpSpPr>
          <a:xfrm>
            <a:off x="4094817" y="3017981"/>
            <a:ext cx="1211528" cy="182336"/>
            <a:chOff x="0" y="-1"/>
            <a:chExt cx="1211526" cy="182334"/>
          </a:xfrm>
        </p:grpSpPr>
        <p:sp>
          <p:nvSpPr>
            <p:cNvPr id="408" name="Google Shape;408;p25"/>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9" name="Google Shape;409;p25"/>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p25"/>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11" name="Google Shape;411;p25"/>
          <p:cNvSpPr txBox="1"/>
          <p:nvPr/>
        </p:nvSpPr>
        <p:spPr>
          <a:xfrm>
            <a:off x="883919" y="1990486"/>
            <a:ext cx="1344969"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D9D9D9"/>
              </a:buClr>
              <a:buSzPts val="1800"/>
              <a:buFont typeface="Arial"/>
              <a:buNone/>
            </a:pPr>
            <a:r>
              <a:rPr b="1" i="0" lang="en-US" sz="1800" u="none" cap="none" strike="noStrike">
                <a:solidFill>
                  <a:srgbClr val="D9D9D9"/>
                </a:solidFill>
                <a:latin typeface="Arial"/>
                <a:ea typeface="Arial"/>
                <a:cs typeface="Arial"/>
                <a:sym typeface="Arial"/>
              </a:rPr>
              <a:t>1923 - 2025</a:t>
            </a:r>
            <a:endParaRPr/>
          </a:p>
        </p:txBody>
      </p:sp>
      <p:sp>
        <p:nvSpPr>
          <p:cNvPr id="412" name="Google Shape;412;p2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413" name="Google Shape;413;p25"/>
          <p:cNvSpPr txBox="1"/>
          <p:nvPr/>
        </p:nvSpPr>
        <p:spPr>
          <a:xfrm rot="5400000">
            <a:off x="4361585" y="4782912"/>
            <a:ext cx="894054" cy="574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747474"/>
              </a:buClr>
              <a:buSzPts val="3200"/>
              <a:buFont typeface="Arial"/>
              <a:buNone/>
            </a:pPr>
            <a:r>
              <a:rPr b="0" i="0" lang="en-US" sz="3200" u="none" cap="none" strike="noStrike">
                <a:solidFill>
                  <a:srgbClr val="747474"/>
                </a:solidFill>
                <a:latin typeface="Arial"/>
                <a:ea typeface="Arial"/>
                <a:cs typeface="Arial"/>
                <a:sym typeface="Arial"/>
              </a:rPr>
              <a:t>…</a:t>
            </a:r>
            <a:endParaRPr/>
          </a:p>
        </p:txBody>
      </p:sp>
      <p:pic>
        <p:nvPicPr>
          <p:cNvPr descr="Picture 2" id="414" name="Google Shape;414;p25"/>
          <p:cNvPicPr preferRelativeResize="0"/>
          <p:nvPr/>
        </p:nvPicPr>
        <p:blipFill rotWithShape="1">
          <a:blip r:embed="rId5">
            <a:alphaModFix amt="20000"/>
          </a:blip>
          <a:srcRect b="0" l="0" r="0" t="0"/>
          <a:stretch/>
        </p:blipFill>
        <p:spPr>
          <a:xfrm>
            <a:off x="246489" y="2413680"/>
            <a:ext cx="1325564" cy="1325564"/>
          </a:xfrm>
          <a:prstGeom prst="rect">
            <a:avLst/>
          </a:prstGeom>
          <a:noFill/>
          <a:ln>
            <a:noFill/>
          </a:ln>
        </p:spPr>
      </p:pic>
      <p:pic>
        <p:nvPicPr>
          <p:cNvPr descr="Picture 2" id="415" name="Google Shape;415;p25"/>
          <p:cNvPicPr preferRelativeResize="0"/>
          <p:nvPr/>
        </p:nvPicPr>
        <p:blipFill rotWithShape="1">
          <a:blip r:embed="rId5">
            <a:alphaModFix amt="20000"/>
          </a:blip>
          <a:srcRect b="0" l="0" r="0" t="0"/>
          <a:stretch/>
        </p:blipFill>
        <p:spPr>
          <a:xfrm>
            <a:off x="1426909" y="3846967"/>
            <a:ext cx="1325564" cy="1325564"/>
          </a:xfrm>
          <a:prstGeom prst="rect">
            <a:avLst/>
          </a:prstGeom>
          <a:noFill/>
          <a:ln>
            <a:noFill/>
          </a:ln>
        </p:spPr>
      </p:pic>
      <p:pic>
        <p:nvPicPr>
          <p:cNvPr descr="Picture 2" id="416" name="Google Shape;416;p25"/>
          <p:cNvPicPr preferRelativeResize="0"/>
          <p:nvPr/>
        </p:nvPicPr>
        <p:blipFill rotWithShape="1">
          <a:blip r:embed="rId5">
            <a:alphaModFix amt="20000"/>
          </a:blip>
          <a:srcRect b="0" l="0" r="0" t="0"/>
          <a:stretch/>
        </p:blipFill>
        <p:spPr>
          <a:xfrm>
            <a:off x="246489" y="3846967"/>
            <a:ext cx="1325564" cy="1325564"/>
          </a:xfrm>
          <a:prstGeom prst="rect">
            <a:avLst/>
          </a:prstGeom>
          <a:noFill/>
          <a:ln>
            <a:noFill/>
          </a:ln>
        </p:spPr>
      </p:pic>
      <p:pic>
        <p:nvPicPr>
          <p:cNvPr descr="Picture 2" id="417" name="Google Shape;417;p25"/>
          <p:cNvPicPr preferRelativeResize="0"/>
          <p:nvPr/>
        </p:nvPicPr>
        <p:blipFill rotWithShape="1">
          <a:blip r:embed="rId5">
            <a:alphaModFix amt="20000"/>
          </a:blip>
          <a:srcRect b="0" l="0" r="0" t="0"/>
          <a:stretch/>
        </p:blipFill>
        <p:spPr>
          <a:xfrm>
            <a:off x="1416399" y="2413679"/>
            <a:ext cx="1325563" cy="1325564"/>
          </a:xfrm>
          <a:prstGeom prst="rect">
            <a:avLst/>
          </a:prstGeom>
          <a:noFill/>
          <a:ln>
            <a:noFill/>
          </a:ln>
        </p:spPr>
      </p:pic>
      <p:sp>
        <p:nvSpPr>
          <p:cNvPr id="418" name="Google Shape;418;p25"/>
          <p:cNvSpPr/>
          <p:nvPr/>
        </p:nvSpPr>
        <p:spPr>
          <a:xfrm>
            <a:off x="3939378" y="1594341"/>
            <a:ext cx="7947767" cy="4762010"/>
          </a:xfrm>
          <a:prstGeom prst="rect">
            <a:avLst/>
          </a:prstGeom>
          <a:noFill/>
          <a:ln cap="flat" cmpd="sng" w="28575">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Does narrative prevalence predict inflation expectations?</a:t>
            </a:r>
            <a:endParaRPr/>
          </a:p>
        </p:txBody>
      </p:sp>
      <p:sp>
        <p:nvSpPr>
          <p:cNvPr id="424" name="Google Shape;424;p26"/>
          <p:cNvSpPr txBox="1"/>
          <p:nvPr>
            <p:ph idx="1" type="body"/>
          </p:nvPr>
        </p:nvSpPr>
        <p:spPr>
          <a:xfrm>
            <a:off x="838200" y="2412273"/>
            <a:ext cx="10515600" cy="3883223"/>
          </a:xfrm>
          <a:prstGeom prst="rect">
            <a:avLst/>
          </a:prstGeom>
          <a:noFill/>
          <a:ln>
            <a:noFill/>
          </a:ln>
        </p:spPr>
        <p:txBody>
          <a:bodyPr anchorCtr="0" anchor="t" bIns="45700" lIns="45700" spcFirstLastPara="1" rIns="45700" wrap="square" tIns="45700">
            <a:normAutofit/>
          </a:bodyPr>
          <a:lstStyle/>
          <a:p>
            <a:pPr indent="-228600" lvl="0" marL="228600" rtl="0" algn="l">
              <a:lnSpc>
                <a:spcPct val="114000"/>
              </a:lnSpc>
              <a:spcBef>
                <a:spcPts val="0"/>
              </a:spcBef>
              <a:spcAft>
                <a:spcPts val="0"/>
              </a:spcAft>
              <a:buClr>
                <a:srgbClr val="000000"/>
              </a:buClr>
              <a:buSzPts val="2800"/>
              <a:buChar char="•"/>
            </a:pPr>
            <a:r>
              <a:rPr lang="en-US"/>
              <a:t>Survey data: “</a:t>
            </a:r>
            <a:r>
              <a:rPr b="1" lang="en-US"/>
              <a:t>By about what percent do you expect prices to go (up/down) on the average, during the next 12 months?</a:t>
            </a:r>
            <a:r>
              <a:rPr lang="en-US"/>
              <a:t>”</a:t>
            </a:r>
            <a:endParaRPr/>
          </a:p>
          <a:p>
            <a:pPr indent="-228600" lvl="0" marL="228600" rtl="0" algn="l">
              <a:lnSpc>
                <a:spcPct val="114000"/>
              </a:lnSpc>
              <a:spcBef>
                <a:spcPts val="1000"/>
              </a:spcBef>
              <a:spcAft>
                <a:spcPts val="0"/>
              </a:spcAft>
              <a:buClr>
                <a:srgbClr val="000000"/>
              </a:buClr>
              <a:buSzPts val="2800"/>
              <a:buChar char="•"/>
            </a:pPr>
            <a:r>
              <a:rPr lang="en-US"/>
              <a:t>We design a regression that relates </a:t>
            </a:r>
            <a:r>
              <a:rPr b="1" lang="en-US"/>
              <a:t>narrative prevalence</a:t>
            </a:r>
            <a:r>
              <a:rPr lang="en-US"/>
              <a:t> to </a:t>
            </a:r>
            <a:r>
              <a:rPr b="1" lang="en-US"/>
              <a:t>inflation expectations</a:t>
            </a:r>
            <a:r>
              <a:rPr lang="en-US"/>
              <a:t>, controlling for actual/lagged inflation and  number of inflation-mentions</a:t>
            </a:r>
            <a:endParaRPr/>
          </a:p>
        </p:txBody>
      </p:sp>
      <p:sp>
        <p:nvSpPr>
          <p:cNvPr id="425" name="Google Shape;425;p2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9" name="Shape 429"/>
        <p:cNvGrpSpPr/>
        <p:nvPr/>
      </p:nvGrpSpPr>
      <p:grpSpPr>
        <a:xfrm>
          <a:off x="0" y="0"/>
          <a:ext cx="0" cy="0"/>
          <a:chOff x="0" y="0"/>
          <a:chExt cx="0" cy="0"/>
        </a:xfrm>
      </p:grpSpPr>
      <p:sp>
        <p:nvSpPr>
          <p:cNvPr id="430" name="Google Shape;430;p2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Show some narratives </a:t>
            </a:r>
            <a:endParaRPr/>
          </a:p>
        </p:txBody>
      </p:sp>
      <p:sp>
        <p:nvSpPr>
          <p:cNvPr id="431" name="Google Shape;431;p27"/>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114000"/>
              </a:lnSpc>
              <a:spcBef>
                <a:spcPts val="0"/>
              </a:spcBef>
              <a:spcAft>
                <a:spcPts val="0"/>
              </a:spcAft>
              <a:buClr>
                <a:srgbClr val="000000"/>
              </a:buClr>
              <a:buSzPts val="2800"/>
              <a:buChar char="•"/>
            </a:pPr>
            <a:r>
              <a:rPr lang="en-US"/>
              <a:t>Narrative composition particularly expectations and purchase/savings framing correlates with both near- and long-term expectations beyond</a:t>
            </a:r>
            <a:endParaRPr/>
          </a:p>
          <a:p>
            <a:pPr indent="-50800" lvl="0" marL="228600" rtl="0" algn="l">
              <a:lnSpc>
                <a:spcPct val="90000"/>
              </a:lnSpc>
              <a:spcBef>
                <a:spcPts val="1000"/>
              </a:spcBef>
              <a:spcAft>
                <a:spcPts val="0"/>
              </a:spcAft>
              <a:buClr>
                <a:srgbClr val="000000"/>
              </a:buClr>
              <a:buSzPts val="2800"/>
              <a:buNone/>
            </a:pPr>
            <a:r>
              <a:t/>
            </a:r>
            <a:endParaRPr/>
          </a:p>
        </p:txBody>
      </p:sp>
      <p:sp>
        <p:nvSpPr>
          <p:cNvPr id="432" name="Google Shape;432;p2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fontScale="90000"/>
          </a:bodyPr>
          <a:lstStyle/>
          <a:p>
            <a:pPr indent="0" lvl="0" marL="0" rtl="0" algn="l">
              <a:lnSpc>
                <a:spcPct val="90000"/>
              </a:lnSpc>
              <a:spcBef>
                <a:spcPts val="0"/>
              </a:spcBef>
              <a:spcAft>
                <a:spcPts val="0"/>
              </a:spcAft>
              <a:buClr>
                <a:srgbClr val="000000"/>
              </a:buClr>
              <a:buSzPct val="100000"/>
              <a:buFont typeface="Play"/>
              <a:buNone/>
            </a:pPr>
            <a:r>
              <a:rPr b="0" i="1" lang="en-US" sz="4180" u="none" cap="none" strike="noStrike">
                <a:solidFill>
                  <a:srgbClr val="000000"/>
                </a:solidFill>
                <a:latin typeface="Play"/>
                <a:ea typeface="Play"/>
                <a:cs typeface="Play"/>
                <a:sym typeface="Play"/>
              </a:rPr>
              <a:t>Social/political impact </a:t>
            </a:r>
            <a:r>
              <a:rPr b="0" i="0" lang="en-US" sz="4180" u="none" cap="none" strike="noStrike">
                <a:solidFill>
                  <a:srgbClr val="000000"/>
                </a:solidFill>
                <a:latin typeface="Play"/>
                <a:ea typeface="Play"/>
                <a:cs typeface="Play"/>
                <a:sym typeface="Play"/>
              </a:rPr>
              <a:t>narratives strongly predict greater </a:t>
            </a:r>
            <a:r>
              <a:rPr b="1" i="0" lang="en-US" sz="4180" u="none" cap="none" strike="noStrike">
                <a:solidFill>
                  <a:srgbClr val="000000"/>
                </a:solidFill>
                <a:latin typeface="Play"/>
                <a:ea typeface="Play"/>
                <a:cs typeface="Play"/>
                <a:sym typeface="Play"/>
              </a:rPr>
              <a:t>disagreement</a:t>
            </a:r>
            <a:r>
              <a:rPr b="0" i="0" lang="en-US" sz="4180" u="none" cap="none" strike="noStrike">
                <a:solidFill>
                  <a:srgbClr val="000000"/>
                </a:solidFill>
                <a:latin typeface="Play"/>
                <a:ea typeface="Play"/>
                <a:cs typeface="Play"/>
                <a:sym typeface="Play"/>
              </a:rPr>
              <a:t> in inflation expectations</a:t>
            </a:r>
            <a:endParaRPr b="0" i="0" sz="4180" u="none" cap="none" strike="noStrike">
              <a:solidFill>
                <a:srgbClr val="000000"/>
              </a:solidFill>
              <a:latin typeface="Play"/>
              <a:ea typeface="Play"/>
              <a:cs typeface="Play"/>
              <a:sym typeface="Play"/>
            </a:endParaRPr>
          </a:p>
        </p:txBody>
      </p:sp>
      <p:sp>
        <p:nvSpPr>
          <p:cNvPr id="438" name="Google Shape;438;p2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id="439" name="Google Shape;439;p28"/>
          <p:cNvPicPr preferRelativeResize="0"/>
          <p:nvPr/>
        </p:nvPicPr>
        <p:blipFill rotWithShape="1">
          <a:blip r:embed="rId3">
            <a:alphaModFix/>
          </a:blip>
          <a:srcRect b="0" l="0" r="0" t="0"/>
          <a:stretch/>
        </p:blipFill>
        <p:spPr>
          <a:xfrm>
            <a:off x="3004007" y="2115124"/>
            <a:ext cx="5828907" cy="415579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Lower-income households are more sensitive to narratives</a:t>
            </a:r>
            <a:endParaRPr/>
          </a:p>
        </p:txBody>
      </p:sp>
      <p:sp>
        <p:nvSpPr>
          <p:cNvPr id="445" name="Google Shape;445;p2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446" name="Google Shape;446;p29"/>
          <p:cNvSpPr txBox="1"/>
          <p:nvPr/>
        </p:nvSpPr>
        <p:spPr>
          <a:xfrm>
            <a:off x="548898" y="2363993"/>
            <a:ext cx="5411512" cy="3696909"/>
          </a:xfrm>
          <a:prstGeom prst="rect">
            <a:avLst/>
          </a:prstGeom>
          <a:noFill/>
          <a:ln>
            <a:noFill/>
          </a:ln>
        </p:spPr>
        <p:txBody>
          <a:bodyPr anchorCtr="0" anchor="t" bIns="45700" lIns="91425" spcFirstLastPara="1" rIns="91425" wrap="square" tIns="45700">
            <a:spAutoFit/>
          </a:bodyPr>
          <a:lstStyle/>
          <a:p>
            <a:pPr indent="-228600" lvl="0" marL="228600" marR="0" rtl="0" algn="l">
              <a:lnSpc>
                <a:spcPct val="114000"/>
              </a:lnSpc>
              <a:spcBef>
                <a:spcPts val="0"/>
              </a:spcBef>
              <a:spcAft>
                <a:spcPts val="0"/>
              </a:spcAft>
              <a:buClr>
                <a:srgbClr val="000000"/>
              </a:buClr>
              <a:buSzPts val="2400"/>
              <a:buFont typeface="Arial"/>
              <a:buChar char="•"/>
            </a:pPr>
            <a:r>
              <a:rPr b="0" i="1" lang="en-US" sz="2400" u="none" cap="none" strike="noStrike">
                <a:solidFill>
                  <a:srgbClr val="000000"/>
                </a:solidFill>
                <a:latin typeface="Arial"/>
                <a:ea typeface="Arial"/>
                <a:cs typeface="Arial"/>
                <a:sym typeface="Arial"/>
              </a:rPr>
              <a:t>Expectations</a:t>
            </a:r>
            <a:r>
              <a:rPr b="0" i="0" lang="en-US" sz="2400" u="none" cap="none" strike="noStrike">
                <a:solidFill>
                  <a:srgbClr val="000000"/>
                </a:solidFill>
                <a:latin typeface="Arial"/>
                <a:ea typeface="Arial"/>
                <a:cs typeface="Arial"/>
                <a:sym typeface="Arial"/>
              </a:rPr>
              <a:t> and </a:t>
            </a:r>
            <a:r>
              <a:rPr b="0" i="1" lang="en-US" sz="2400" u="none" cap="none" strike="noStrike">
                <a:solidFill>
                  <a:srgbClr val="000000"/>
                </a:solidFill>
                <a:latin typeface="Arial"/>
                <a:ea typeface="Arial"/>
                <a:cs typeface="Arial"/>
                <a:sym typeface="Arial"/>
              </a:rPr>
              <a:t>social/political </a:t>
            </a:r>
            <a:r>
              <a:rPr b="0" i="0" lang="en-US" sz="2400" u="none" cap="none" strike="noStrike">
                <a:solidFill>
                  <a:srgbClr val="000000"/>
                </a:solidFill>
                <a:latin typeface="Arial"/>
                <a:ea typeface="Arial"/>
                <a:cs typeface="Arial"/>
                <a:sym typeface="Arial"/>
              </a:rPr>
              <a:t>narratives predict inflation expectations for lower-income households</a:t>
            </a:r>
            <a:endParaRPr/>
          </a:p>
          <a:p>
            <a:pPr indent="-76200" lvl="0" marL="228600" marR="0" rtl="0" algn="l">
              <a:lnSpc>
                <a:spcPct val="114000"/>
              </a:lnSpc>
              <a:spcBef>
                <a:spcPts val="100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28600" lvl="0" marL="228600" marR="0" rtl="0" algn="l">
              <a:lnSpc>
                <a:spcPct val="114000"/>
              </a:lnSpc>
              <a:spcBef>
                <a:spcPts val="10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Suggests these households may be more sensitive to both media quantity and framing</a:t>
            </a:r>
            <a:endParaRPr/>
          </a:p>
        </p:txBody>
      </p:sp>
      <p:pic>
        <p:nvPicPr>
          <p:cNvPr id="447" name="Google Shape;447;p29"/>
          <p:cNvPicPr preferRelativeResize="0"/>
          <p:nvPr/>
        </p:nvPicPr>
        <p:blipFill rotWithShape="1">
          <a:blip r:embed="rId3">
            <a:alphaModFix/>
          </a:blip>
          <a:srcRect b="0" l="0" r="0" t="0"/>
          <a:stretch/>
        </p:blipFill>
        <p:spPr>
          <a:xfrm>
            <a:off x="5960410" y="2430124"/>
            <a:ext cx="5980579" cy="293782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453" name="Google Shape;453;p30"/>
          <p:cNvSpPr txBox="1"/>
          <p:nvPr>
            <p:ph type="title"/>
          </p:nvPr>
        </p:nvSpPr>
        <p:spPr>
          <a:xfrm>
            <a:off x="838200" y="365125"/>
            <a:ext cx="1060973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Inflation narratives vary across local newspapers</a:t>
            </a:r>
            <a:endParaRPr/>
          </a:p>
        </p:txBody>
      </p:sp>
      <p:pic>
        <p:nvPicPr>
          <p:cNvPr id="454" name="Google Shape;454;p30"/>
          <p:cNvPicPr preferRelativeResize="0"/>
          <p:nvPr/>
        </p:nvPicPr>
        <p:blipFill rotWithShape="1">
          <a:blip r:embed="rId3">
            <a:alphaModFix/>
          </a:blip>
          <a:srcRect b="0" l="0" r="0" t="0"/>
          <a:stretch/>
        </p:blipFill>
        <p:spPr>
          <a:xfrm>
            <a:off x="691979" y="2457010"/>
            <a:ext cx="9995914" cy="310023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Contribution Summary</a:t>
            </a:r>
            <a:endParaRPr/>
          </a:p>
        </p:txBody>
      </p:sp>
      <p:sp>
        <p:nvSpPr>
          <p:cNvPr id="460" name="Google Shape;460;p31"/>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fontScale="92500"/>
          </a:bodyPr>
          <a:lstStyle/>
          <a:p>
            <a:pPr indent="-228600" lvl="0" marL="228600" rtl="0" algn="l">
              <a:lnSpc>
                <a:spcPct val="130000"/>
              </a:lnSpc>
              <a:spcBef>
                <a:spcPts val="0"/>
              </a:spcBef>
              <a:spcAft>
                <a:spcPts val="0"/>
              </a:spcAft>
              <a:buClr>
                <a:srgbClr val="000000"/>
              </a:buClr>
              <a:buSzPct val="100000"/>
              <a:buChar char="•"/>
            </a:pPr>
            <a:r>
              <a:rPr lang="en-US"/>
              <a:t>Causal Micro-Narratives is a scalable, interpretable framework for extracting narratives from text.</a:t>
            </a:r>
            <a:endParaRPr/>
          </a:p>
          <a:p>
            <a:pPr indent="-228600" lvl="0" marL="228600" rtl="0" algn="l">
              <a:lnSpc>
                <a:spcPct val="130000"/>
              </a:lnSpc>
              <a:spcBef>
                <a:spcPts val="1000"/>
              </a:spcBef>
              <a:spcAft>
                <a:spcPts val="0"/>
              </a:spcAft>
              <a:buClr>
                <a:srgbClr val="000000"/>
              </a:buClr>
              <a:buSzPct val="100000"/>
              <a:buChar char="•"/>
            </a:pPr>
            <a:r>
              <a:rPr lang="en-US"/>
              <a:t>Certain narratives have significant predictive power of inflation expectations controlling for realized inflation</a:t>
            </a:r>
            <a:endParaRPr/>
          </a:p>
          <a:p>
            <a:pPr indent="-228600" lvl="0" marL="228600" rtl="0" algn="l">
              <a:lnSpc>
                <a:spcPct val="130000"/>
              </a:lnSpc>
              <a:spcBef>
                <a:spcPts val="1000"/>
              </a:spcBef>
              <a:spcAft>
                <a:spcPts val="0"/>
              </a:spcAft>
              <a:buClr>
                <a:srgbClr val="000000"/>
              </a:buClr>
              <a:buSzPct val="100000"/>
              <a:buChar char="•"/>
            </a:pPr>
            <a:r>
              <a:rPr lang="en-US"/>
              <a:t>Some narratives predict more disagreement in inflation expectations</a:t>
            </a:r>
            <a:endParaRPr/>
          </a:p>
          <a:p>
            <a:pPr indent="-228600" lvl="0" marL="228600" rtl="0" algn="l">
              <a:lnSpc>
                <a:spcPct val="130000"/>
              </a:lnSpc>
              <a:spcBef>
                <a:spcPts val="1000"/>
              </a:spcBef>
              <a:spcAft>
                <a:spcPts val="0"/>
              </a:spcAft>
              <a:buClr>
                <a:srgbClr val="000000"/>
              </a:buClr>
              <a:buSzPct val="100000"/>
              <a:buChar char="•"/>
            </a:pPr>
            <a:r>
              <a:rPr lang="en-US"/>
              <a:t>Sharp differences in narrative sensitivity across household income groups</a:t>
            </a:r>
            <a:endParaRPr/>
          </a:p>
        </p:txBody>
      </p:sp>
      <p:sp>
        <p:nvSpPr>
          <p:cNvPr id="461" name="Google Shape;461;p3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2"/>
          <p:cNvSpPr/>
          <p:nvPr/>
        </p:nvSpPr>
        <p:spPr>
          <a:xfrm>
            <a:off x="726772" y="3291575"/>
            <a:ext cx="10515600" cy="967158"/>
          </a:xfrm>
          <a:prstGeom prst="roundRect">
            <a:avLst>
              <a:gd fmla="val 23644" name="adj"/>
            </a:avLst>
          </a:prstGeom>
          <a:solidFill>
            <a:srgbClr val="EDEDED"/>
          </a:solidFill>
          <a:ln cap="flat" cmpd="sng" w="25400">
            <a:solidFill>
              <a:schemeClr val="dk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7" name="Google Shape;467;p32"/>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200"/>
              <a:buFont typeface="Play"/>
              <a:buNone/>
            </a:pPr>
            <a:r>
              <a:rPr lang="en-US" sz="4200"/>
              <a:t>Work Overview</a:t>
            </a:r>
            <a:endParaRPr/>
          </a:p>
        </p:txBody>
      </p:sp>
      <p:sp>
        <p:nvSpPr>
          <p:cNvPr id="468" name="Google Shape;468;p32"/>
          <p:cNvSpPr txBox="1"/>
          <p:nvPr>
            <p:ph idx="1" type="body"/>
          </p:nvPr>
        </p:nvSpPr>
        <p:spPr>
          <a:xfrm>
            <a:off x="838200" y="1690688"/>
            <a:ext cx="10515600" cy="4578667"/>
          </a:xfrm>
          <a:prstGeom prst="rect">
            <a:avLst/>
          </a:prstGeom>
          <a:noFill/>
          <a:ln>
            <a:noFill/>
          </a:ln>
        </p:spPr>
        <p:txBody>
          <a:bodyPr anchorCtr="0" anchor="t" bIns="45700" lIns="45700" spcFirstLastPara="1" rIns="45700" wrap="square" tIns="45700">
            <a:normAutofit fontScale="92500" lnSpcReduction="10000"/>
          </a:bodyPr>
          <a:lstStyle/>
          <a:p>
            <a:pPr indent="-228600" lvl="0" marL="228600" marR="0" rtl="0" algn="l">
              <a:lnSpc>
                <a:spcPct val="114000"/>
              </a:lnSpc>
              <a:spcBef>
                <a:spcPts val="0"/>
              </a:spcBef>
              <a:spcAft>
                <a:spcPts val="0"/>
              </a:spcAft>
              <a:buClr>
                <a:srgbClr val="CACACA"/>
              </a:buClr>
              <a:buSzPct val="100000"/>
              <a:buFont typeface="NTR"/>
              <a:buChar char="-"/>
            </a:pPr>
            <a:r>
              <a:rPr lang="en-US">
                <a:solidFill>
                  <a:srgbClr val="CACACA"/>
                </a:solidFill>
              </a:rPr>
              <a:t>Language of Bargaining </a:t>
            </a:r>
            <a:r>
              <a:rPr b="0" i="0" lang="en-US" sz="1800" u="none" cap="none" strike="noStrike">
                <a:solidFill>
                  <a:srgbClr val="CACACA"/>
                </a:solidFill>
                <a:latin typeface="Arial"/>
                <a:ea typeface="Arial"/>
                <a:cs typeface="Arial"/>
                <a:sym typeface="Arial"/>
              </a:rPr>
              <a:t>[</a:t>
            </a:r>
            <a:r>
              <a:rPr b="1" i="0" lang="en-US" sz="1800" u="none" cap="none" strike="noStrike">
                <a:solidFill>
                  <a:srgbClr val="CACACA"/>
                </a:solidFill>
                <a:latin typeface="Arial"/>
                <a:ea typeface="Arial"/>
                <a:cs typeface="Arial"/>
                <a:sym typeface="Arial"/>
              </a:rPr>
              <a:t>M. Heddaya</a:t>
            </a:r>
            <a:r>
              <a:rPr b="0" i="0" lang="en-US" sz="1800" u="none" cap="none" strike="noStrike">
                <a:solidFill>
                  <a:srgbClr val="CACACA"/>
                </a:solidFill>
                <a:latin typeface="Arial"/>
                <a:ea typeface="Arial"/>
                <a:cs typeface="Arial"/>
                <a:sym typeface="Arial"/>
              </a:rPr>
              <a:t>, Dworkin, Tan, Voigt, Zeng, Zentefis, 2023]</a:t>
            </a:r>
            <a:endParaRPr>
              <a:solidFill>
                <a:srgbClr val="CACACA"/>
              </a:solidFill>
            </a:endParaRPr>
          </a:p>
          <a:p>
            <a:pPr indent="-228600" lvl="0" marL="228600" marR="0" rtl="0" algn="l">
              <a:lnSpc>
                <a:spcPct val="114000"/>
              </a:lnSpc>
              <a:spcBef>
                <a:spcPts val="1000"/>
              </a:spcBef>
              <a:spcAft>
                <a:spcPts val="0"/>
              </a:spcAft>
              <a:buClr>
                <a:srgbClr val="000000"/>
              </a:buClr>
              <a:buSzPct val="155556"/>
              <a:buFont typeface="NTR"/>
              <a:buChar char="-"/>
            </a:pPr>
            <a:r>
              <a:rPr b="1" lang="en-US"/>
              <a:t>Causal Micro-Narratives  </a:t>
            </a:r>
            <a:r>
              <a:rPr b="0" i="0" lang="en-US" sz="1800" u="none" cap="none" strike="noStrike">
                <a:solidFill>
                  <a:srgbClr val="000000"/>
                </a:solidFill>
                <a:latin typeface="Arial"/>
                <a:ea typeface="Arial"/>
                <a:cs typeface="Arial"/>
                <a:sym typeface="Arial"/>
              </a:rPr>
              <a:t>[</a:t>
            </a:r>
            <a:r>
              <a:rPr b="1" i="0" lang="en-US" sz="1800" u="none" cap="none" strike="noStrike">
                <a:solidFill>
                  <a:srgbClr val="000000"/>
                </a:solidFill>
                <a:latin typeface="Arial"/>
                <a:ea typeface="Arial"/>
                <a:cs typeface="Arial"/>
                <a:sym typeface="Arial"/>
              </a:rPr>
              <a:t>M. Heddaya</a:t>
            </a:r>
            <a:r>
              <a:rPr b="0" i="0" lang="en-US" sz="1800" u="none" cap="none" strike="noStrike">
                <a:solidFill>
                  <a:srgbClr val="000000"/>
                </a:solidFill>
                <a:latin typeface="Arial"/>
                <a:ea typeface="Arial"/>
                <a:cs typeface="Arial"/>
                <a:sym typeface="Arial"/>
              </a:rPr>
              <a:t>, Zeng, Tan, Voigt, Zentefis, 2024]</a:t>
            </a:r>
            <a:endParaRPr i="0" sz="1800" u="none" cap="none" strike="noStrike">
              <a:solidFill>
                <a:srgbClr val="000000"/>
              </a:solidFill>
              <a:latin typeface="Arial"/>
              <a:ea typeface="Arial"/>
              <a:cs typeface="Arial"/>
              <a:sym typeface="Arial"/>
            </a:endParaRPr>
          </a:p>
          <a:p>
            <a:pPr indent="-266700" lvl="1" marL="723900" rtl="0" algn="l">
              <a:lnSpc>
                <a:spcPct val="114000"/>
              </a:lnSpc>
              <a:spcBef>
                <a:spcPts val="1000"/>
              </a:spcBef>
              <a:spcAft>
                <a:spcPts val="0"/>
              </a:spcAft>
              <a:buClr>
                <a:srgbClr val="000000"/>
              </a:buClr>
              <a:buSzPct val="100000"/>
              <a:buFont typeface="NTR"/>
              <a:buChar char="-"/>
            </a:pPr>
            <a:r>
              <a:rPr b="1" lang="en-US"/>
              <a:t>A Century of Inflation Narratives</a:t>
            </a:r>
            <a:r>
              <a:rPr lang="en-US"/>
              <a:t> </a:t>
            </a:r>
            <a:r>
              <a:rPr lang="en-US" sz="1800"/>
              <a:t>[</a:t>
            </a:r>
            <a:r>
              <a:rPr b="1" lang="en-US" sz="1800"/>
              <a:t>M. Heddaya</a:t>
            </a:r>
            <a:r>
              <a:rPr lang="en-US" sz="1800"/>
              <a:t>, Zeng, Tan, Voigt, Zentefis, 2025]</a:t>
            </a:r>
            <a:endParaRPr/>
          </a:p>
          <a:p>
            <a:pPr indent="-228600" lvl="0" marL="228600" rtl="0" algn="l">
              <a:lnSpc>
                <a:spcPct val="114000"/>
              </a:lnSpc>
              <a:spcBef>
                <a:spcPts val="1000"/>
              </a:spcBef>
              <a:spcAft>
                <a:spcPts val="0"/>
              </a:spcAft>
              <a:buClr>
                <a:srgbClr val="000000"/>
              </a:buClr>
              <a:buSzPct val="100000"/>
              <a:buFont typeface="NTR"/>
              <a:buChar char="-"/>
            </a:pPr>
            <a:r>
              <a:rPr b="1" lang="en-US" cap="small"/>
              <a:t>CaseSumm</a:t>
            </a:r>
            <a:r>
              <a:rPr b="1" lang="en-US"/>
              <a:t>: A Large-Scale Dataset for Long-Context Summarization from Supreme Court Opinions </a:t>
            </a:r>
            <a:r>
              <a:rPr lang="en-US" sz="1800"/>
              <a:t>[</a:t>
            </a:r>
            <a:r>
              <a:rPr b="1" lang="en-US" sz="1800"/>
              <a:t>M. Heddaya</a:t>
            </a:r>
            <a:r>
              <a:rPr lang="en-US" sz="1800"/>
              <a:t>, MacMillan, Malani, Mei, Tan, 2025]</a:t>
            </a:r>
            <a:endParaRPr/>
          </a:p>
          <a:p>
            <a:pPr indent="-228600" lvl="0" marL="228600" rtl="0" algn="l">
              <a:lnSpc>
                <a:spcPct val="114000"/>
              </a:lnSpc>
              <a:spcBef>
                <a:spcPts val="1000"/>
              </a:spcBef>
              <a:spcAft>
                <a:spcPts val="0"/>
              </a:spcAft>
              <a:buClr>
                <a:srgbClr val="CACACA"/>
              </a:buClr>
              <a:buSzPct val="100000"/>
              <a:buFont typeface="NTR"/>
              <a:buChar char="-"/>
            </a:pPr>
            <a:r>
              <a:rPr lang="en-US">
                <a:solidFill>
                  <a:srgbClr val="CACACA"/>
                </a:solidFill>
              </a:rPr>
              <a:t>When Internalization Fails: Finding Better Targets for Reasoning Compression </a:t>
            </a:r>
            <a:r>
              <a:rPr lang="en-US" sz="1800">
                <a:solidFill>
                  <a:srgbClr val="CACACA"/>
                </a:solidFill>
              </a:rPr>
              <a:t>[</a:t>
            </a:r>
            <a:r>
              <a:rPr b="1" lang="en-US" sz="1800">
                <a:solidFill>
                  <a:srgbClr val="CACACA"/>
                </a:solidFill>
              </a:rPr>
              <a:t>Mourad Heddaya</a:t>
            </a:r>
            <a:r>
              <a:rPr lang="en-US" sz="1800">
                <a:solidFill>
                  <a:srgbClr val="CACACA"/>
                </a:solidFill>
              </a:rPr>
              <a:t>, Roberts, Wadhawan, Tan, 2026]</a:t>
            </a:r>
            <a:endParaRPr/>
          </a:p>
          <a:p>
            <a:pPr indent="-228600" lvl="0" marL="228600" rtl="0" algn="l">
              <a:lnSpc>
                <a:spcPct val="114000"/>
              </a:lnSpc>
              <a:spcBef>
                <a:spcPts val="1000"/>
              </a:spcBef>
              <a:spcAft>
                <a:spcPts val="0"/>
              </a:spcAft>
              <a:buClr>
                <a:srgbClr val="000000"/>
              </a:buClr>
              <a:buSzPct val="100000"/>
              <a:buFont typeface="NTR"/>
              <a:buChar char="-"/>
            </a:pPr>
            <a:r>
              <a:rPr b="1" lang="en-US"/>
              <a:t>CivicChats: Shaping the Future of Civic Discourse</a:t>
            </a:r>
            <a:r>
              <a:rPr lang="en-US"/>
              <a:t> </a:t>
            </a:r>
            <a:r>
              <a:rPr lang="en-US" sz="1800"/>
              <a:t>[</a:t>
            </a:r>
            <a:r>
              <a:rPr b="1" lang="en-US" sz="1800"/>
              <a:t>M. Heddaya</a:t>
            </a:r>
            <a:r>
              <a:rPr lang="en-US" sz="1800"/>
              <a:t>, Zhou, Margie, Lee, Tan, Xie, Mendelsohn]</a:t>
            </a:r>
            <a:endParaRPr/>
          </a:p>
        </p:txBody>
      </p:sp>
      <p:sp>
        <p:nvSpPr>
          <p:cNvPr id="469" name="Google Shape;469;p3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470" name="Google Shape;470;p32"/>
          <p:cNvSpPr txBox="1"/>
          <p:nvPr/>
        </p:nvSpPr>
        <p:spPr>
          <a:xfrm>
            <a:off x="831850" y="3837675"/>
            <a:ext cx="10521950" cy="1641475"/>
          </a:xfrm>
          <a:prstGeom prst="rect">
            <a:avLst/>
          </a:prstGeom>
          <a:noFill/>
          <a:ln>
            <a:noFill/>
          </a:ln>
        </p:spPr>
        <p:txBody>
          <a:bodyPr anchorCtr="0" anchor="b" bIns="45700" lIns="45700" spcFirstLastPara="1" rIns="45700" wrap="square" tIns="45700">
            <a:normAutofit/>
          </a:bodyPr>
          <a:lstStyle/>
          <a:p>
            <a:pPr indent="0" lvl="0" marL="0" marR="0" rtl="0" algn="l">
              <a:lnSpc>
                <a:spcPct val="90000"/>
              </a:lnSpc>
              <a:spcBef>
                <a:spcPts val="0"/>
              </a:spcBef>
              <a:spcAft>
                <a:spcPts val="0"/>
              </a:spcAft>
              <a:buClr>
                <a:srgbClr val="000000"/>
              </a:buClr>
              <a:buSzPts val="6000"/>
              <a:buFont typeface="Play"/>
              <a:buNone/>
            </a:pPr>
            <a:r>
              <a:t/>
            </a:r>
            <a:endParaRPr b="0" i="0" sz="6000" u="none" cap="none" strike="noStrike">
              <a:solidFill>
                <a:srgbClr val="000000"/>
              </a:solidFill>
              <a:latin typeface="Play"/>
              <a:ea typeface="Play"/>
              <a:cs typeface="Play"/>
              <a:sym typeface="Play"/>
            </a:endParaRPr>
          </a:p>
        </p:txBody>
      </p:sp>
      <p:sp>
        <p:nvSpPr>
          <p:cNvPr id="471" name="Google Shape;471;p32"/>
          <p:cNvSpPr txBox="1"/>
          <p:nvPr/>
        </p:nvSpPr>
        <p:spPr>
          <a:xfrm>
            <a:off x="838200" y="365125"/>
            <a:ext cx="10515600" cy="1325563"/>
          </a:xfrm>
          <a:prstGeom prst="rect">
            <a:avLst/>
          </a:prstGeom>
          <a:noFill/>
          <a:ln>
            <a:noFill/>
          </a:ln>
        </p:spPr>
        <p:txBody>
          <a:bodyPr anchorCtr="0" anchor="b"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400"/>
              <a:buFont typeface="Play"/>
              <a:buNone/>
            </a:pPr>
            <a:r>
              <a:t/>
            </a:r>
            <a:endParaRPr b="0" i="0" sz="4400" u="none" cap="none" strike="noStrike">
              <a:solidFill>
                <a:srgbClr val="000000"/>
              </a:solidFill>
              <a:latin typeface="Play"/>
              <a:ea typeface="Play"/>
              <a:cs typeface="Play"/>
              <a:sym typeface="Pla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33"/>
          <p:cNvSpPr txBox="1"/>
          <p:nvPr>
            <p:ph type="title"/>
          </p:nvPr>
        </p:nvSpPr>
        <p:spPr>
          <a:xfrm>
            <a:off x="694266" y="271991"/>
            <a:ext cx="10803467"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000"/>
              <a:buFont typeface="Play"/>
              <a:buNone/>
            </a:pPr>
            <a:r>
              <a:rPr lang="en-US" sz="4000"/>
              <a:t>Better LLMs unlock new uses but quality is unclear</a:t>
            </a:r>
            <a:endParaRPr/>
          </a:p>
        </p:txBody>
      </p:sp>
      <p:sp>
        <p:nvSpPr>
          <p:cNvPr id="477" name="Google Shape;477;p33"/>
          <p:cNvSpPr txBox="1"/>
          <p:nvPr>
            <p:ph idx="1" type="body"/>
          </p:nvPr>
        </p:nvSpPr>
        <p:spPr>
          <a:xfrm>
            <a:off x="694266" y="1825625"/>
            <a:ext cx="10727267" cy="4667250"/>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lang="en-US"/>
              <a:t>LLMs now handle longer, more </a:t>
            </a:r>
            <a:br>
              <a:rPr lang="en-US"/>
            </a:br>
            <a:r>
              <a:rPr lang="en-US"/>
              <a:t>complex inputs</a:t>
            </a:r>
            <a:br>
              <a:rPr lang="en-US"/>
            </a:br>
            <a:endParaRPr/>
          </a:p>
          <a:p>
            <a:pPr indent="-228600" lvl="0" marL="228600" rtl="0" algn="l">
              <a:lnSpc>
                <a:spcPct val="90000"/>
              </a:lnSpc>
              <a:spcBef>
                <a:spcPts val="1000"/>
              </a:spcBef>
              <a:spcAft>
                <a:spcPts val="0"/>
              </a:spcAft>
              <a:buClr>
                <a:srgbClr val="000000"/>
              </a:buClr>
              <a:buSzPts val="2800"/>
              <a:buChar char="•"/>
            </a:pPr>
            <a:r>
              <a:rPr lang="en-US"/>
              <a:t>This makes it possible to apply </a:t>
            </a:r>
            <a:br>
              <a:rPr lang="en-US"/>
            </a:br>
            <a:r>
              <a:rPr lang="en-US"/>
              <a:t>LLMs to new domains such as </a:t>
            </a:r>
            <a:br>
              <a:rPr lang="en-US"/>
            </a:br>
            <a:r>
              <a:rPr lang="en-US"/>
              <a:t>law, medicine, and finance</a:t>
            </a:r>
            <a:br>
              <a:rPr lang="en-US"/>
            </a:br>
            <a:r>
              <a:rPr lang="en-US"/>
              <a:t> </a:t>
            </a:r>
            <a:endParaRPr/>
          </a:p>
          <a:p>
            <a:pPr indent="-228600" lvl="0" marL="228600" rtl="0" algn="l">
              <a:lnSpc>
                <a:spcPct val="90000"/>
              </a:lnSpc>
              <a:spcBef>
                <a:spcPts val="1000"/>
              </a:spcBef>
              <a:spcAft>
                <a:spcPts val="0"/>
              </a:spcAft>
              <a:buClr>
                <a:srgbClr val="000000"/>
              </a:buClr>
              <a:buSzPts val="2800"/>
              <a:buChar char="•"/>
            </a:pPr>
            <a:r>
              <a:rPr lang="en-US"/>
              <a:t>But evaluation is a bottleneck</a:t>
            </a:r>
            <a:endParaRPr/>
          </a:p>
          <a:p>
            <a:pPr indent="-514350" lvl="1" marL="971550" rtl="0" algn="l">
              <a:lnSpc>
                <a:spcPct val="90000"/>
              </a:lnSpc>
              <a:spcBef>
                <a:spcPts val="1000"/>
              </a:spcBef>
              <a:spcAft>
                <a:spcPts val="0"/>
              </a:spcAft>
              <a:buClr>
                <a:srgbClr val="000000"/>
              </a:buClr>
              <a:buSzPts val="2800"/>
              <a:buFont typeface="Arial"/>
              <a:buAutoNum type="arabicPeriod"/>
            </a:pPr>
            <a:r>
              <a:rPr lang="en-US"/>
              <a:t>Good data to build benchmarks is hard to find</a:t>
            </a:r>
            <a:endParaRPr/>
          </a:p>
          <a:p>
            <a:pPr indent="-514350" lvl="1" marL="971550" rtl="0" algn="l">
              <a:lnSpc>
                <a:spcPct val="90000"/>
              </a:lnSpc>
              <a:spcBef>
                <a:spcPts val="1000"/>
              </a:spcBef>
              <a:spcAft>
                <a:spcPts val="0"/>
              </a:spcAft>
              <a:buClr>
                <a:srgbClr val="000000"/>
              </a:buClr>
              <a:buSzPts val="2800"/>
              <a:buFont typeface="Arial"/>
              <a:buAutoNum type="arabicPeriod"/>
            </a:pPr>
            <a:r>
              <a:rPr lang="en-US"/>
              <a:t>Model performance is hard to measure</a:t>
            </a:r>
            <a:endParaRPr/>
          </a:p>
        </p:txBody>
      </p:sp>
      <p:pic>
        <p:nvPicPr>
          <p:cNvPr descr="Understanding the Impact of Increasing LLM Context Windows - Meibel" id="478" name="Google Shape;478;p33"/>
          <p:cNvPicPr preferRelativeResize="0"/>
          <p:nvPr/>
        </p:nvPicPr>
        <p:blipFill rotWithShape="1">
          <a:blip r:embed="rId3">
            <a:alphaModFix/>
          </a:blip>
          <a:srcRect b="0" l="0" r="0" t="5165"/>
          <a:stretch/>
        </p:blipFill>
        <p:spPr>
          <a:xfrm>
            <a:off x="6246051" y="1711722"/>
            <a:ext cx="5548016" cy="3062023"/>
          </a:xfrm>
          <a:prstGeom prst="rect">
            <a:avLst/>
          </a:prstGeom>
          <a:noFill/>
          <a:ln>
            <a:noFill/>
          </a:ln>
        </p:spPr>
      </p:pic>
      <p:sp>
        <p:nvSpPr>
          <p:cNvPr id="479" name="Google Shape;479;p3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small" strike="noStrike">
                <a:solidFill>
                  <a:srgbClr val="000000"/>
                </a:solidFill>
                <a:latin typeface="Play"/>
                <a:ea typeface="Play"/>
                <a:cs typeface="Play"/>
                <a:sym typeface="Play"/>
              </a:rPr>
              <a:t>CaseSumm</a:t>
            </a:r>
            <a:r>
              <a:rPr b="0" i="0" lang="en-US" sz="4180" u="none" cap="none" strike="noStrike">
                <a:solidFill>
                  <a:srgbClr val="000000"/>
                </a:solidFill>
                <a:latin typeface="Play"/>
                <a:ea typeface="Play"/>
                <a:cs typeface="Play"/>
                <a:sym typeface="Play"/>
              </a:rPr>
              <a:t> is a dataset for long-context legal summarization</a:t>
            </a:r>
            <a:endParaRPr b="0" i="0" sz="4180" u="none" cap="none" strike="noStrike">
              <a:solidFill>
                <a:srgbClr val="000000"/>
              </a:solidFill>
              <a:latin typeface="Play"/>
              <a:ea typeface="Play"/>
              <a:cs typeface="Play"/>
              <a:sym typeface="Play"/>
            </a:endParaRPr>
          </a:p>
        </p:txBody>
      </p:sp>
      <p:sp>
        <p:nvSpPr>
          <p:cNvPr id="485" name="Google Shape;485;p34"/>
          <p:cNvSpPr txBox="1"/>
          <p:nvPr>
            <p:ph idx="1" type="body"/>
          </p:nvPr>
        </p:nvSpPr>
        <p:spPr>
          <a:xfrm>
            <a:off x="5972244" y="2142067"/>
            <a:ext cx="5736686" cy="4064000"/>
          </a:xfrm>
          <a:prstGeom prst="rect">
            <a:avLst/>
          </a:prstGeom>
          <a:noFill/>
          <a:ln>
            <a:noFill/>
          </a:ln>
        </p:spPr>
        <p:txBody>
          <a:bodyPr anchorCtr="0" anchor="t" bIns="45700" lIns="45700" spcFirstLastPara="1" rIns="45700" wrap="square" tIns="45700">
            <a:normAutofit/>
          </a:bodyPr>
          <a:lstStyle/>
          <a:p>
            <a:pPr indent="-228600" lvl="0" marL="228600" rtl="0" algn="l">
              <a:lnSpc>
                <a:spcPct val="110000"/>
              </a:lnSpc>
              <a:spcBef>
                <a:spcPts val="0"/>
              </a:spcBef>
              <a:spcAft>
                <a:spcPts val="0"/>
              </a:spcAft>
              <a:buClr>
                <a:srgbClr val="000000"/>
              </a:buClr>
              <a:buSzPts val="2400"/>
              <a:buFont typeface="NTR"/>
              <a:buChar char="-"/>
            </a:pPr>
            <a:r>
              <a:rPr b="1" lang="en-US" sz="2400"/>
              <a:t>25.6K </a:t>
            </a:r>
            <a:r>
              <a:rPr lang="en-US" sz="2400"/>
              <a:t>U.S. Supreme Court cases and their official summaries</a:t>
            </a:r>
            <a:endParaRPr/>
          </a:p>
          <a:p>
            <a:pPr indent="-228600" lvl="0" marL="228600" rtl="0" algn="l">
              <a:lnSpc>
                <a:spcPct val="110000"/>
              </a:lnSpc>
              <a:spcBef>
                <a:spcPts val="1000"/>
              </a:spcBef>
              <a:spcAft>
                <a:spcPts val="0"/>
              </a:spcAft>
              <a:buClr>
                <a:srgbClr val="000000"/>
              </a:buClr>
              <a:buSzPts val="2400"/>
              <a:buFont typeface="NTR"/>
              <a:buChar char="-"/>
            </a:pPr>
            <a:r>
              <a:rPr b="1" lang="en-US" sz="2400"/>
              <a:t>25% larger</a:t>
            </a:r>
            <a:r>
              <a:rPr lang="en-US" sz="2400"/>
              <a:t>, covers </a:t>
            </a:r>
            <a:r>
              <a:rPr b="1" lang="en-US" sz="2400"/>
              <a:t>3 times as many years</a:t>
            </a:r>
            <a:r>
              <a:rPr lang="en-US" sz="2400"/>
              <a:t> (1815-2019), and is </a:t>
            </a:r>
            <a:r>
              <a:rPr b="1" lang="en-US" sz="2400"/>
              <a:t>publicly available</a:t>
            </a:r>
            <a:r>
              <a:rPr lang="en-US" sz="2400"/>
              <a:t> with fewer copyright restrictions than similar legal datasets</a:t>
            </a:r>
            <a:endParaRPr/>
          </a:p>
          <a:p>
            <a:pPr indent="-228600" lvl="0" marL="228600" rtl="0" algn="l">
              <a:lnSpc>
                <a:spcPct val="110000"/>
              </a:lnSpc>
              <a:spcBef>
                <a:spcPts val="1000"/>
              </a:spcBef>
              <a:spcAft>
                <a:spcPts val="0"/>
              </a:spcAft>
              <a:buClr>
                <a:srgbClr val="000000"/>
              </a:buClr>
              <a:buSzPts val="2400"/>
              <a:buFont typeface="NTR"/>
              <a:buChar char="-"/>
            </a:pPr>
            <a:r>
              <a:rPr lang="en-US" sz="2400"/>
              <a:t>Rich resource for both </a:t>
            </a:r>
            <a:r>
              <a:rPr b="1" lang="en-US" sz="2400"/>
              <a:t>legal</a:t>
            </a:r>
            <a:r>
              <a:rPr lang="en-US" sz="2400"/>
              <a:t> and </a:t>
            </a:r>
            <a:r>
              <a:rPr b="1" lang="en-US" sz="2400"/>
              <a:t>long-context</a:t>
            </a:r>
            <a:r>
              <a:rPr lang="en-US" sz="2400"/>
              <a:t> AI research communities</a:t>
            </a:r>
            <a:endParaRPr/>
          </a:p>
        </p:txBody>
      </p:sp>
      <p:sp>
        <p:nvSpPr>
          <p:cNvPr id="486" name="Google Shape;486;p3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grpSp>
        <p:nvGrpSpPr>
          <p:cNvPr id="487" name="Google Shape;487;p34"/>
          <p:cNvGrpSpPr/>
          <p:nvPr/>
        </p:nvGrpSpPr>
        <p:grpSpPr>
          <a:xfrm>
            <a:off x="483069" y="2310118"/>
            <a:ext cx="4971201" cy="3053555"/>
            <a:chOff x="-1" y="-3"/>
            <a:chExt cx="4971199" cy="3053553"/>
          </a:xfrm>
        </p:grpSpPr>
        <p:grpSp>
          <p:nvGrpSpPr>
            <p:cNvPr id="488" name="Google Shape;488;p34"/>
            <p:cNvGrpSpPr/>
            <p:nvPr/>
          </p:nvGrpSpPr>
          <p:grpSpPr>
            <a:xfrm>
              <a:off x="-1" y="-3"/>
              <a:ext cx="4971199" cy="3053553"/>
              <a:chOff x="-1" y="-2"/>
              <a:chExt cx="4971199" cy="3053551"/>
            </a:xfrm>
          </p:grpSpPr>
          <p:grpSp>
            <p:nvGrpSpPr>
              <p:cNvPr id="489" name="Google Shape;489;p34"/>
              <p:cNvGrpSpPr/>
              <p:nvPr/>
            </p:nvGrpSpPr>
            <p:grpSpPr>
              <a:xfrm>
                <a:off x="0" y="-2"/>
                <a:ext cx="4971198" cy="2939688"/>
                <a:chOff x="0" y="-1"/>
                <a:chExt cx="4971197" cy="2939686"/>
              </a:xfrm>
            </p:grpSpPr>
            <p:pic>
              <p:nvPicPr>
                <p:cNvPr descr="Picture 4" id="490" name="Google Shape;490;p34"/>
                <p:cNvPicPr preferRelativeResize="0"/>
                <p:nvPr/>
              </p:nvPicPr>
              <p:blipFill rotWithShape="1">
                <a:blip r:embed="rId3">
                  <a:alphaModFix/>
                </a:blip>
                <a:srcRect b="62953" l="0" r="0" t="1"/>
                <a:stretch/>
              </p:blipFill>
              <p:spPr>
                <a:xfrm>
                  <a:off x="0" y="-1"/>
                  <a:ext cx="4971197" cy="2939686"/>
                </a:xfrm>
                <a:prstGeom prst="rect">
                  <a:avLst/>
                </a:prstGeom>
                <a:noFill/>
                <a:ln>
                  <a:noFill/>
                </a:ln>
              </p:spPr>
            </p:pic>
            <p:sp>
              <p:nvSpPr>
                <p:cNvPr id="491" name="Google Shape;491;p34"/>
                <p:cNvSpPr/>
                <p:nvPr/>
              </p:nvSpPr>
              <p:spPr>
                <a:xfrm>
                  <a:off x="2020987" y="500746"/>
                  <a:ext cx="810614" cy="294769"/>
                </a:xfrm>
                <a:prstGeom prst="rect">
                  <a:avLst/>
                </a:prstGeom>
                <a:noFill/>
                <a:ln cap="flat" cmpd="sng" w="28575">
                  <a:solidFill>
                    <a:srgbClr val="FF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92" name="Google Shape;492;p34"/>
              <p:cNvSpPr/>
              <p:nvPr/>
            </p:nvSpPr>
            <p:spPr>
              <a:xfrm>
                <a:off x="-1" y="113863"/>
                <a:ext cx="4971198" cy="2939686"/>
              </a:xfrm>
              <a:prstGeom prst="rect">
                <a:avLst/>
              </a:prstGeom>
              <a:noFill/>
              <a:ln cap="flat" cmpd="sng" w="19050">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descr="Picture 8" id="493" name="Google Shape;493;p34"/>
            <p:cNvPicPr preferRelativeResize="0"/>
            <p:nvPr/>
          </p:nvPicPr>
          <p:blipFill rotWithShape="1">
            <a:blip r:embed="rId4">
              <a:alphaModFix/>
            </a:blip>
            <a:srcRect b="0" l="0" r="0" t="0"/>
            <a:stretch/>
          </p:blipFill>
          <p:spPr>
            <a:xfrm>
              <a:off x="672184" y="175749"/>
              <a:ext cx="830828" cy="830828"/>
            </a:xfrm>
            <a:prstGeom prst="rect">
              <a:avLst/>
            </a:prstGeom>
            <a:noFill/>
            <a:ln>
              <a:noFill/>
            </a:ln>
          </p:spPr>
        </p:pic>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7" name="Shape 497"/>
        <p:cNvGrpSpPr/>
        <p:nvPr/>
      </p:nvGrpSpPr>
      <p:grpSpPr>
        <a:xfrm>
          <a:off x="0" y="0"/>
          <a:ext cx="0" cy="0"/>
          <a:chOff x="0" y="0"/>
          <a:chExt cx="0" cy="0"/>
        </a:xfrm>
      </p:grpSpPr>
      <p:sp>
        <p:nvSpPr>
          <p:cNvPr id="498" name="Google Shape;498;p35"/>
          <p:cNvSpPr txBox="1"/>
          <p:nvPr>
            <p:ph type="title"/>
          </p:nvPr>
        </p:nvSpPr>
        <p:spPr>
          <a:xfrm>
            <a:off x="838200" y="365125"/>
            <a:ext cx="108712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Error Analysis of Model Performance &amp; Evaluation Metrics</a:t>
            </a:r>
            <a:endParaRPr/>
          </a:p>
        </p:txBody>
      </p:sp>
      <p:sp>
        <p:nvSpPr>
          <p:cNvPr id="499" name="Google Shape;499;p35"/>
          <p:cNvSpPr txBox="1"/>
          <p:nvPr>
            <p:ph idx="1" type="body"/>
          </p:nvPr>
        </p:nvSpPr>
        <p:spPr>
          <a:xfrm>
            <a:off x="838200" y="1902355"/>
            <a:ext cx="10515600" cy="4486275"/>
          </a:xfrm>
          <a:prstGeom prst="rect">
            <a:avLst/>
          </a:prstGeom>
          <a:noFill/>
          <a:ln>
            <a:noFill/>
          </a:ln>
        </p:spPr>
        <p:txBody>
          <a:bodyPr anchorCtr="0" anchor="t" bIns="45700" lIns="45700" spcFirstLastPara="1" rIns="45700" wrap="square" tIns="45700">
            <a:normAutofit/>
          </a:bodyPr>
          <a:lstStyle/>
          <a:p>
            <a:pPr indent="-203454" lvl="0" marL="203454" rtl="0" algn="l">
              <a:lnSpc>
                <a:spcPct val="120000"/>
              </a:lnSpc>
              <a:spcBef>
                <a:spcPts val="0"/>
              </a:spcBef>
              <a:spcAft>
                <a:spcPts val="0"/>
              </a:spcAft>
              <a:buClr>
                <a:srgbClr val="000000"/>
              </a:buClr>
              <a:buSzPts val="2400"/>
              <a:buChar char="•"/>
            </a:pPr>
            <a:r>
              <a:rPr lang="en-US"/>
              <a:t>We test 3 LLMs on summarizing </a:t>
            </a:r>
            <a:r>
              <a:rPr lang="en-US" cap="small"/>
              <a:t>CaseSumm </a:t>
            </a:r>
            <a:r>
              <a:rPr lang="en-US"/>
              <a:t>opinions.</a:t>
            </a:r>
            <a:endParaRPr/>
          </a:p>
          <a:p>
            <a:pPr indent="-203454" lvl="0" marL="203454" rtl="0" algn="l">
              <a:lnSpc>
                <a:spcPct val="120000"/>
              </a:lnSpc>
              <a:spcBef>
                <a:spcPts val="800"/>
              </a:spcBef>
              <a:spcAft>
                <a:spcPts val="0"/>
              </a:spcAft>
              <a:buClr>
                <a:srgbClr val="000000"/>
              </a:buClr>
              <a:buSzPts val="2400"/>
              <a:buChar char="•"/>
            </a:pPr>
            <a:r>
              <a:rPr lang="en-US"/>
              <a:t>We compare reference-overlap metrics, expert human judgments, and LLM-based eval.</a:t>
            </a:r>
            <a:endParaRPr/>
          </a:p>
          <a:p>
            <a:pPr indent="-203454" lvl="0" marL="203454" rtl="0" algn="l">
              <a:lnSpc>
                <a:spcPct val="120000"/>
              </a:lnSpc>
              <a:spcBef>
                <a:spcPts val="800"/>
              </a:spcBef>
              <a:spcAft>
                <a:spcPts val="0"/>
              </a:spcAft>
              <a:buClr>
                <a:srgbClr val="000000"/>
              </a:buClr>
              <a:buSzPts val="2400"/>
              <a:buChar char="•"/>
            </a:pPr>
            <a:r>
              <a:rPr lang="en-US"/>
              <a:t>Automatic metrics reward models fine-tuned on syllabuses, but experts most often prefer GPT-4 summaries, including over human-written ones.</a:t>
            </a:r>
            <a:endParaRPr/>
          </a:p>
          <a:p>
            <a:pPr indent="-203454" lvl="0" marL="203454" rtl="0" algn="l">
              <a:lnSpc>
                <a:spcPct val="120000"/>
              </a:lnSpc>
              <a:spcBef>
                <a:spcPts val="800"/>
              </a:spcBef>
              <a:spcAft>
                <a:spcPts val="0"/>
              </a:spcAft>
              <a:buClr>
                <a:srgbClr val="000000"/>
              </a:buClr>
              <a:buSzPts val="2400"/>
              <a:buChar char="•"/>
            </a:pPr>
            <a:r>
              <a:rPr lang="en-US"/>
              <a:t>LLM-based evaluators correlate poorly with experts, and errors are increasingly hard to notice, and require careful expert attention to detect.</a:t>
            </a:r>
            <a:endParaRPr/>
          </a:p>
        </p:txBody>
      </p:sp>
      <p:sp>
        <p:nvSpPr>
          <p:cNvPr id="500" name="Google Shape;500;p3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6"/>
          <p:cNvSpPr/>
          <p:nvPr/>
        </p:nvSpPr>
        <p:spPr>
          <a:xfrm>
            <a:off x="797982" y="5130508"/>
            <a:ext cx="10515600" cy="967158"/>
          </a:xfrm>
          <a:prstGeom prst="roundRect">
            <a:avLst>
              <a:gd fmla="val 23644" name="adj"/>
            </a:avLst>
          </a:prstGeom>
          <a:solidFill>
            <a:srgbClr val="EDEDED"/>
          </a:solidFill>
          <a:ln cap="flat" cmpd="sng" w="25400">
            <a:solidFill>
              <a:schemeClr val="dk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6" name="Google Shape;506;p3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200"/>
              <a:buFont typeface="Play"/>
              <a:buNone/>
            </a:pPr>
            <a:r>
              <a:rPr lang="en-US" sz="4200"/>
              <a:t>Work Overview</a:t>
            </a:r>
            <a:endParaRPr/>
          </a:p>
        </p:txBody>
      </p:sp>
      <p:sp>
        <p:nvSpPr>
          <p:cNvPr id="507" name="Google Shape;507;p36"/>
          <p:cNvSpPr txBox="1"/>
          <p:nvPr>
            <p:ph idx="1" type="body"/>
          </p:nvPr>
        </p:nvSpPr>
        <p:spPr>
          <a:xfrm>
            <a:off x="838200" y="1690688"/>
            <a:ext cx="10515600" cy="4578667"/>
          </a:xfrm>
          <a:prstGeom prst="rect">
            <a:avLst/>
          </a:prstGeom>
          <a:noFill/>
          <a:ln>
            <a:noFill/>
          </a:ln>
        </p:spPr>
        <p:txBody>
          <a:bodyPr anchorCtr="0" anchor="t" bIns="45700" lIns="45700" spcFirstLastPara="1" rIns="45700" wrap="square" tIns="45700">
            <a:normAutofit fontScale="92500" lnSpcReduction="10000"/>
          </a:bodyPr>
          <a:lstStyle/>
          <a:p>
            <a:pPr indent="-228600" lvl="0" marL="228600" marR="0" rtl="0" algn="l">
              <a:lnSpc>
                <a:spcPct val="114000"/>
              </a:lnSpc>
              <a:spcBef>
                <a:spcPts val="0"/>
              </a:spcBef>
              <a:spcAft>
                <a:spcPts val="0"/>
              </a:spcAft>
              <a:buClr>
                <a:srgbClr val="CACACA"/>
              </a:buClr>
              <a:buSzPct val="100000"/>
              <a:buFont typeface="NTR"/>
              <a:buChar char="-"/>
            </a:pPr>
            <a:r>
              <a:rPr lang="en-US">
                <a:solidFill>
                  <a:srgbClr val="CACACA"/>
                </a:solidFill>
              </a:rPr>
              <a:t>Language of Bargaining </a:t>
            </a:r>
            <a:r>
              <a:rPr b="0" i="0" lang="en-US" sz="1800" u="none" cap="none" strike="noStrike">
                <a:solidFill>
                  <a:srgbClr val="CACACA"/>
                </a:solidFill>
                <a:latin typeface="Arial"/>
                <a:ea typeface="Arial"/>
                <a:cs typeface="Arial"/>
                <a:sym typeface="Arial"/>
              </a:rPr>
              <a:t>[</a:t>
            </a:r>
            <a:r>
              <a:rPr b="1" i="0" lang="en-US" sz="1800" u="none" cap="none" strike="noStrike">
                <a:solidFill>
                  <a:srgbClr val="CACACA"/>
                </a:solidFill>
                <a:latin typeface="Arial"/>
                <a:ea typeface="Arial"/>
                <a:cs typeface="Arial"/>
                <a:sym typeface="Arial"/>
              </a:rPr>
              <a:t>M. Heddaya</a:t>
            </a:r>
            <a:r>
              <a:rPr b="0" i="0" lang="en-US" sz="1800" u="none" cap="none" strike="noStrike">
                <a:solidFill>
                  <a:srgbClr val="CACACA"/>
                </a:solidFill>
                <a:latin typeface="Arial"/>
                <a:ea typeface="Arial"/>
                <a:cs typeface="Arial"/>
                <a:sym typeface="Arial"/>
              </a:rPr>
              <a:t>, Dworkin, Tan, Voigt, Zeng, Zentefis, 2023]</a:t>
            </a:r>
            <a:endParaRPr>
              <a:solidFill>
                <a:srgbClr val="CACACA"/>
              </a:solidFill>
            </a:endParaRPr>
          </a:p>
          <a:p>
            <a:pPr indent="-228600" lvl="0" marL="228600" marR="0" rtl="0" algn="l">
              <a:lnSpc>
                <a:spcPct val="114000"/>
              </a:lnSpc>
              <a:spcBef>
                <a:spcPts val="1000"/>
              </a:spcBef>
              <a:spcAft>
                <a:spcPts val="0"/>
              </a:spcAft>
              <a:buClr>
                <a:srgbClr val="000000"/>
              </a:buClr>
              <a:buSzPct val="155556"/>
              <a:buFont typeface="NTR"/>
              <a:buChar char="-"/>
            </a:pPr>
            <a:r>
              <a:rPr b="1" lang="en-US"/>
              <a:t>Causal Micro-Narratives  </a:t>
            </a:r>
            <a:r>
              <a:rPr b="0" i="0" lang="en-US" sz="1800" u="none" cap="none" strike="noStrike">
                <a:solidFill>
                  <a:srgbClr val="000000"/>
                </a:solidFill>
                <a:latin typeface="Arial"/>
                <a:ea typeface="Arial"/>
                <a:cs typeface="Arial"/>
                <a:sym typeface="Arial"/>
              </a:rPr>
              <a:t>[</a:t>
            </a:r>
            <a:r>
              <a:rPr b="1" i="0" lang="en-US" sz="1800" u="none" cap="none" strike="noStrike">
                <a:solidFill>
                  <a:srgbClr val="000000"/>
                </a:solidFill>
                <a:latin typeface="Arial"/>
                <a:ea typeface="Arial"/>
                <a:cs typeface="Arial"/>
                <a:sym typeface="Arial"/>
              </a:rPr>
              <a:t>M. Heddaya</a:t>
            </a:r>
            <a:r>
              <a:rPr b="0" i="0" lang="en-US" sz="1800" u="none" cap="none" strike="noStrike">
                <a:solidFill>
                  <a:srgbClr val="000000"/>
                </a:solidFill>
                <a:latin typeface="Arial"/>
                <a:ea typeface="Arial"/>
                <a:cs typeface="Arial"/>
                <a:sym typeface="Arial"/>
              </a:rPr>
              <a:t>, Zeng, Tan, Voigt, Zentefis, 2024]</a:t>
            </a:r>
            <a:endParaRPr i="0" sz="1800" u="none" cap="none" strike="noStrike">
              <a:solidFill>
                <a:srgbClr val="000000"/>
              </a:solidFill>
              <a:latin typeface="Arial"/>
              <a:ea typeface="Arial"/>
              <a:cs typeface="Arial"/>
              <a:sym typeface="Arial"/>
            </a:endParaRPr>
          </a:p>
          <a:p>
            <a:pPr indent="-266700" lvl="1" marL="723900" rtl="0" algn="l">
              <a:lnSpc>
                <a:spcPct val="114000"/>
              </a:lnSpc>
              <a:spcBef>
                <a:spcPts val="1000"/>
              </a:spcBef>
              <a:spcAft>
                <a:spcPts val="0"/>
              </a:spcAft>
              <a:buClr>
                <a:srgbClr val="000000"/>
              </a:buClr>
              <a:buSzPct val="100000"/>
              <a:buFont typeface="NTR"/>
              <a:buChar char="-"/>
            </a:pPr>
            <a:r>
              <a:rPr b="1" lang="en-US"/>
              <a:t>A Century of Inflation Narratives</a:t>
            </a:r>
            <a:r>
              <a:rPr lang="en-US"/>
              <a:t> </a:t>
            </a:r>
            <a:r>
              <a:rPr lang="en-US" sz="1800"/>
              <a:t>[</a:t>
            </a:r>
            <a:r>
              <a:rPr b="1" lang="en-US" sz="1800"/>
              <a:t>M. Heddaya</a:t>
            </a:r>
            <a:r>
              <a:rPr lang="en-US" sz="1800"/>
              <a:t>, Zeng, Tan, Voigt, Zentefis, 2025]</a:t>
            </a:r>
            <a:endParaRPr/>
          </a:p>
          <a:p>
            <a:pPr indent="-228600" lvl="0" marL="228600" rtl="0" algn="l">
              <a:lnSpc>
                <a:spcPct val="114000"/>
              </a:lnSpc>
              <a:spcBef>
                <a:spcPts val="1000"/>
              </a:spcBef>
              <a:spcAft>
                <a:spcPts val="0"/>
              </a:spcAft>
              <a:buClr>
                <a:srgbClr val="000000"/>
              </a:buClr>
              <a:buSzPct val="100000"/>
              <a:buFont typeface="NTR"/>
              <a:buChar char="-"/>
            </a:pPr>
            <a:r>
              <a:rPr b="1" lang="en-US" cap="small"/>
              <a:t>CaseSumm</a:t>
            </a:r>
            <a:r>
              <a:rPr b="1" lang="en-US"/>
              <a:t>: A Large-Scale Dataset for Long-Context Summarization from Supreme Court Opinions </a:t>
            </a:r>
            <a:r>
              <a:rPr lang="en-US" sz="1800"/>
              <a:t>[</a:t>
            </a:r>
            <a:r>
              <a:rPr b="1" lang="en-US" sz="1800"/>
              <a:t>M. Heddaya</a:t>
            </a:r>
            <a:r>
              <a:rPr lang="en-US" sz="1800"/>
              <a:t>, MacMillan, Malani, Mei, Tan, 2025]</a:t>
            </a:r>
            <a:endParaRPr/>
          </a:p>
          <a:p>
            <a:pPr indent="-228600" lvl="0" marL="228600" rtl="0" algn="l">
              <a:lnSpc>
                <a:spcPct val="114000"/>
              </a:lnSpc>
              <a:spcBef>
                <a:spcPts val="1000"/>
              </a:spcBef>
              <a:spcAft>
                <a:spcPts val="0"/>
              </a:spcAft>
              <a:buClr>
                <a:srgbClr val="CACACA"/>
              </a:buClr>
              <a:buSzPct val="100000"/>
              <a:buFont typeface="NTR"/>
              <a:buChar char="-"/>
            </a:pPr>
            <a:r>
              <a:rPr lang="en-US">
                <a:solidFill>
                  <a:srgbClr val="CACACA"/>
                </a:solidFill>
              </a:rPr>
              <a:t>When Internalization Fails: Finding Better Targets for Reasoning Compression </a:t>
            </a:r>
            <a:r>
              <a:rPr lang="en-US" sz="1800">
                <a:solidFill>
                  <a:srgbClr val="CACACA"/>
                </a:solidFill>
              </a:rPr>
              <a:t>[</a:t>
            </a:r>
            <a:r>
              <a:rPr b="1" lang="en-US" sz="1800">
                <a:solidFill>
                  <a:srgbClr val="CACACA"/>
                </a:solidFill>
              </a:rPr>
              <a:t>Mourad Heddaya</a:t>
            </a:r>
            <a:r>
              <a:rPr lang="en-US" sz="1800">
                <a:solidFill>
                  <a:srgbClr val="CACACA"/>
                </a:solidFill>
              </a:rPr>
              <a:t>, Roberts, Wadhawan, Tan, 2026]</a:t>
            </a:r>
            <a:endParaRPr/>
          </a:p>
          <a:p>
            <a:pPr indent="-228600" lvl="0" marL="228600" rtl="0" algn="l">
              <a:lnSpc>
                <a:spcPct val="114000"/>
              </a:lnSpc>
              <a:spcBef>
                <a:spcPts val="1000"/>
              </a:spcBef>
              <a:spcAft>
                <a:spcPts val="0"/>
              </a:spcAft>
              <a:buClr>
                <a:srgbClr val="000000"/>
              </a:buClr>
              <a:buSzPct val="100000"/>
              <a:buFont typeface="NTR"/>
              <a:buChar char="-"/>
            </a:pPr>
            <a:r>
              <a:rPr b="1" lang="en-US"/>
              <a:t>CivicChats: Shaping the Future of Civic Discourse</a:t>
            </a:r>
            <a:r>
              <a:rPr lang="en-US"/>
              <a:t> </a:t>
            </a:r>
            <a:r>
              <a:rPr lang="en-US" sz="1800"/>
              <a:t>[</a:t>
            </a:r>
            <a:r>
              <a:rPr b="1" lang="en-US" sz="1800"/>
              <a:t>M. Heddaya</a:t>
            </a:r>
            <a:r>
              <a:rPr lang="en-US" sz="1800"/>
              <a:t>, Zhou, Margie, Lee, Tan, Xie, Mendelsohn]</a:t>
            </a:r>
            <a:endParaRPr/>
          </a:p>
        </p:txBody>
      </p:sp>
      <p:sp>
        <p:nvSpPr>
          <p:cNvPr id="508" name="Google Shape;508;p3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509" name="Google Shape;509;p36"/>
          <p:cNvSpPr txBox="1"/>
          <p:nvPr/>
        </p:nvSpPr>
        <p:spPr>
          <a:xfrm>
            <a:off x="831850" y="3837675"/>
            <a:ext cx="10521950" cy="1641475"/>
          </a:xfrm>
          <a:prstGeom prst="rect">
            <a:avLst/>
          </a:prstGeom>
          <a:noFill/>
          <a:ln>
            <a:noFill/>
          </a:ln>
        </p:spPr>
        <p:txBody>
          <a:bodyPr anchorCtr="0" anchor="b" bIns="45700" lIns="45700" spcFirstLastPara="1" rIns="45700" wrap="square" tIns="45700">
            <a:normAutofit/>
          </a:bodyPr>
          <a:lstStyle/>
          <a:p>
            <a:pPr indent="0" lvl="0" marL="0" marR="0" rtl="0" algn="l">
              <a:lnSpc>
                <a:spcPct val="90000"/>
              </a:lnSpc>
              <a:spcBef>
                <a:spcPts val="0"/>
              </a:spcBef>
              <a:spcAft>
                <a:spcPts val="0"/>
              </a:spcAft>
              <a:buClr>
                <a:srgbClr val="000000"/>
              </a:buClr>
              <a:buSzPts val="6000"/>
              <a:buFont typeface="Play"/>
              <a:buNone/>
            </a:pPr>
            <a:r>
              <a:t/>
            </a:r>
            <a:endParaRPr b="0" i="0" sz="6000" u="none" cap="none" strike="noStrike">
              <a:solidFill>
                <a:srgbClr val="000000"/>
              </a:solidFill>
              <a:latin typeface="Play"/>
              <a:ea typeface="Play"/>
              <a:cs typeface="Play"/>
              <a:sym typeface="Play"/>
            </a:endParaRPr>
          </a:p>
        </p:txBody>
      </p:sp>
      <p:sp>
        <p:nvSpPr>
          <p:cNvPr id="510" name="Google Shape;510;p36"/>
          <p:cNvSpPr txBox="1"/>
          <p:nvPr/>
        </p:nvSpPr>
        <p:spPr>
          <a:xfrm>
            <a:off x="838200" y="365125"/>
            <a:ext cx="10515600" cy="1325563"/>
          </a:xfrm>
          <a:prstGeom prst="rect">
            <a:avLst/>
          </a:prstGeom>
          <a:noFill/>
          <a:ln>
            <a:noFill/>
          </a:ln>
        </p:spPr>
        <p:txBody>
          <a:bodyPr anchorCtr="0" anchor="b" bIns="45700" lIns="45700" spcFirstLastPara="1" rIns="45700" wrap="square" tIns="45700">
            <a:normAutofit/>
          </a:bodyPr>
          <a:lstStyle/>
          <a:p>
            <a:pPr indent="0" lvl="0" marL="0" marR="0" rtl="0" algn="l">
              <a:lnSpc>
                <a:spcPct val="90000"/>
              </a:lnSpc>
              <a:spcBef>
                <a:spcPts val="0"/>
              </a:spcBef>
              <a:spcAft>
                <a:spcPts val="0"/>
              </a:spcAft>
              <a:buClr>
                <a:srgbClr val="000000"/>
              </a:buClr>
              <a:buSzPts val="4400"/>
              <a:buFont typeface="Play"/>
              <a:buNone/>
            </a:pPr>
            <a:r>
              <a:t/>
            </a:r>
            <a:endParaRPr b="0" i="0" sz="4400" u="none" cap="none" strike="noStrike">
              <a:solidFill>
                <a:srgbClr val="000000"/>
              </a:solidFill>
              <a:latin typeface="Play"/>
              <a:ea typeface="Play"/>
              <a:cs typeface="Play"/>
              <a:sym typeface="Play"/>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Democracy &amp; AI</a:t>
            </a:r>
            <a:endParaRPr/>
          </a:p>
        </p:txBody>
      </p:sp>
      <p:sp>
        <p:nvSpPr>
          <p:cNvPr id="516" name="Google Shape;516;p37"/>
          <p:cNvSpPr txBox="1"/>
          <p:nvPr>
            <p:ph idx="1" type="body"/>
          </p:nvPr>
        </p:nvSpPr>
        <p:spPr>
          <a:xfrm>
            <a:off x="838200" y="1825625"/>
            <a:ext cx="6881037"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lang="en-US"/>
              <a:t>Democratic participation depends on an informed electorate</a:t>
            </a:r>
            <a:endParaRPr/>
          </a:p>
          <a:p>
            <a:pPr indent="-228600" lvl="0" marL="228600" rtl="0" algn="l">
              <a:lnSpc>
                <a:spcPct val="90000"/>
              </a:lnSpc>
              <a:spcBef>
                <a:spcPts val="1000"/>
              </a:spcBef>
              <a:spcAft>
                <a:spcPts val="0"/>
              </a:spcAft>
              <a:buClr>
                <a:srgbClr val="000000"/>
              </a:buClr>
              <a:buSzPts val="2800"/>
              <a:buChar char="•"/>
            </a:pPr>
            <a:r>
              <a:rPr lang="en-US"/>
              <a:t>Technology offers more access to information but can be counterproductive</a:t>
            </a:r>
            <a:endParaRPr/>
          </a:p>
          <a:p>
            <a:pPr indent="-228600" lvl="0" marL="228600" rtl="0" algn="l">
              <a:lnSpc>
                <a:spcPct val="90000"/>
              </a:lnSpc>
              <a:spcBef>
                <a:spcPts val="1000"/>
              </a:spcBef>
              <a:spcAft>
                <a:spcPts val="0"/>
              </a:spcAft>
              <a:buClr>
                <a:srgbClr val="000000"/>
              </a:buClr>
              <a:buSzPts val="2800"/>
              <a:buChar char="•"/>
            </a:pPr>
            <a:r>
              <a:rPr lang="en-US"/>
              <a:t>LLM chat interfaces allow personalized and interactive access to information</a:t>
            </a:r>
            <a:endParaRPr/>
          </a:p>
          <a:p>
            <a:pPr indent="-266700" lvl="1" marL="723900" rtl="0" algn="l">
              <a:lnSpc>
                <a:spcPct val="90000"/>
              </a:lnSpc>
              <a:spcBef>
                <a:spcPts val="1000"/>
              </a:spcBef>
              <a:spcAft>
                <a:spcPts val="0"/>
              </a:spcAft>
              <a:buClr>
                <a:srgbClr val="000000"/>
              </a:buClr>
              <a:buSzPts val="2800"/>
              <a:buChar char="•"/>
            </a:pPr>
            <a:r>
              <a:rPr lang="en-US"/>
              <a:t>But these chatbots can be sycophantic</a:t>
            </a:r>
            <a:endParaRPr/>
          </a:p>
          <a:p>
            <a:pPr indent="-50800" lvl="0" marL="228600" rtl="0" algn="l">
              <a:lnSpc>
                <a:spcPct val="90000"/>
              </a:lnSpc>
              <a:spcBef>
                <a:spcPts val="1000"/>
              </a:spcBef>
              <a:spcAft>
                <a:spcPts val="0"/>
              </a:spcAft>
              <a:buClr>
                <a:srgbClr val="000000"/>
              </a:buClr>
              <a:buSzPts val="2800"/>
              <a:buNone/>
            </a:pPr>
            <a:r>
              <a:t/>
            </a:r>
            <a:endParaRPr/>
          </a:p>
        </p:txBody>
      </p:sp>
      <p:pic>
        <p:nvPicPr>
          <p:cNvPr id="517" name="Google Shape;517;p37"/>
          <p:cNvPicPr preferRelativeResize="0"/>
          <p:nvPr/>
        </p:nvPicPr>
        <p:blipFill rotWithShape="1">
          <a:blip r:embed="rId3">
            <a:alphaModFix/>
          </a:blip>
          <a:srcRect b="0" l="0" r="0" t="0"/>
          <a:stretch/>
        </p:blipFill>
        <p:spPr>
          <a:xfrm>
            <a:off x="8039083" y="671123"/>
            <a:ext cx="3637202" cy="4626521"/>
          </a:xfrm>
          <a:prstGeom prst="rect">
            <a:avLst/>
          </a:prstGeom>
          <a:noFill/>
          <a:ln>
            <a:noFill/>
          </a:ln>
        </p:spPr>
      </p:pic>
      <p:sp>
        <p:nvSpPr>
          <p:cNvPr id="518" name="Google Shape;518;p37"/>
          <p:cNvSpPr/>
          <p:nvPr/>
        </p:nvSpPr>
        <p:spPr>
          <a:xfrm>
            <a:off x="1515506" y="5581721"/>
            <a:ext cx="8168840" cy="975014"/>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How can we build AI to strengthen democracy?</a:t>
            </a:r>
            <a:endParaRPr b="0" i="0" sz="2800" u="none" cap="none" strike="noStrike">
              <a:solidFill>
                <a:srgbClr val="000000"/>
              </a:solidFill>
              <a:latin typeface="Arial"/>
              <a:ea typeface="Arial"/>
              <a:cs typeface="Arial"/>
              <a:sym typeface="Arial"/>
            </a:endParaRPr>
          </a:p>
        </p:txBody>
      </p:sp>
      <p:sp>
        <p:nvSpPr>
          <p:cNvPr id="519" name="Google Shape;519;p3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Ballot measures are proposals put to a public vote </a:t>
            </a:r>
            <a:endParaRPr/>
          </a:p>
        </p:txBody>
      </p:sp>
      <p:pic>
        <p:nvPicPr>
          <p:cNvPr id="525" name="Google Shape;525;p38"/>
          <p:cNvPicPr preferRelativeResize="0"/>
          <p:nvPr/>
        </p:nvPicPr>
        <p:blipFill rotWithShape="1">
          <a:blip r:embed="rId3">
            <a:alphaModFix/>
          </a:blip>
          <a:srcRect b="0" l="0" r="0" t="0"/>
          <a:stretch/>
        </p:blipFill>
        <p:spPr>
          <a:xfrm>
            <a:off x="922433" y="2254358"/>
            <a:ext cx="10347134" cy="3667978"/>
          </a:xfrm>
          <a:prstGeom prst="rect">
            <a:avLst/>
          </a:prstGeom>
          <a:noFill/>
          <a:ln>
            <a:noFill/>
          </a:ln>
        </p:spPr>
      </p:pic>
      <p:sp>
        <p:nvSpPr>
          <p:cNvPr id="526" name="Google Shape;526;p3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Ballot measures contain complex language</a:t>
            </a:r>
            <a:endParaRPr/>
          </a:p>
        </p:txBody>
      </p:sp>
      <p:sp>
        <p:nvSpPr>
          <p:cNvPr id="532" name="Google Shape;532;p39"/>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124000"/>
              </a:lnSpc>
              <a:spcBef>
                <a:spcPts val="0"/>
              </a:spcBef>
              <a:spcAft>
                <a:spcPts val="0"/>
              </a:spcAft>
              <a:buClr>
                <a:srgbClr val="000000"/>
              </a:buClr>
              <a:buSzPts val="2800"/>
              <a:buChar char="•"/>
            </a:pPr>
            <a:r>
              <a:rPr lang="en-US"/>
              <a:t>Discourages participation by making measures harder to understand</a:t>
            </a:r>
            <a:endParaRPr/>
          </a:p>
          <a:p>
            <a:pPr indent="-228600" lvl="0" marL="228600" rtl="0" algn="l">
              <a:lnSpc>
                <a:spcPct val="124000"/>
              </a:lnSpc>
              <a:spcBef>
                <a:spcPts val="1000"/>
              </a:spcBef>
              <a:spcAft>
                <a:spcPts val="0"/>
              </a:spcAft>
              <a:buClr>
                <a:srgbClr val="000000"/>
              </a:buClr>
              <a:buSzPts val="2800"/>
              <a:buChar char="•"/>
            </a:pPr>
            <a:r>
              <a:rPr lang="en-US"/>
              <a:t>Increases likelihood that voters leave those questions blank </a:t>
            </a:r>
            <a:r>
              <a:rPr lang="en-US" sz="2000">
                <a:solidFill>
                  <a:schemeClr val="dk2"/>
                </a:solidFill>
              </a:rPr>
              <a:t>[Reilly and Richey 2011]</a:t>
            </a:r>
            <a:endParaRPr>
              <a:solidFill>
                <a:schemeClr val="dk2"/>
              </a:solidFill>
            </a:endParaRPr>
          </a:p>
          <a:p>
            <a:pPr indent="-228600" lvl="0" marL="228600" rtl="0" algn="l">
              <a:lnSpc>
                <a:spcPct val="124000"/>
              </a:lnSpc>
              <a:spcBef>
                <a:spcPts val="1000"/>
              </a:spcBef>
              <a:spcAft>
                <a:spcPts val="0"/>
              </a:spcAft>
              <a:buClr>
                <a:srgbClr val="000000"/>
              </a:buClr>
              <a:buSzPts val="2800"/>
              <a:buChar char="•"/>
            </a:pPr>
            <a:r>
              <a:rPr lang="en-US"/>
              <a:t>Public awareness of ballot measures is low </a:t>
            </a:r>
            <a:r>
              <a:rPr lang="en-US" sz="2000">
                <a:solidFill>
                  <a:schemeClr val="dk2"/>
                </a:solidFill>
              </a:rPr>
              <a:t>[Bart et al., 2020]</a:t>
            </a:r>
            <a:endParaRPr/>
          </a:p>
          <a:p>
            <a:pPr indent="-266700" lvl="1" marL="723900" rtl="0" algn="l">
              <a:lnSpc>
                <a:spcPct val="124000"/>
              </a:lnSpc>
              <a:spcBef>
                <a:spcPts val="1000"/>
              </a:spcBef>
              <a:spcAft>
                <a:spcPts val="0"/>
              </a:spcAft>
              <a:buClr>
                <a:srgbClr val="000000"/>
              </a:buClr>
              <a:buSzPts val="2800"/>
              <a:buChar char="•"/>
            </a:pPr>
            <a:r>
              <a:rPr lang="en-US"/>
              <a:t>In 2016, 23% of respondents could not name one measure</a:t>
            </a:r>
            <a:endParaRPr/>
          </a:p>
          <a:p>
            <a:pPr indent="-266700" lvl="1" marL="723900" rtl="0" algn="l">
              <a:lnSpc>
                <a:spcPct val="124000"/>
              </a:lnSpc>
              <a:spcBef>
                <a:spcPts val="1000"/>
              </a:spcBef>
              <a:spcAft>
                <a:spcPts val="0"/>
              </a:spcAft>
              <a:buClr>
                <a:srgbClr val="000000"/>
              </a:buClr>
              <a:buSzPts val="2800"/>
              <a:buChar char="•"/>
            </a:pPr>
            <a:r>
              <a:rPr lang="en-US"/>
              <a:t>Less than 1% familiar with all measures</a:t>
            </a:r>
            <a:endParaRPr/>
          </a:p>
        </p:txBody>
      </p:sp>
      <p:sp>
        <p:nvSpPr>
          <p:cNvPr id="533" name="Google Shape;533;p3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0"/>
          <p:cNvSpPr txBox="1"/>
          <p:nvPr>
            <p:ph type="title"/>
          </p:nvPr>
        </p:nvSpPr>
        <p:spPr>
          <a:xfrm>
            <a:off x="838200" y="365125"/>
            <a:ext cx="10515600" cy="1690098"/>
          </a:xfrm>
          <a:prstGeom prst="rect">
            <a:avLst/>
          </a:prstGeom>
          <a:noFill/>
          <a:ln>
            <a:noFill/>
          </a:ln>
        </p:spPr>
        <p:txBody>
          <a:bodyPr anchorCtr="0" anchor="ctr" bIns="45700" lIns="45700" spcFirstLastPara="1" rIns="45700" wrap="square" tIns="45700">
            <a:normAutofit fontScale="90000"/>
          </a:bodyPr>
          <a:lstStyle/>
          <a:p>
            <a:pPr indent="0" lvl="0" marL="0" rtl="0" algn="l">
              <a:lnSpc>
                <a:spcPct val="90000"/>
              </a:lnSpc>
              <a:spcBef>
                <a:spcPts val="0"/>
              </a:spcBef>
              <a:spcAft>
                <a:spcPts val="0"/>
              </a:spcAft>
              <a:buClr>
                <a:srgbClr val="000000"/>
              </a:buClr>
              <a:buSzPct val="100000"/>
              <a:buFont typeface="Play"/>
              <a:buNone/>
            </a:pPr>
            <a:r>
              <a:rPr lang="en-US"/>
              <a:t>Can AI-based chat interfaces help voters make more </a:t>
            </a:r>
            <a:r>
              <a:rPr i="1" lang="en-US">
                <a:solidFill>
                  <a:srgbClr val="C00000"/>
                </a:solidFill>
              </a:rPr>
              <a:t>informed</a:t>
            </a:r>
            <a:r>
              <a:rPr lang="en-US"/>
              <a:t> decisions on ballot measures</a:t>
            </a:r>
            <a:br>
              <a:rPr lang="en-US"/>
            </a:br>
            <a:r>
              <a:rPr lang="en-US"/>
              <a:t>… and </a:t>
            </a:r>
            <a:r>
              <a:rPr i="1" lang="en-US">
                <a:solidFill>
                  <a:srgbClr val="C00000"/>
                </a:solidFill>
              </a:rPr>
              <a:t>explain</a:t>
            </a:r>
            <a:r>
              <a:rPr lang="en-US"/>
              <a:t> them?</a:t>
            </a:r>
            <a:endParaRPr/>
          </a:p>
        </p:txBody>
      </p:sp>
      <p:grpSp>
        <p:nvGrpSpPr>
          <p:cNvPr id="539" name="Google Shape;539;p40"/>
          <p:cNvGrpSpPr/>
          <p:nvPr/>
        </p:nvGrpSpPr>
        <p:grpSpPr>
          <a:xfrm>
            <a:off x="1068859" y="3612693"/>
            <a:ext cx="9897095" cy="2274030"/>
            <a:chOff x="701721" y="2780855"/>
            <a:chExt cx="10572635" cy="2429247"/>
          </a:xfrm>
        </p:grpSpPr>
        <p:grpSp>
          <p:nvGrpSpPr>
            <p:cNvPr id="540" name="Google Shape;540;p40"/>
            <p:cNvGrpSpPr/>
            <p:nvPr/>
          </p:nvGrpSpPr>
          <p:grpSpPr>
            <a:xfrm>
              <a:off x="701721" y="2780855"/>
              <a:ext cx="10572635" cy="2429247"/>
              <a:chOff x="701721" y="2780855"/>
              <a:chExt cx="10572635" cy="2429247"/>
            </a:xfrm>
          </p:grpSpPr>
          <p:pic>
            <p:nvPicPr>
              <p:cNvPr id="541" name="Google Shape;541;p40"/>
              <p:cNvPicPr preferRelativeResize="0"/>
              <p:nvPr/>
            </p:nvPicPr>
            <p:blipFill rotWithShape="1">
              <a:blip r:embed="rId3">
                <a:alphaModFix/>
              </a:blip>
              <a:srcRect b="0" l="0" r="0" t="0"/>
              <a:stretch/>
            </p:blipFill>
            <p:spPr>
              <a:xfrm>
                <a:off x="701721" y="2780855"/>
                <a:ext cx="10572635" cy="2429247"/>
              </a:xfrm>
              <a:prstGeom prst="rect">
                <a:avLst/>
              </a:prstGeom>
              <a:noFill/>
              <a:ln>
                <a:noFill/>
              </a:ln>
            </p:spPr>
          </p:pic>
          <p:sp>
            <p:nvSpPr>
              <p:cNvPr id="542" name="Google Shape;542;p40"/>
              <p:cNvSpPr/>
              <p:nvPr/>
            </p:nvSpPr>
            <p:spPr>
              <a:xfrm>
                <a:off x="8743402" y="4214947"/>
                <a:ext cx="2272937" cy="287383"/>
              </a:xfrm>
              <a:prstGeom prst="rect">
                <a:avLst/>
              </a:prstGeom>
              <a:solidFill>
                <a:srgbClr val="FFFC00">
                  <a:alpha val="34118"/>
                </a:srgbClr>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43" name="Google Shape;543;p40"/>
            <p:cNvSpPr/>
            <p:nvPr/>
          </p:nvSpPr>
          <p:spPr>
            <a:xfrm>
              <a:off x="917644" y="4502330"/>
              <a:ext cx="3915613" cy="287383"/>
            </a:xfrm>
            <a:prstGeom prst="rect">
              <a:avLst/>
            </a:prstGeom>
            <a:solidFill>
              <a:srgbClr val="FFFC00">
                <a:alpha val="34118"/>
              </a:srgbClr>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44" name="Google Shape;544;p40"/>
          <p:cNvSpPr txBox="1"/>
          <p:nvPr>
            <p:ph idx="1" type="body"/>
          </p:nvPr>
        </p:nvSpPr>
        <p:spPr>
          <a:xfrm>
            <a:off x="838200" y="2644346"/>
            <a:ext cx="10515600" cy="3573805"/>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lang="en-US"/>
              <a:t>Prior work finds chatbots can be persuasive </a:t>
            </a:r>
            <a:r>
              <a:rPr lang="en-US" sz="2000">
                <a:solidFill>
                  <a:schemeClr val="dk2"/>
                </a:solidFill>
              </a:rPr>
              <a:t>[Costello et al., 2024]</a:t>
            </a:r>
            <a:r>
              <a:rPr lang="en-US"/>
              <a:t> </a:t>
            </a:r>
            <a:endParaRPr/>
          </a:p>
        </p:txBody>
      </p:sp>
      <p:sp>
        <p:nvSpPr>
          <p:cNvPr id="545" name="Google Shape;545;p4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Randomized controlled experiment</a:t>
            </a:r>
            <a:endParaRPr/>
          </a:p>
        </p:txBody>
      </p:sp>
      <p:pic>
        <p:nvPicPr>
          <p:cNvPr id="551" name="Google Shape;551;p41"/>
          <p:cNvPicPr preferRelativeResize="0"/>
          <p:nvPr/>
        </p:nvPicPr>
        <p:blipFill rotWithShape="1">
          <a:blip r:embed="rId3">
            <a:alphaModFix/>
          </a:blip>
          <a:srcRect b="0" l="0" r="0" t="0"/>
          <a:stretch/>
        </p:blipFill>
        <p:spPr>
          <a:xfrm>
            <a:off x="1427160" y="1466666"/>
            <a:ext cx="6952191" cy="5159829"/>
          </a:xfrm>
          <a:prstGeom prst="rect">
            <a:avLst/>
          </a:prstGeom>
          <a:noFill/>
          <a:ln>
            <a:noFill/>
          </a:ln>
        </p:spPr>
      </p:pic>
      <p:sp>
        <p:nvSpPr>
          <p:cNvPr id="552" name="Google Shape;552;p41"/>
          <p:cNvSpPr txBox="1"/>
          <p:nvPr/>
        </p:nvSpPr>
        <p:spPr>
          <a:xfrm>
            <a:off x="113617" y="3375802"/>
            <a:ext cx="1943095" cy="646329"/>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Control: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Official text</a:t>
            </a:r>
            <a:endParaRPr/>
          </a:p>
        </p:txBody>
      </p:sp>
      <p:sp>
        <p:nvSpPr>
          <p:cNvPr id="553" name="Google Shape;553;p41"/>
          <p:cNvSpPr/>
          <p:nvPr/>
        </p:nvSpPr>
        <p:spPr>
          <a:xfrm>
            <a:off x="1452240" y="2975076"/>
            <a:ext cx="131674" cy="1631758"/>
          </a:xfrm>
          <a:prstGeom prst="leftBracket">
            <a:avLst>
              <a:gd fmla="val 8333" name="adj"/>
            </a:avLst>
          </a:prstGeom>
          <a:no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54" name="Google Shape;554;p41"/>
          <p:cNvGrpSpPr/>
          <p:nvPr/>
        </p:nvGrpSpPr>
        <p:grpSpPr>
          <a:xfrm>
            <a:off x="157160" y="4738562"/>
            <a:ext cx="2540000" cy="1488067"/>
            <a:chOff x="157160" y="4738562"/>
            <a:chExt cx="2540000" cy="1488067"/>
          </a:xfrm>
        </p:grpSpPr>
        <p:sp>
          <p:nvSpPr>
            <p:cNvPr id="555" name="Google Shape;555;p41"/>
            <p:cNvSpPr txBox="1"/>
            <p:nvPr/>
          </p:nvSpPr>
          <p:spPr>
            <a:xfrm>
              <a:off x="157160" y="5030400"/>
              <a:ext cx="2540000" cy="646329"/>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9193"/>
                </a:buClr>
                <a:buSzPts val="1800"/>
                <a:buFont typeface="Arial"/>
                <a:buNone/>
              </a:pPr>
              <a:r>
                <a:rPr b="0" i="0" lang="en-US" sz="1800" u="none" cap="none" strike="noStrike">
                  <a:solidFill>
                    <a:srgbClr val="009193"/>
                  </a:solidFill>
                  <a:latin typeface="Arial"/>
                  <a:ea typeface="Arial"/>
                  <a:cs typeface="Arial"/>
                  <a:sym typeface="Arial"/>
                </a:rPr>
                <a:t>Treatment:  </a:t>
              </a:r>
              <a:endParaRPr/>
            </a:p>
            <a:p>
              <a:pPr indent="0" lvl="0" marL="0" marR="0" rtl="0" algn="l">
                <a:lnSpc>
                  <a:spcPct val="100000"/>
                </a:lnSpc>
                <a:spcBef>
                  <a:spcPts val="0"/>
                </a:spcBef>
                <a:spcAft>
                  <a:spcPts val="0"/>
                </a:spcAft>
                <a:buClr>
                  <a:srgbClr val="009193"/>
                </a:buClr>
                <a:buSzPts val="1800"/>
                <a:buFont typeface="Arial"/>
                <a:buNone/>
              </a:pPr>
              <a:r>
                <a:rPr b="0" i="0" lang="en-US" sz="1800" u="none" cap="none" strike="noStrike">
                  <a:solidFill>
                    <a:srgbClr val="009193"/>
                  </a:solidFill>
                  <a:latin typeface="Arial"/>
                  <a:ea typeface="Arial"/>
                  <a:cs typeface="Arial"/>
                  <a:sym typeface="Arial"/>
                </a:rPr>
                <a:t>Ballotpedia</a:t>
              </a:r>
              <a:endParaRPr/>
            </a:p>
          </p:txBody>
        </p:sp>
        <p:sp>
          <p:nvSpPr>
            <p:cNvPr id="556" name="Google Shape;556;p41"/>
            <p:cNvSpPr/>
            <p:nvPr/>
          </p:nvSpPr>
          <p:spPr>
            <a:xfrm>
              <a:off x="1452240" y="4738562"/>
              <a:ext cx="131674" cy="1488067"/>
            </a:xfrm>
            <a:prstGeom prst="leftBracket">
              <a:avLst>
                <a:gd fmla="val 8333" name="adj"/>
              </a:avLst>
            </a:prstGeom>
            <a:noFill/>
            <a:ln cap="flat" cmpd="sng" w="19050">
              <a:solidFill>
                <a:srgbClr val="00919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557" name="Google Shape;557;p41"/>
          <p:cNvPicPr preferRelativeResize="0"/>
          <p:nvPr/>
        </p:nvPicPr>
        <p:blipFill rotWithShape="1">
          <a:blip r:embed="rId4">
            <a:alphaModFix/>
          </a:blip>
          <a:srcRect b="0" l="0" r="0" t="0"/>
          <a:stretch/>
        </p:blipFill>
        <p:spPr>
          <a:xfrm>
            <a:off x="1727200" y="4642267"/>
            <a:ext cx="2849395" cy="1584361"/>
          </a:xfrm>
          <a:prstGeom prst="roundRect">
            <a:avLst>
              <a:gd fmla="val 7144" name="adj"/>
            </a:avLst>
          </a:prstGeom>
          <a:solidFill>
            <a:srgbClr val="ECECEC"/>
          </a:solidFill>
          <a:ln>
            <a:noFill/>
          </a:ln>
        </p:spPr>
      </p:pic>
      <p:grpSp>
        <p:nvGrpSpPr>
          <p:cNvPr id="558" name="Google Shape;558;p41"/>
          <p:cNvGrpSpPr/>
          <p:nvPr/>
        </p:nvGrpSpPr>
        <p:grpSpPr>
          <a:xfrm>
            <a:off x="8247678" y="2397582"/>
            <a:ext cx="3700570" cy="3672291"/>
            <a:chOff x="8247677" y="2397582"/>
            <a:chExt cx="2893416" cy="3672291"/>
          </a:xfrm>
        </p:grpSpPr>
        <p:sp>
          <p:nvSpPr>
            <p:cNvPr id="559" name="Google Shape;559;p41"/>
            <p:cNvSpPr txBox="1"/>
            <p:nvPr/>
          </p:nvSpPr>
          <p:spPr>
            <a:xfrm>
              <a:off x="8462664" y="2975076"/>
              <a:ext cx="2678429" cy="2554543"/>
            </a:xfrm>
            <a:prstGeom prst="rect">
              <a:avLst/>
            </a:prstGeom>
            <a:noFill/>
            <a:ln>
              <a:noFill/>
            </a:ln>
          </p:spPr>
          <p:txBody>
            <a:bodyPr anchorCtr="0" anchor="t" bIns="45700" lIns="45700" spcFirstLastPara="1" rIns="45700" wrap="square" tIns="45700">
              <a:spAutoFit/>
            </a:bodyPr>
            <a:lstStyle/>
            <a:p>
              <a:pPr indent="0" lvl="0" marL="0" marR="0" rtl="0" algn="l">
                <a:lnSpc>
                  <a:spcPct val="131111"/>
                </a:lnSpc>
                <a:spcBef>
                  <a:spcPts val="0"/>
                </a:spcBef>
                <a:spcAft>
                  <a:spcPts val="0"/>
                </a:spcAft>
                <a:buClr>
                  <a:srgbClr val="009193"/>
                </a:buClr>
                <a:buSzPts val="1800"/>
                <a:buFont typeface="Arial"/>
                <a:buNone/>
              </a:pPr>
              <a:r>
                <a:rPr b="0" i="0" lang="en-US" sz="1800" u="none" cap="none" strike="noStrike">
                  <a:solidFill>
                    <a:srgbClr val="009193"/>
                  </a:solidFill>
                  <a:latin typeface="Arial"/>
                  <a:ea typeface="Arial"/>
                  <a:cs typeface="Arial"/>
                  <a:sym typeface="Arial"/>
                </a:rPr>
                <a:t>Treatment:  3 AI Chatbots</a:t>
              </a:r>
              <a:endParaRPr/>
            </a:p>
            <a:p>
              <a:pPr indent="-285750" lvl="0" marL="285750" marR="0" rtl="0" algn="l">
                <a:lnSpc>
                  <a:spcPct val="131111"/>
                </a:lnSpc>
                <a:spcBef>
                  <a:spcPts val="0"/>
                </a:spcBef>
                <a:spcAft>
                  <a:spcPts val="0"/>
                </a:spcAft>
                <a:buClr>
                  <a:srgbClr val="009193"/>
                </a:buClr>
                <a:buSzPts val="1800"/>
                <a:buFont typeface="Arial"/>
                <a:buChar char="-"/>
              </a:pPr>
              <a:r>
                <a:rPr b="1" i="0" lang="en-US" sz="1800" u="none" cap="none" strike="noStrike">
                  <a:solidFill>
                    <a:srgbClr val="009193"/>
                  </a:solidFill>
                  <a:latin typeface="Arial"/>
                  <a:ea typeface="Arial"/>
                  <a:cs typeface="Arial"/>
                  <a:sym typeface="Arial"/>
                </a:rPr>
                <a:t>Q&amp;A: </a:t>
              </a:r>
              <a:r>
                <a:rPr b="0" i="0" lang="en-US" sz="1800" u="none" cap="none" strike="noStrike">
                  <a:solidFill>
                    <a:srgbClr val="009193"/>
                  </a:solidFill>
                  <a:latin typeface="Arial"/>
                  <a:ea typeface="Arial"/>
                  <a:cs typeface="Arial"/>
                  <a:sym typeface="Arial"/>
                </a:rPr>
                <a:t>Answers questions neutrally</a:t>
              </a:r>
              <a:endParaRPr/>
            </a:p>
            <a:p>
              <a:pPr indent="-285750" lvl="0" marL="285750" marR="0" rtl="0" algn="l">
                <a:lnSpc>
                  <a:spcPct val="131111"/>
                </a:lnSpc>
                <a:spcBef>
                  <a:spcPts val="0"/>
                </a:spcBef>
                <a:spcAft>
                  <a:spcPts val="0"/>
                </a:spcAft>
                <a:buClr>
                  <a:srgbClr val="009193"/>
                </a:buClr>
                <a:buSzPts val="1800"/>
                <a:buFont typeface="Arial"/>
                <a:buChar char="-"/>
              </a:pPr>
              <a:r>
                <a:rPr b="1" i="0" lang="en-US" sz="1800" u="none" cap="none" strike="noStrike">
                  <a:solidFill>
                    <a:srgbClr val="009193"/>
                  </a:solidFill>
                  <a:latin typeface="Arial"/>
                  <a:ea typeface="Arial"/>
                  <a:cs typeface="Arial"/>
                  <a:sym typeface="Arial"/>
                </a:rPr>
                <a:t>Argumentative</a:t>
              </a:r>
              <a:r>
                <a:rPr b="0" i="0" lang="en-US" sz="1800" u="none" cap="none" strike="noStrike">
                  <a:solidFill>
                    <a:srgbClr val="009193"/>
                  </a:solidFill>
                  <a:latin typeface="Arial"/>
                  <a:ea typeface="Arial"/>
                  <a:cs typeface="Arial"/>
                  <a:sym typeface="Arial"/>
                </a:rPr>
                <a:t>: Takes the opposite side and pushes back</a:t>
              </a:r>
              <a:endParaRPr/>
            </a:p>
            <a:p>
              <a:pPr indent="-285750" lvl="0" marL="285750" marR="0" rtl="0" algn="l">
                <a:lnSpc>
                  <a:spcPct val="131111"/>
                </a:lnSpc>
                <a:spcBef>
                  <a:spcPts val="0"/>
                </a:spcBef>
                <a:spcAft>
                  <a:spcPts val="0"/>
                </a:spcAft>
                <a:buClr>
                  <a:srgbClr val="009193"/>
                </a:buClr>
                <a:buSzPts val="1800"/>
                <a:buFont typeface="Arial"/>
                <a:buChar char="-"/>
              </a:pPr>
              <a:r>
                <a:rPr b="1" i="0" lang="en-US" sz="1800" u="none" cap="none" strike="noStrike">
                  <a:solidFill>
                    <a:srgbClr val="009193"/>
                  </a:solidFill>
                  <a:latin typeface="Arial"/>
                  <a:ea typeface="Arial"/>
                  <a:cs typeface="Arial"/>
                  <a:sym typeface="Arial"/>
                </a:rPr>
                <a:t>Reflective: </a:t>
              </a:r>
              <a:r>
                <a:rPr b="0" i="0" lang="en-US" sz="1800" u="none" cap="none" strike="noStrike">
                  <a:solidFill>
                    <a:srgbClr val="009193"/>
                  </a:solidFill>
                  <a:latin typeface="Arial"/>
                  <a:ea typeface="Arial"/>
                  <a:cs typeface="Arial"/>
                  <a:sym typeface="Arial"/>
                </a:rPr>
                <a:t>Asks about values, trade-offs, assumptions</a:t>
              </a:r>
              <a:endParaRPr b="0" i="0" sz="1800" u="none" cap="none" strike="noStrike">
                <a:solidFill>
                  <a:srgbClr val="009193"/>
                </a:solidFill>
                <a:latin typeface="Arial"/>
                <a:ea typeface="Arial"/>
                <a:cs typeface="Arial"/>
                <a:sym typeface="Arial"/>
              </a:endParaRPr>
            </a:p>
          </p:txBody>
        </p:sp>
        <p:sp>
          <p:nvSpPr>
            <p:cNvPr id="560" name="Google Shape;560;p41"/>
            <p:cNvSpPr/>
            <p:nvPr/>
          </p:nvSpPr>
          <p:spPr>
            <a:xfrm rot="10800000">
              <a:off x="8247677" y="2397582"/>
              <a:ext cx="131674" cy="3672291"/>
            </a:xfrm>
            <a:prstGeom prst="leftBracket">
              <a:avLst>
                <a:gd fmla="val 8333" name="adj"/>
              </a:avLst>
            </a:prstGeom>
            <a:noFill/>
            <a:ln cap="flat" cmpd="sng" w="19050">
              <a:solidFill>
                <a:srgbClr val="00919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61" name="Google Shape;561;p41"/>
          <p:cNvGrpSpPr/>
          <p:nvPr/>
        </p:nvGrpSpPr>
        <p:grpSpPr>
          <a:xfrm>
            <a:off x="4587875" y="2251075"/>
            <a:ext cx="3495187" cy="3924276"/>
            <a:chOff x="4587875" y="2251075"/>
            <a:chExt cx="3495187" cy="3924276"/>
          </a:xfrm>
        </p:grpSpPr>
        <p:sp>
          <p:nvSpPr>
            <p:cNvPr id="562" name="Google Shape;562;p41"/>
            <p:cNvSpPr/>
            <p:nvPr/>
          </p:nvSpPr>
          <p:spPr>
            <a:xfrm>
              <a:off x="4587875" y="2251075"/>
              <a:ext cx="3495187" cy="3818799"/>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3" name="Google Shape;563;p41"/>
            <p:cNvSpPr/>
            <p:nvPr/>
          </p:nvSpPr>
          <p:spPr>
            <a:xfrm>
              <a:off x="4587875" y="5574324"/>
              <a:ext cx="3436571" cy="601027"/>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64" name="Google Shape;564;p4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5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6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2"/>
          <p:cNvSpPr txBox="1"/>
          <p:nvPr>
            <p:ph type="title"/>
          </p:nvPr>
        </p:nvSpPr>
        <p:spPr>
          <a:xfrm>
            <a:off x="523982" y="365125"/>
            <a:ext cx="10829818"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Before running the experiment, we audited and refined chatbot behavior</a:t>
            </a:r>
            <a:endParaRPr/>
          </a:p>
        </p:txBody>
      </p:sp>
      <p:pic>
        <p:nvPicPr>
          <p:cNvPr id="570" name="Google Shape;570;p42"/>
          <p:cNvPicPr preferRelativeResize="0"/>
          <p:nvPr/>
        </p:nvPicPr>
        <p:blipFill rotWithShape="1">
          <a:blip r:embed="rId3">
            <a:alphaModFix/>
          </a:blip>
          <a:srcRect b="0" l="0" r="0" t="0"/>
          <a:stretch/>
        </p:blipFill>
        <p:spPr>
          <a:xfrm>
            <a:off x="-39021" y="2017211"/>
            <a:ext cx="6241303" cy="4170180"/>
          </a:xfrm>
          <a:prstGeom prst="rect">
            <a:avLst/>
          </a:prstGeom>
          <a:noFill/>
          <a:ln>
            <a:noFill/>
          </a:ln>
        </p:spPr>
      </p:pic>
      <p:pic>
        <p:nvPicPr>
          <p:cNvPr id="571" name="Google Shape;571;p42"/>
          <p:cNvPicPr preferRelativeResize="0"/>
          <p:nvPr/>
        </p:nvPicPr>
        <p:blipFill rotWithShape="1">
          <a:blip r:embed="rId4">
            <a:alphaModFix/>
          </a:blip>
          <a:srcRect b="0" l="0" r="0" t="0"/>
          <a:stretch/>
        </p:blipFill>
        <p:spPr>
          <a:xfrm>
            <a:off x="5981519" y="2017211"/>
            <a:ext cx="6241303" cy="4170180"/>
          </a:xfrm>
          <a:prstGeom prst="rect">
            <a:avLst/>
          </a:prstGeom>
          <a:noFill/>
          <a:ln>
            <a:noFill/>
          </a:ln>
        </p:spPr>
      </p:pic>
      <p:sp>
        <p:nvSpPr>
          <p:cNvPr id="572" name="Google Shape;572;p4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pic>
        <p:nvPicPr>
          <p:cNvPr id="577" name="Google Shape;577;p43"/>
          <p:cNvPicPr preferRelativeResize="0"/>
          <p:nvPr/>
        </p:nvPicPr>
        <p:blipFill rotWithShape="1">
          <a:blip r:embed="rId3">
            <a:alphaModFix/>
          </a:blip>
          <a:srcRect b="0" l="0" r="0" t="0"/>
          <a:stretch/>
        </p:blipFill>
        <p:spPr>
          <a:xfrm>
            <a:off x="7108" y="1558832"/>
            <a:ext cx="6223573" cy="4620531"/>
          </a:xfrm>
          <a:prstGeom prst="rect">
            <a:avLst/>
          </a:prstGeom>
          <a:noFill/>
          <a:ln>
            <a:noFill/>
          </a:ln>
        </p:spPr>
      </p:pic>
      <p:pic>
        <p:nvPicPr>
          <p:cNvPr id="578" name="Google Shape;578;p43"/>
          <p:cNvPicPr preferRelativeResize="0"/>
          <p:nvPr/>
        </p:nvPicPr>
        <p:blipFill rotWithShape="1">
          <a:blip r:embed="rId4">
            <a:alphaModFix/>
          </a:blip>
          <a:srcRect b="0" l="0" r="0" t="0"/>
          <a:stretch/>
        </p:blipFill>
        <p:spPr>
          <a:xfrm>
            <a:off x="5968427" y="1558833"/>
            <a:ext cx="6223573" cy="4620531"/>
          </a:xfrm>
          <a:prstGeom prst="rect">
            <a:avLst/>
          </a:prstGeom>
          <a:noFill/>
          <a:ln>
            <a:noFill/>
          </a:ln>
        </p:spPr>
      </p:pic>
      <p:sp>
        <p:nvSpPr>
          <p:cNvPr id="579" name="Google Shape;579;p4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Randomized controlled experiment</a:t>
            </a:r>
            <a:endParaRPr/>
          </a:p>
        </p:txBody>
      </p:sp>
      <p:sp>
        <p:nvSpPr>
          <p:cNvPr id="580" name="Google Shape;580;p4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We select two measures from CO and FL</a:t>
            </a:r>
            <a:endParaRPr/>
          </a:p>
        </p:txBody>
      </p:sp>
      <p:sp>
        <p:nvSpPr>
          <p:cNvPr id="586" name="Google Shape;586;p44"/>
          <p:cNvSpPr txBox="1"/>
          <p:nvPr>
            <p:ph idx="1" type="body"/>
          </p:nvPr>
        </p:nvSpPr>
        <p:spPr>
          <a:xfrm>
            <a:off x="838200" y="1825624"/>
            <a:ext cx="10515600" cy="4758055"/>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lang="en-US"/>
              <a:t>CO Penalty for Fentanyl Sales and Possession Initiative (N=200)</a:t>
            </a:r>
            <a:endParaRPr/>
          </a:p>
          <a:p>
            <a:pPr indent="-266700" lvl="1" marL="723900" rtl="0" algn="l">
              <a:lnSpc>
                <a:spcPct val="90000"/>
              </a:lnSpc>
              <a:spcBef>
                <a:spcPts val="1000"/>
              </a:spcBef>
              <a:spcAft>
                <a:spcPts val="0"/>
              </a:spcAft>
              <a:buClr>
                <a:srgbClr val="000000"/>
              </a:buClr>
              <a:buSzPts val="2400"/>
              <a:buChar char="•"/>
            </a:pPr>
            <a:r>
              <a:rPr lang="en-US" sz="2400"/>
              <a:t>Increases penalties for fentanyl-related offenses</a:t>
            </a:r>
            <a:endParaRPr/>
          </a:p>
          <a:p>
            <a:pPr indent="-266700" lvl="1" marL="723900" rtl="0" algn="l">
              <a:lnSpc>
                <a:spcPct val="90000"/>
              </a:lnSpc>
              <a:spcBef>
                <a:spcPts val="1000"/>
              </a:spcBef>
              <a:spcAft>
                <a:spcPts val="0"/>
              </a:spcAft>
              <a:buClr>
                <a:srgbClr val="000000"/>
              </a:buClr>
              <a:buSzPts val="2400"/>
              <a:buChar char="•"/>
            </a:pPr>
            <a:r>
              <a:rPr lang="en-US" sz="2400"/>
              <a:t>Requires treatment for certain felony possession cases</a:t>
            </a:r>
            <a:endParaRPr/>
          </a:p>
          <a:p>
            <a:pPr indent="0" lvl="1" marL="457200" rtl="0" algn="l">
              <a:lnSpc>
                <a:spcPct val="90000"/>
              </a:lnSpc>
              <a:spcBef>
                <a:spcPts val="1000"/>
              </a:spcBef>
              <a:spcAft>
                <a:spcPts val="0"/>
              </a:spcAft>
              <a:buClr>
                <a:srgbClr val="000000"/>
              </a:buClr>
              <a:buSzPts val="2400"/>
              <a:buNone/>
            </a:pPr>
            <a:br>
              <a:rPr lang="en-US" sz="2400"/>
            </a:br>
            <a:endParaRPr sz="2400"/>
          </a:p>
          <a:p>
            <a:pPr indent="-228600" lvl="0" marL="228600" rtl="0" algn="l">
              <a:lnSpc>
                <a:spcPct val="90000"/>
              </a:lnSpc>
              <a:spcBef>
                <a:spcPts val="1000"/>
              </a:spcBef>
              <a:spcAft>
                <a:spcPts val="0"/>
              </a:spcAft>
              <a:buClr>
                <a:srgbClr val="000000"/>
              </a:buClr>
              <a:buSzPts val="2800"/>
              <a:buChar char="•"/>
            </a:pPr>
            <a:r>
              <a:rPr lang="en-US"/>
              <a:t>FL Changes to Budget Stabilization Fund Amendment (N=400) </a:t>
            </a:r>
            <a:endParaRPr/>
          </a:p>
          <a:p>
            <a:pPr indent="-266700" lvl="1" marL="723900" rtl="0" algn="l">
              <a:lnSpc>
                <a:spcPct val="90000"/>
              </a:lnSpc>
              <a:spcBef>
                <a:spcPts val="1000"/>
              </a:spcBef>
              <a:spcAft>
                <a:spcPts val="0"/>
              </a:spcAft>
              <a:buClr>
                <a:srgbClr val="000000"/>
              </a:buClr>
              <a:buSzPts val="2400"/>
              <a:buChar char="•"/>
            </a:pPr>
            <a:r>
              <a:rPr lang="en-US" sz="2400"/>
              <a:t>Increases the state’s “rainy-day” fund cap</a:t>
            </a:r>
            <a:endParaRPr/>
          </a:p>
          <a:p>
            <a:pPr indent="-266700" lvl="1" marL="723900" rtl="0" algn="l">
              <a:lnSpc>
                <a:spcPct val="90000"/>
              </a:lnSpc>
              <a:spcBef>
                <a:spcPts val="1000"/>
              </a:spcBef>
              <a:spcAft>
                <a:spcPts val="0"/>
              </a:spcAft>
              <a:buClr>
                <a:srgbClr val="000000"/>
              </a:buClr>
              <a:buSzPts val="2400"/>
              <a:buChar char="•"/>
            </a:pPr>
            <a:r>
              <a:rPr lang="en-US" sz="2400"/>
              <a:t>Requires regular deposits, with flexibility to pause them in certain situations</a:t>
            </a:r>
            <a:endParaRPr/>
          </a:p>
        </p:txBody>
      </p:sp>
      <p:sp>
        <p:nvSpPr>
          <p:cNvPr id="587" name="Google Shape;587;p4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45"/>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sz="4400"/>
              <a:t>Hypothesis: Argumentative and Reflective AI will lead to better decision explanations</a:t>
            </a:r>
            <a:endParaRPr/>
          </a:p>
        </p:txBody>
      </p:sp>
      <p:sp>
        <p:nvSpPr>
          <p:cNvPr id="593" name="Google Shape;593;p45"/>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757575"/>
              </a:buClr>
              <a:buSzPts val="2400"/>
              <a:buFont typeface="Arial"/>
              <a:buNone/>
            </a:pPr>
            <a:r>
              <a:t/>
            </a:r>
            <a:endParaRPr/>
          </a:p>
        </p:txBody>
      </p:sp>
      <p:sp>
        <p:nvSpPr>
          <p:cNvPr id="594" name="Google Shape;594;p4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6"/>
          <p:cNvSpPr txBox="1"/>
          <p:nvPr>
            <p:ph type="title"/>
          </p:nvPr>
        </p:nvSpPr>
        <p:spPr>
          <a:xfrm>
            <a:off x="838199" y="365125"/>
            <a:ext cx="10810103"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Argue and Reflect produce preferred explanations across both measures</a:t>
            </a:r>
            <a:endParaRPr/>
          </a:p>
        </p:txBody>
      </p:sp>
      <p:pic>
        <p:nvPicPr>
          <p:cNvPr id="600" name="Google Shape;600;p46"/>
          <p:cNvPicPr preferRelativeResize="0"/>
          <p:nvPr/>
        </p:nvPicPr>
        <p:blipFill rotWithShape="1">
          <a:blip r:embed="rId3">
            <a:alphaModFix/>
          </a:blip>
          <a:srcRect b="0" l="0" r="0" t="0"/>
          <a:stretch/>
        </p:blipFill>
        <p:spPr>
          <a:xfrm>
            <a:off x="1974163" y="2134373"/>
            <a:ext cx="7683500" cy="4292600"/>
          </a:xfrm>
          <a:prstGeom prst="rect">
            <a:avLst/>
          </a:prstGeom>
          <a:noFill/>
          <a:ln>
            <a:noFill/>
          </a:ln>
        </p:spPr>
      </p:pic>
      <p:sp>
        <p:nvSpPr>
          <p:cNvPr id="601" name="Google Shape;601;p4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Treatments increase articulation and resolution of </a:t>
            </a:r>
            <a:r>
              <a:rPr b="1" lang="en-US"/>
              <a:t>tradeoffs</a:t>
            </a:r>
            <a:r>
              <a:rPr lang="en-US"/>
              <a:t>, especially chatbots</a:t>
            </a:r>
            <a:endParaRPr/>
          </a:p>
        </p:txBody>
      </p:sp>
      <p:sp>
        <p:nvSpPr>
          <p:cNvPr id="607" name="Google Shape;607;p4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608" name="Google Shape;608;p47"/>
          <p:cNvSpPr txBox="1"/>
          <p:nvPr>
            <p:ph idx="1" type="body"/>
          </p:nvPr>
        </p:nvSpPr>
        <p:spPr>
          <a:xfrm>
            <a:off x="838200" y="2008661"/>
            <a:ext cx="10854267" cy="1268289"/>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chemeClr val="dk1"/>
              </a:buClr>
              <a:buSzPts val="2800"/>
              <a:buChar char="•"/>
            </a:pPr>
            <a:r>
              <a:rPr lang="en-US">
                <a:solidFill>
                  <a:schemeClr val="dk1"/>
                </a:solidFill>
              </a:rPr>
              <a:t>A </a:t>
            </a:r>
            <a:r>
              <a:rPr b="1" lang="en-US">
                <a:solidFill>
                  <a:schemeClr val="dk1"/>
                </a:solidFill>
              </a:rPr>
              <a:t>tradeoff</a:t>
            </a:r>
            <a:r>
              <a:rPr lang="en-US">
                <a:solidFill>
                  <a:schemeClr val="dk1"/>
                </a:solidFill>
              </a:rPr>
              <a:t> is a passage where the participant weighs two competing considerations and resolves or accepts the tension</a:t>
            </a:r>
            <a:endParaRPr/>
          </a:p>
          <a:p>
            <a:pPr indent="0" lvl="0" marL="0" rtl="0" algn="l">
              <a:lnSpc>
                <a:spcPct val="90000"/>
              </a:lnSpc>
              <a:spcBef>
                <a:spcPts val="1000"/>
              </a:spcBef>
              <a:spcAft>
                <a:spcPts val="0"/>
              </a:spcAft>
              <a:buClr>
                <a:srgbClr val="000000"/>
              </a:buClr>
              <a:buSzPts val="2800"/>
              <a:buNone/>
            </a:pPr>
            <a:r>
              <a:t/>
            </a:r>
            <a:endParaRPr>
              <a:solidFill>
                <a:schemeClr val="dk1"/>
              </a:solidFill>
            </a:endParaRPr>
          </a:p>
        </p:txBody>
      </p:sp>
      <p:pic>
        <p:nvPicPr>
          <p:cNvPr id="609" name="Google Shape;609;p47"/>
          <p:cNvPicPr preferRelativeResize="0"/>
          <p:nvPr/>
        </p:nvPicPr>
        <p:blipFill rotWithShape="1">
          <a:blip r:embed="rId3">
            <a:alphaModFix/>
          </a:blip>
          <a:srcRect b="13004" l="0" r="0" t="0"/>
          <a:stretch/>
        </p:blipFill>
        <p:spPr>
          <a:xfrm>
            <a:off x="2683240" y="3029864"/>
            <a:ext cx="6419336" cy="364366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8"/>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sz="4400"/>
              <a:t>Hypothesis: AI leads to different voting behavior</a:t>
            </a:r>
            <a:endParaRPr/>
          </a:p>
        </p:txBody>
      </p:sp>
      <p:sp>
        <p:nvSpPr>
          <p:cNvPr id="615" name="Google Shape;615;p48"/>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757575"/>
              </a:buClr>
              <a:buSzPts val="2400"/>
              <a:buFont typeface="Arial"/>
              <a:buNone/>
            </a:pPr>
            <a:r>
              <a:t/>
            </a:r>
            <a:endParaRPr/>
          </a:p>
        </p:txBody>
      </p:sp>
      <p:sp>
        <p:nvSpPr>
          <p:cNvPr id="616" name="Google Shape;616;p4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pic>
        <p:nvPicPr>
          <p:cNvPr id="621" name="Google Shape;621;p49"/>
          <p:cNvPicPr preferRelativeResize="0"/>
          <p:nvPr/>
        </p:nvPicPr>
        <p:blipFill rotWithShape="1">
          <a:blip r:embed="rId3">
            <a:alphaModFix/>
          </a:blip>
          <a:srcRect b="21168" l="0" r="0" t="7021"/>
          <a:stretch/>
        </p:blipFill>
        <p:spPr>
          <a:xfrm>
            <a:off x="1176865" y="2057400"/>
            <a:ext cx="9482668" cy="3750733"/>
          </a:xfrm>
          <a:prstGeom prst="rect">
            <a:avLst/>
          </a:prstGeom>
          <a:noFill/>
          <a:ln>
            <a:noFill/>
          </a:ln>
        </p:spPr>
      </p:pic>
      <p:sp>
        <p:nvSpPr>
          <p:cNvPr id="622" name="Google Shape;622;p4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Treatments shift vote distributions across both measures</a:t>
            </a:r>
            <a:endParaRPr/>
          </a:p>
        </p:txBody>
      </p:sp>
      <p:sp>
        <p:nvSpPr>
          <p:cNvPr id="623" name="Google Shape;623;p4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5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Treatments cut </a:t>
            </a:r>
            <a:r>
              <a:rPr lang="en-US">
                <a:solidFill>
                  <a:srgbClr val="7F7F7F"/>
                </a:solidFill>
              </a:rPr>
              <a:t>abstain</a:t>
            </a:r>
            <a:r>
              <a:rPr lang="en-US"/>
              <a:t> by 28% in FL, 12% in CO</a:t>
            </a:r>
            <a:endParaRPr/>
          </a:p>
        </p:txBody>
      </p:sp>
      <p:pic>
        <p:nvPicPr>
          <p:cNvPr id="629" name="Google Shape;629;p50"/>
          <p:cNvPicPr preferRelativeResize="0"/>
          <p:nvPr/>
        </p:nvPicPr>
        <p:blipFill rotWithShape="1">
          <a:blip r:embed="rId3">
            <a:alphaModFix/>
          </a:blip>
          <a:srcRect b="19223" l="0" r="0" t="7021"/>
          <a:stretch/>
        </p:blipFill>
        <p:spPr>
          <a:xfrm>
            <a:off x="1176865" y="2057400"/>
            <a:ext cx="9482668" cy="3852333"/>
          </a:xfrm>
          <a:prstGeom prst="rect">
            <a:avLst/>
          </a:prstGeom>
          <a:noFill/>
          <a:ln>
            <a:noFill/>
          </a:ln>
        </p:spPr>
      </p:pic>
      <p:sp>
        <p:nvSpPr>
          <p:cNvPr id="630" name="Google Shape;630;p5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Ballotpedia drops CO </a:t>
            </a:r>
            <a:r>
              <a:rPr lang="en-US">
                <a:solidFill>
                  <a:schemeClr val="accent6"/>
                </a:solidFill>
              </a:rPr>
              <a:t>yes</a:t>
            </a:r>
            <a:r>
              <a:rPr lang="en-US"/>
              <a:t> by 30% but raises FL </a:t>
            </a:r>
            <a:r>
              <a:rPr lang="en-US">
                <a:solidFill>
                  <a:schemeClr val="accent6"/>
                </a:solidFill>
              </a:rPr>
              <a:t>yes</a:t>
            </a:r>
            <a:r>
              <a:rPr lang="en-US"/>
              <a:t> by 13%</a:t>
            </a:r>
            <a:endParaRPr/>
          </a:p>
        </p:txBody>
      </p:sp>
      <p:pic>
        <p:nvPicPr>
          <p:cNvPr id="636" name="Google Shape;636;p51"/>
          <p:cNvPicPr preferRelativeResize="0"/>
          <p:nvPr/>
        </p:nvPicPr>
        <p:blipFill rotWithShape="1">
          <a:blip r:embed="rId3">
            <a:alphaModFix/>
          </a:blip>
          <a:srcRect b="21168" l="0" r="0" t="7021"/>
          <a:stretch/>
        </p:blipFill>
        <p:spPr>
          <a:xfrm>
            <a:off x="1176865" y="2057400"/>
            <a:ext cx="9482668" cy="3750733"/>
          </a:xfrm>
          <a:prstGeom prst="rect">
            <a:avLst/>
          </a:prstGeom>
          <a:noFill/>
          <a:ln>
            <a:noFill/>
          </a:ln>
        </p:spPr>
      </p:pic>
      <p:sp>
        <p:nvSpPr>
          <p:cNvPr id="637" name="Google Shape;637;p51"/>
          <p:cNvSpPr/>
          <p:nvPr/>
        </p:nvSpPr>
        <p:spPr>
          <a:xfrm>
            <a:off x="3351741" y="2893058"/>
            <a:ext cx="2484962" cy="2937084"/>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38" name="Google Shape;638;p51"/>
          <p:cNvCxnSpPr/>
          <p:nvPr/>
        </p:nvCxnSpPr>
        <p:spPr>
          <a:xfrm>
            <a:off x="2988735" y="3869268"/>
            <a:ext cx="0" cy="558800"/>
          </a:xfrm>
          <a:prstGeom prst="straightConnector1">
            <a:avLst/>
          </a:prstGeom>
          <a:noFill/>
          <a:ln cap="flat" cmpd="sng" w="28575">
            <a:solidFill>
              <a:schemeClr val="dk1"/>
            </a:solidFill>
            <a:prstDash val="solid"/>
            <a:round/>
            <a:headEnd len="sm" w="sm" type="none"/>
            <a:tailEnd len="med" w="med" type="triangle"/>
          </a:ln>
        </p:spPr>
      </p:cxnSp>
      <p:cxnSp>
        <p:nvCxnSpPr>
          <p:cNvPr id="639" name="Google Shape;639;p51"/>
          <p:cNvCxnSpPr/>
          <p:nvPr/>
        </p:nvCxnSpPr>
        <p:spPr>
          <a:xfrm rot="10800000">
            <a:off x="7797801" y="4367102"/>
            <a:ext cx="0" cy="230298"/>
          </a:xfrm>
          <a:prstGeom prst="straightConnector1">
            <a:avLst/>
          </a:prstGeom>
          <a:noFill/>
          <a:ln cap="flat" cmpd="sng" w="28575">
            <a:solidFill>
              <a:schemeClr val="dk1"/>
            </a:solidFill>
            <a:prstDash val="solid"/>
            <a:round/>
            <a:headEnd len="sm" w="sm" type="none"/>
            <a:tailEnd len="med" w="med" type="triangle"/>
          </a:ln>
        </p:spPr>
      </p:cxnSp>
      <p:sp>
        <p:nvSpPr>
          <p:cNvPr id="640" name="Google Shape;640;p51"/>
          <p:cNvSpPr/>
          <p:nvPr/>
        </p:nvSpPr>
        <p:spPr>
          <a:xfrm>
            <a:off x="8197852" y="2921850"/>
            <a:ext cx="2484962" cy="2937084"/>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1" name="Google Shape;641;p51"/>
          <p:cNvSpPr/>
          <p:nvPr/>
        </p:nvSpPr>
        <p:spPr>
          <a:xfrm>
            <a:off x="1744133" y="2893058"/>
            <a:ext cx="1619248" cy="2937084"/>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2" name="Google Shape;642;p51"/>
          <p:cNvSpPr/>
          <p:nvPr/>
        </p:nvSpPr>
        <p:spPr>
          <a:xfrm>
            <a:off x="6561667" y="2921850"/>
            <a:ext cx="1636185" cy="2937084"/>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3" name="Google Shape;643;p5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63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64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2"/>
          <p:cNvSpPr txBox="1"/>
          <p:nvPr>
            <p:ph type="title"/>
          </p:nvPr>
        </p:nvSpPr>
        <p:spPr>
          <a:xfrm>
            <a:off x="838200" y="271991"/>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Vote is predicted by # of </a:t>
            </a:r>
            <a:r>
              <a:rPr lang="en-US">
                <a:solidFill>
                  <a:schemeClr val="accent3"/>
                </a:solidFill>
              </a:rPr>
              <a:t>pro</a:t>
            </a:r>
            <a:r>
              <a:rPr lang="en-US"/>
              <a:t>/</a:t>
            </a:r>
            <a:r>
              <a:rPr lang="en-US">
                <a:solidFill>
                  <a:srgbClr val="C00000"/>
                </a:solidFill>
              </a:rPr>
              <a:t>con</a:t>
            </a:r>
            <a:r>
              <a:rPr lang="en-US"/>
              <a:t> arguments mentioned by user in chat</a:t>
            </a:r>
            <a:endParaRPr/>
          </a:p>
        </p:txBody>
      </p:sp>
      <p:sp>
        <p:nvSpPr>
          <p:cNvPr id="649" name="Google Shape;649;p52"/>
          <p:cNvSpPr txBox="1"/>
          <p:nvPr>
            <p:ph idx="1" type="body"/>
          </p:nvPr>
        </p:nvSpPr>
        <p:spPr>
          <a:xfrm>
            <a:off x="838200" y="1882778"/>
            <a:ext cx="10854267"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196B24"/>
              </a:buClr>
              <a:buSzPts val="2800"/>
              <a:buChar char="•"/>
            </a:pPr>
            <a:r>
              <a:rPr lang="en-US">
                <a:solidFill>
                  <a:srgbClr val="196B24"/>
                </a:solidFill>
              </a:rPr>
              <a:t>Pro	 </a:t>
            </a:r>
            <a:r>
              <a:rPr lang="en-US"/>
              <a:t>=  the argument gives a reason to vote </a:t>
            </a:r>
            <a:r>
              <a:rPr lang="en-US">
                <a:solidFill>
                  <a:schemeClr val="accent3"/>
                </a:solidFill>
              </a:rPr>
              <a:t>YES</a:t>
            </a:r>
            <a:r>
              <a:rPr lang="en-US"/>
              <a:t> on the measure</a:t>
            </a:r>
            <a:endParaRPr/>
          </a:p>
          <a:p>
            <a:pPr indent="-228600" lvl="0" marL="228600" rtl="0" algn="l">
              <a:lnSpc>
                <a:spcPct val="90000"/>
              </a:lnSpc>
              <a:spcBef>
                <a:spcPts val="1000"/>
              </a:spcBef>
              <a:spcAft>
                <a:spcPts val="0"/>
              </a:spcAft>
              <a:buClr>
                <a:srgbClr val="C00000"/>
              </a:buClr>
              <a:buSzPts val="2800"/>
              <a:buChar char="•"/>
            </a:pPr>
            <a:r>
              <a:rPr lang="en-US">
                <a:solidFill>
                  <a:srgbClr val="C00000"/>
                </a:solidFill>
              </a:rPr>
              <a:t>Con	 </a:t>
            </a:r>
            <a:r>
              <a:rPr lang="en-US"/>
              <a:t>=  the argument gives a reason to vote </a:t>
            </a:r>
            <a:r>
              <a:rPr lang="en-US">
                <a:solidFill>
                  <a:srgbClr val="C00000"/>
                </a:solidFill>
              </a:rPr>
              <a:t>NO</a:t>
            </a:r>
            <a:r>
              <a:rPr lang="en-US"/>
              <a:t> on the measure</a:t>
            </a:r>
            <a:endParaRPr/>
          </a:p>
          <a:p>
            <a:pPr indent="-50800" lvl="0" marL="228600" rtl="0" algn="l">
              <a:lnSpc>
                <a:spcPct val="90000"/>
              </a:lnSpc>
              <a:spcBef>
                <a:spcPts val="1000"/>
              </a:spcBef>
              <a:spcAft>
                <a:spcPts val="0"/>
              </a:spcAft>
              <a:buClr>
                <a:srgbClr val="000000"/>
              </a:buClr>
              <a:buSzPts val="2800"/>
              <a:buNone/>
            </a:pPr>
            <a:r>
              <a:t/>
            </a:r>
            <a:endParaRPr/>
          </a:p>
          <a:p>
            <a:pPr indent="-228600" lvl="0" marL="228600" rtl="0" algn="l">
              <a:lnSpc>
                <a:spcPct val="90000"/>
              </a:lnSpc>
              <a:spcBef>
                <a:spcPts val="1000"/>
              </a:spcBef>
              <a:spcAft>
                <a:spcPts val="0"/>
              </a:spcAft>
              <a:buClr>
                <a:srgbClr val="000000"/>
              </a:buClr>
              <a:buSzPts val="2800"/>
              <a:buChar char="•"/>
            </a:pPr>
            <a:r>
              <a:rPr lang="en-US"/>
              <a:t>We find that the number of </a:t>
            </a:r>
            <a:r>
              <a:rPr i="1" lang="en-US"/>
              <a:t>chatbot</a:t>
            </a:r>
            <a:r>
              <a:rPr lang="en-US"/>
              <a:t> arguments is not predictive, only the number of </a:t>
            </a:r>
            <a:r>
              <a:rPr i="1" lang="en-US"/>
              <a:t>user </a:t>
            </a:r>
            <a:r>
              <a:rPr lang="en-US"/>
              <a:t>arguments is.</a:t>
            </a:r>
            <a:endParaRPr/>
          </a:p>
          <a:p>
            <a:pPr indent="-228600" lvl="0" marL="228600" rtl="0" algn="l">
              <a:lnSpc>
                <a:spcPct val="90000"/>
              </a:lnSpc>
              <a:spcBef>
                <a:spcPts val="1000"/>
              </a:spcBef>
              <a:spcAft>
                <a:spcPts val="0"/>
              </a:spcAft>
              <a:buClr>
                <a:srgbClr val="000000"/>
              </a:buClr>
              <a:buSzPts val="2800"/>
              <a:buChar char="•"/>
            </a:pPr>
            <a:r>
              <a:rPr lang="en-US"/>
              <a:t>Condition is also not predictive beyond number of user arguments.</a:t>
            </a:r>
            <a:endParaRPr/>
          </a:p>
          <a:p>
            <a:pPr indent="-50800" lvl="0" marL="228600" rtl="0" algn="l">
              <a:lnSpc>
                <a:spcPct val="90000"/>
              </a:lnSpc>
              <a:spcBef>
                <a:spcPts val="1000"/>
              </a:spcBef>
              <a:spcAft>
                <a:spcPts val="0"/>
              </a:spcAft>
              <a:buClr>
                <a:srgbClr val="000000"/>
              </a:buClr>
              <a:buSzPts val="2800"/>
              <a:buNone/>
            </a:pPr>
            <a:r>
              <a:t/>
            </a:r>
            <a:endParaRPr/>
          </a:p>
        </p:txBody>
      </p:sp>
      <p:sp>
        <p:nvSpPr>
          <p:cNvPr id="650" name="Google Shape;650;p5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5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Argue and Reflect Chatbots drive engagement</a:t>
            </a:r>
            <a:endParaRPr/>
          </a:p>
        </p:txBody>
      </p:sp>
      <p:pic>
        <p:nvPicPr>
          <p:cNvPr id="656" name="Google Shape;656;p53"/>
          <p:cNvPicPr preferRelativeResize="0"/>
          <p:nvPr/>
        </p:nvPicPr>
        <p:blipFill rotWithShape="1">
          <a:blip r:embed="rId3">
            <a:alphaModFix/>
          </a:blip>
          <a:srcRect b="7826" l="0" r="0" t="0"/>
          <a:stretch/>
        </p:blipFill>
        <p:spPr>
          <a:xfrm>
            <a:off x="6096000" y="2350545"/>
            <a:ext cx="4940300" cy="3558646"/>
          </a:xfrm>
          <a:prstGeom prst="rect">
            <a:avLst/>
          </a:prstGeom>
          <a:noFill/>
          <a:ln>
            <a:noFill/>
          </a:ln>
        </p:spPr>
      </p:pic>
      <p:pic>
        <p:nvPicPr>
          <p:cNvPr id="657" name="Google Shape;657;p53"/>
          <p:cNvPicPr preferRelativeResize="0"/>
          <p:nvPr/>
        </p:nvPicPr>
        <p:blipFill rotWithShape="1">
          <a:blip r:embed="rId4">
            <a:alphaModFix/>
          </a:blip>
          <a:srcRect b="14767" l="0" r="0" t="0"/>
          <a:stretch/>
        </p:blipFill>
        <p:spPr>
          <a:xfrm>
            <a:off x="567494" y="2344366"/>
            <a:ext cx="4974732" cy="3558645"/>
          </a:xfrm>
          <a:prstGeom prst="rect">
            <a:avLst/>
          </a:prstGeom>
          <a:noFill/>
          <a:ln>
            <a:noFill/>
          </a:ln>
        </p:spPr>
      </p:pic>
      <p:sp>
        <p:nvSpPr>
          <p:cNvPr id="658" name="Google Shape;658;p5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4"/>
          <p:cNvSpPr txBox="1"/>
          <p:nvPr>
            <p:ph type="title"/>
          </p:nvPr>
        </p:nvSpPr>
        <p:spPr>
          <a:xfrm>
            <a:off x="653143" y="365125"/>
            <a:ext cx="10700657"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Ongoing work</a:t>
            </a:r>
            <a:endParaRPr/>
          </a:p>
        </p:txBody>
      </p:sp>
      <p:sp>
        <p:nvSpPr>
          <p:cNvPr id="664" name="Google Shape;664;p54"/>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150000"/>
              </a:lnSpc>
              <a:spcBef>
                <a:spcPts val="0"/>
              </a:spcBef>
              <a:spcAft>
                <a:spcPts val="0"/>
              </a:spcAft>
              <a:buClr>
                <a:srgbClr val="000000"/>
              </a:buClr>
              <a:buSzPts val="2800"/>
              <a:buChar char="•"/>
            </a:pPr>
            <a:r>
              <a:rPr lang="en-US"/>
              <a:t>Confirming if effects hold after 1-month via follow-up survey</a:t>
            </a:r>
            <a:endParaRPr/>
          </a:p>
          <a:p>
            <a:pPr indent="-228600" lvl="0" marL="228600" rtl="0" algn="l">
              <a:lnSpc>
                <a:spcPct val="150000"/>
              </a:lnSpc>
              <a:spcBef>
                <a:spcPts val="1000"/>
              </a:spcBef>
              <a:spcAft>
                <a:spcPts val="0"/>
              </a:spcAft>
              <a:buClr>
                <a:srgbClr val="000000"/>
              </a:buClr>
              <a:buSzPts val="2800"/>
              <a:buChar char="•"/>
            </a:pPr>
            <a:r>
              <a:rPr lang="en-US"/>
              <a:t>Validate LLM labeling</a:t>
            </a:r>
            <a:endParaRPr/>
          </a:p>
          <a:p>
            <a:pPr indent="-228600" lvl="0" marL="228600" rtl="0" algn="l">
              <a:lnSpc>
                <a:spcPct val="150000"/>
              </a:lnSpc>
              <a:spcBef>
                <a:spcPts val="1000"/>
              </a:spcBef>
              <a:spcAft>
                <a:spcPts val="0"/>
              </a:spcAft>
              <a:buClr>
                <a:srgbClr val="000000"/>
              </a:buClr>
              <a:buSzPts val="2800"/>
              <a:buChar char="•"/>
            </a:pPr>
            <a:r>
              <a:rPr lang="en-US"/>
              <a:t>Chatbot factuality human evaluation</a:t>
            </a:r>
            <a:endParaRPr/>
          </a:p>
          <a:p>
            <a:pPr indent="-228600" lvl="0" marL="228600" rtl="0" algn="l">
              <a:lnSpc>
                <a:spcPct val="150000"/>
              </a:lnSpc>
              <a:spcBef>
                <a:spcPts val="1000"/>
              </a:spcBef>
              <a:spcAft>
                <a:spcPts val="0"/>
              </a:spcAft>
              <a:buClr>
                <a:srgbClr val="000000"/>
              </a:buClr>
              <a:buSzPts val="2800"/>
              <a:buChar char="•"/>
            </a:pPr>
            <a:r>
              <a:rPr lang="en-US"/>
              <a:t>Additional ballot measure to understand effect of topic</a:t>
            </a:r>
            <a:endParaRPr/>
          </a:p>
        </p:txBody>
      </p:sp>
      <p:sp>
        <p:nvSpPr>
          <p:cNvPr id="665" name="Google Shape;665;p5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55"/>
          <p:cNvSpPr txBox="1"/>
          <p:nvPr>
            <p:ph type="title"/>
          </p:nvPr>
        </p:nvSpPr>
        <p:spPr>
          <a:xfrm>
            <a:off x="653143" y="365125"/>
            <a:ext cx="10700657"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CivicChats.org: Public access and engagement</a:t>
            </a:r>
            <a:endParaRPr/>
          </a:p>
        </p:txBody>
      </p:sp>
      <p:pic>
        <p:nvPicPr>
          <p:cNvPr id="671" name="Google Shape;671;p55"/>
          <p:cNvPicPr preferRelativeResize="0"/>
          <p:nvPr/>
        </p:nvPicPr>
        <p:blipFill rotWithShape="1">
          <a:blip r:embed="rId3">
            <a:alphaModFix/>
          </a:blip>
          <a:srcRect b="0" l="0" r="0" t="0"/>
          <a:stretch/>
        </p:blipFill>
        <p:spPr>
          <a:xfrm>
            <a:off x="2169605" y="1584253"/>
            <a:ext cx="7012102" cy="5075784"/>
          </a:xfrm>
          <a:prstGeom prst="rect">
            <a:avLst/>
          </a:prstGeom>
          <a:noFill/>
          <a:ln>
            <a:noFill/>
          </a:ln>
        </p:spPr>
      </p:pic>
      <p:sp>
        <p:nvSpPr>
          <p:cNvPr id="672" name="Google Shape;672;p5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5000"/>
                                        <p:tgtEl>
                                          <p:spTgt spid="6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56"/>
          <p:cNvSpPr txBox="1"/>
          <p:nvPr>
            <p:ph type="title"/>
          </p:nvPr>
        </p:nvSpPr>
        <p:spPr>
          <a:xfrm>
            <a:off x="653143" y="365125"/>
            <a:ext cx="10700657"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CivicChats.org: Public access and engagement</a:t>
            </a:r>
            <a:endParaRPr/>
          </a:p>
        </p:txBody>
      </p:sp>
      <p:pic>
        <p:nvPicPr>
          <p:cNvPr id="678" name="Google Shape;678;p56"/>
          <p:cNvPicPr preferRelativeResize="0"/>
          <p:nvPr/>
        </p:nvPicPr>
        <p:blipFill rotWithShape="1">
          <a:blip r:embed="rId3">
            <a:alphaModFix/>
          </a:blip>
          <a:srcRect b="0" l="0" r="0" t="0"/>
          <a:stretch/>
        </p:blipFill>
        <p:spPr>
          <a:xfrm>
            <a:off x="0" y="1607028"/>
            <a:ext cx="6169541" cy="4971572"/>
          </a:xfrm>
          <a:prstGeom prst="rect">
            <a:avLst/>
          </a:prstGeom>
          <a:noFill/>
          <a:ln>
            <a:noFill/>
          </a:ln>
        </p:spPr>
      </p:pic>
      <p:pic>
        <p:nvPicPr>
          <p:cNvPr id="679" name="Google Shape;679;p56"/>
          <p:cNvPicPr preferRelativeResize="0"/>
          <p:nvPr/>
        </p:nvPicPr>
        <p:blipFill rotWithShape="1">
          <a:blip r:embed="rId4">
            <a:alphaModFix/>
          </a:blip>
          <a:srcRect b="0" l="0" r="0" t="0"/>
          <a:stretch/>
        </p:blipFill>
        <p:spPr>
          <a:xfrm>
            <a:off x="6022459" y="1607028"/>
            <a:ext cx="6169541" cy="4971572"/>
          </a:xfrm>
          <a:prstGeom prst="rect">
            <a:avLst/>
          </a:prstGeom>
          <a:noFill/>
          <a:ln>
            <a:noFill/>
          </a:ln>
        </p:spPr>
      </p:pic>
      <p:sp>
        <p:nvSpPr>
          <p:cNvPr id="680" name="Google Shape;680;p5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Contribution Summary</a:t>
            </a:r>
            <a:endParaRPr/>
          </a:p>
        </p:txBody>
      </p:sp>
      <p:sp>
        <p:nvSpPr>
          <p:cNvPr id="686" name="Google Shape;686;p57"/>
          <p:cNvSpPr txBox="1"/>
          <p:nvPr>
            <p:ph idx="1" type="body"/>
          </p:nvPr>
        </p:nvSpPr>
        <p:spPr>
          <a:xfrm>
            <a:off x="838200" y="1690688"/>
            <a:ext cx="10515600" cy="5167311"/>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lang="en-US"/>
              <a:t>Built </a:t>
            </a:r>
            <a:r>
              <a:rPr b="1" lang="en-US"/>
              <a:t>CivicChats</a:t>
            </a:r>
            <a:r>
              <a:rPr lang="en-US"/>
              <a:t>, a public-facing platform for AI-assisted ballot-measure deliberation</a:t>
            </a:r>
            <a:endParaRPr/>
          </a:p>
          <a:p>
            <a:pPr indent="-228600" lvl="0" marL="228600" rtl="0" algn="l">
              <a:lnSpc>
                <a:spcPct val="90000"/>
              </a:lnSpc>
              <a:spcBef>
                <a:spcPts val="1000"/>
              </a:spcBef>
              <a:spcAft>
                <a:spcPts val="0"/>
              </a:spcAft>
              <a:buClr>
                <a:srgbClr val="000000"/>
              </a:buClr>
              <a:buSzPts val="2800"/>
              <a:buChar char="•"/>
            </a:pPr>
            <a:r>
              <a:rPr lang="en-US"/>
              <a:t>Developed chatbot designs that move beyond neutral Q&amp;A toward </a:t>
            </a:r>
            <a:r>
              <a:rPr b="1" lang="en-US"/>
              <a:t>argumentation</a:t>
            </a:r>
            <a:r>
              <a:rPr lang="en-US"/>
              <a:t> and </a:t>
            </a:r>
            <a:r>
              <a:rPr b="1" lang="en-US"/>
              <a:t>reflection</a:t>
            </a:r>
            <a:endParaRPr/>
          </a:p>
          <a:p>
            <a:pPr indent="-228600" lvl="0" marL="228600" rtl="0" algn="l">
              <a:lnSpc>
                <a:spcPct val="90000"/>
              </a:lnSpc>
              <a:spcBef>
                <a:spcPts val="1000"/>
              </a:spcBef>
              <a:spcAft>
                <a:spcPts val="0"/>
              </a:spcAft>
              <a:buClr>
                <a:srgbClr val="000000"/>
              </a:buClr>
              <a:buSzPts val="2800"/>
              <a:buChar char="•"/>
            </a:pPr>
            <a:r>
              <a:rPr lang="en-US"/>
              <a:t>Demonstrated through that chatbot interactions improve voters’ decision explanations</a:t>
            </a:r>
            <a:endParaRPr/>
          </a:p>
          <a:p>
            <a:pPr indent="-228600" lvl="0" marL="228600" rtl="0" algn="l">
              <a:lnSpc>
                <a:spcPct val="90000"/>
              </a:lnSpc>
              <a:spcBef>
                <a:spcPts val="1000"/>
              </a:spcBef>
              <a:spcAft>
                <a:spcPts val="0"/>
              </a:spcAft>
              <a:buClr>
                <a:srgbClr val="000000"/>
              </a:buClr>
              <a:buSzPts val="2800"/>
              <a:buChar char="•"/>
            </a:pPr>
            <a:r>
              <a:rPr lang="en-US"/>
              <a:t>Found that treatments increase trade-off reasoning and reduce abstention</a:t>
            </a:r>
            <a:endParaRPr/>
          </a:p>
          <a:p>
            <a:pPr indent="-228600" lvl="0" marL="228600" rtl="0" algn="l">
              <a:lnSpc>
                <a:spcPct val="90000"/>
              </a:lnSpc>
              <a:spcBef>
                <a:spcPts val="1000"/>
              </a:spcBef>
              <a:spcAft>
                <a:spcPts val="0"/>
              </a:spcAft>
              <a:buClr>
                <a:srgbClr val="000000"/>
              </a:buClr>
              <a:buSzPts val="2800"/>
              <a:buChar char="•"/>
            </a:pPr>
            <a:r>
              <a:rPr lang="en-US"/>
              <a:t>Highlighted promise and risks of AI systems that shape civic decision-making</a:t>
            </a:r>
            <a:endParaRPr/>
          </a:p>
        </p:txBody>
      </p:sp>
      <p:sp>
        <p:nvSpPr>
          <p:cNvPr id="687" name="Google Shape;687;p5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5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Thesis Conclusions and Future Directions</a:t>
            </a:r>
            <a:endParaRPr/>
          </a:p>
        </p:txBody>
      </p:sp>
      <p:sp>
        <p:nvSpPr>
          <p:cNvPr id="693" name="Google Shape;693;p58"/>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113000"/>
              </a:lnSpc>
              <a:spcBef>
                <a:spcPts val="0"/>
              </a:spcBef>
              <a:spcAft>
                <a:spcPts val="0"/>
              </a:spcAft>
              <a:buClr>
                <a:srgbClr val="000000"/>
              </a:buClr>
              <a:buSzPts val="2800"/>
              <a:buChar char="•"/>
            </a:pPr>
            <a:r>
              <a:rPr lang="en-US"/>
              <a:t>Open-ended language tasks require models that can handle ambiguity</a:t>
            </a:r>
            <a:endParaRPr/>
          </a:p>
          <a:p>
            <a:pPr indent="-228600" lvl="0" marL="228600" rtl="0" algn="l">
              <a:lnSpc>
                <a:spcPct val="113000"/>
              </a:lnSpc>
              <a:spcBef>
                <a:spcPts val="1000"/>
              </a:spcBef>
              <a:spcAft>
                <a:spcPts val="0"/>
              </a:spcAft>
              <a:buClr>
                <a:srgbClr val="000000"/>
              </a:buClr>
              <a:buSzPts val="2800"/>
              <a:buChar char="•"/>
            </a:pPr>
            <a:r>
              <a:rPr lang="en-US"/>
              <a:t>This dissertation shows how to operationalize ambiguous concepts and measure them at scale</a:t>
            </a:r>
            <a:endParaRPr/>
          </a:p>
          <a:p>
            <a:pPr indent="-228600" lvl="0" marL="228600" rtl="0" algn="l">
              <a:lnSpc>
                <a:spcPct val="113000"/>
              </a:lnSpc>
              <a:spcBef>
                <a:spcPts val="1000"/>
              </a:spcBef>
              <a:spcAft>
                <a:spcPts val="0"/>
              </a:spcAft>
              <a:buClr>
                <a:srgbClr val="000000"/>
              </a:buClr>
              <a:buSzPts val="2800"/>
              <a:buChar char="•"/>
            </a:pPr>
            <a:r>
              <a:rPr lang="en-US"/>
              <a:t>AI systems can help us understand and shape how people reason, explain, and decide</a:t>
            </a:r>
            <a:endParaRPr/>
          </a:p>
          <a:p>
            <a:pPr indent="-228600" lvl="0" marL="228600" rtl="0" algn="l">
              <a:lnSpc>
                <a:spcPct val="113000"/>
              </a:lnSpc>
              <a:spcBef>
                <a:spcPts val="1000"/>
              </a:spcBef>
              <a:spcAft>
                <a:spcPts val="0"/>
              </a:spcAft>
              <a:buClr>
                <a:srgbClr val="000000"/>
              </a:buClr>
              <a:buSzPts val="2800"/>
              <a:buChar char="•"/>
            </a:pPr>
            <a:r>
              <a:rPr lang="en-US"/>
              <a:t>Future direction: develop systems that can can more effectively introduce </a:t>
            </a:r>
            <a:r>
              <a:rPr b="1" lang="en-US"/>
              <a:t>productive friction</a:t>
            </a:r>
            <a:endParaRPr/>
          </a:p>
          <a:p>
            <a:pPr indent="0" lvl="0" marL="0" rtl="0" algn="l">
              <a:lnSpc>
                <a:spcPct val="113000"/>
              </a:lnSpc>
              <a:spcBef>
                <a:spcPts val="1000"/>
              </a:spcBef>
              <a:spcAft>
                <a:spcPts val="0"/>
              </a:spcAft>
              <a:buClr>
                <a:srgbClr val="000000"/>
              </a:buClr>
              <a:buSzPts val="2800"/>
              <a:buNone/>
            </a:pPr>
            <a:r>
              <a:t/>
            </a:r>
            <a:endParaRPr/>
          </a:p>
          <a:p>
            <a:pPr indent="-50800" lvl="0" marL="228600" rtl="0" algn="l">
              <a:lnSpc>
                <a:spcPct val="113000"/>
              </a:lnSpc>
              <a:spcBef>
                <a:spcPts val="1000"/>
              </a:spcBef>
              <a:spcAft>
                <a:spcPts val="0"/>
              </a:spcAft>
              <a:buClr>
                <a:srgbClr val="000000"/>
              </a:buClr>
              <a:buSzPts val="2800"/>
              <a:buNone/>
            </a:pPr>
            <a:r>
              <a:t/>
            </a:r>
            <a:endParaRPr/>
          </a:p>
        </p:txBody>
      </p:sp>
      <p:sp>
        <p:nvSpPr>
          <p:cNvPr id="694" name="Google Shape;694;p5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5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Acknowledgements</a:t>
            </a:r>
            <a:endParaRPr/>
          </a:p>
        </p:txBody>
      </p:sp>
      <p:sp>
        <p:nvSpPr>
          <p:cNvPr id="700" name="Google Shape;700;p59"/>
          <p:cNvSpPr txBox="1"/>
          <p:nvPr>
            <p:ph idx="1" type="body"/>
          </p:nvPr>
        </p:nvSpPr>
        <p:spPr>
          <a:xfrm>
            <a:off x="838200" y="1825625"/>
            <a:ext cx="10515600" cy="4006764"/>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chemeClr val="lt2"/>
              </a:buClr>
              <a:buSzPts val="2800"/>
              <a:buChar char="•"/>
            </a:pPr>
            <a:r>
              <a:rPr lang="en-US">
                <a:solidFill>
                  <a:schemeClr val="lt2"/>
                </a:solidFill>
              </a:rPr>
              <a:t>Thanks to my advisor, Chenhao Tan, and committee members Ari Holtzman, Alexander Zentefis</a:t>
            </a:r>
            <a:endParaRPr/>
          </a:p>
          <a:p>
            <a:pPr indent="-228600" lvl="0" marL="228600" rtl="0" algn="l">
              <a:lnSpc>
                <a:spcPct val="90000"/>
              </a:lnSpc>
              <a:spcBef>
                <a:spcPts val="1000"/>
              </a:spcBef>
              <a:spcAft>
                <a:spcPts val="0"/>
              </a:spcAft>
              <a:buClr>
                <a:schemeClr val="lt2"/>
              </a:buClr>
              <a:buSzPts val="2800"/>
              <a:buChar char="•"/>
            </a:pPr>
            <a:r>
              <a:rPr lang="en-US">
                <a:solidFill>
                  <a:schemeClr val="lt2"/>
                </a:solidFill>
              </a:rPr>
              <a:t>Collaborators: Rob Voigt, Anup Malani, Hongyuan Mei, Alexander Zentefis, Karen Zhou, Qingcheng Zeng, Kyle MacMillan</a:t>
            </a:r>
            <a:endParaRPr/>
          </a:p>
          <a:p>
            <a:pPr indent="-228600" lvl="0" marL="228600" rtl="0" algn="l">
              <a:lnSpc>
                <a:spcPct val="90000"/>
              </a:lnSpc>
              <a:spcBef>
                <a:spcPts val="1000"/>
              </a:spcBef>
              <a:spcAft>
                <a:spcPts val="0"/>
              </a:spcAft>
              <a:buClr>
                <a:schemeClr val="lt2"/>
              </a:buClr>
              <a:buSzPts val="2800"/>
              <a:buChar char="•"/>
            </a:pPr>
            <a:r>
              <a:rPr lang="en-US">
                <a:solidFill>
                  <a:schemeClr val="lt2"/>
                </a:solidFill>
              </a:rPr>
              <a:t>Undergraduate advisors: Noah Smith &amp; Mari Ostendorf</a:t>
            </a:r>
            <a:endParaRPr/>
          </a:p>
          <a:p>
            <a:pPr indent="-228600" lvl="0" marL="228600" rtl="0" algn="l">
              <a:lnSpc>
                <a:spcPct val="90000"/>
              </a:lnSpc>
              <a:spcBef>
                <a:spcPts val="1000"/>
              </a:spcBef>
              <a:spcAft>
                <a:spcPts val="0"/>
              </a:spcAft>
              <a:buClr>
                <a:schemeClr val="lt2"/>
              </a:buClr>
              <a:buSzPts val="2800"/>
              <a:buChar char="•"/>
            </a:pPr>
            <a:r>
              <a:rPr lang="en-US">
                <a:solidFill>
                  <a:schemeClr val="lt2"/>
                </a:solidFill>
              </a:rPr>
              <a:t>PhD funding sources: UChicago, NSF IIS-2302785, University of Chicago AI initiative</a:t>
            </a:r>
            <a:endParaRPr/>
          </a:p>
          <a:p>
            <a:pPr indent="-228600" lvl="0" marL="228600" rtl="0" algn="l">
              <a:lnSpc>
                <a:spcPct val="90000"/>
              </a:lnSpc>
              <a:spcBef>
                <a:spcPts val="1000"/>
              </a:spcBef>
              <a:spcAft>
                <a:spcPts val="0"/>
              </a:spcAft>
              <a:buClr>
                <a:schemeClr val="lt2"/>
              </a:buClr>
              <a:buSzPts val="2800"/>
              <a:buChar char="•"/>
            </a:pPr>
            <a:r>
              <a:rPr lang="en-US">
                <a:solidFill>
                  <a:schemeClr val="lt2"/>
                </a:solidFill>
              </a:rPr>
              <a:t>UChicago Computer Science and Data Science Institute</a:t>
            </a:r>
            <a:endParaRPr/>
          </a:p>
        </p:txBody>
      </p:sp>
      <p:sp>
        <p:nvSpPr>
          <p:cNvPr id="701" name="Google Shape;701;p5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60"/>
          <p:cNvSpPr txBox="1"/>
          <p:nvPr>
            <p:ph type="title"/>
          </p:nvPr>
        </p:nvSpPr>
        <p:spPr>
          <a:xfrm>
            <a:off x="838200" y="2766218"/>
            <a:ext cx="10515600" cy="1325563"/>
          </a:xfrm>
          <a:prstGeom prst="rect">
            <a:avLst/>
          </a:prstGeom>
          <a:noFill/>
          <a:ln>
            <a:noFill/>
          </a:ln>
        </p:spPr>
        <p:txBody>
          <a:bodyPr anchorCtr="0" anchor="ctr" bIns="45700" lIns="45700" spcFirstLastPara="1" rIns="45700" wrap="square" tIns="45700">
            <a:normAutofit/>
          </a:bodyPr>
          <a:lstStyle/>
          <a:p>
            <a:pPr indent="0" lvl="0" marL="0" rtl="0" algn="ctr">
              <a:lnSpc>
                <a:spcPct val="90000"/>
              </a:lnSpc>
              <a:spcBef>
                <a:spcPts val="0"/>
              </a:spcBef>
              <a:spcAft>
                <a:spcPts val="0"/>
              </a:spcAft>
              <a:buClr>
                <a:srgbClr val="7F7F7F"/>
              </a:buClr>
              <a:buSzPts val="4400"/>
              <a:buFont typeface="Play"/>
              <a:buNone/>
            </a:pPr>
            <a:r>
              <a:rPr lang="en-US">
                <a:solidFill>
                  <a:srgbClr val="7F7F7F"/>
                </a:solidFill>
              </a:rPr>
              <a:t>Thanks!</a:t>
            </a:r>
            <a:endParaRPr/>
          </a:p>
        </p:txBody>
      </p:sp>
      <p:sp>
        <p:nvSpPr>
          <p:cNvPr id="707" name="Google Shape;707;p6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61"/>
          <p:cNvSpPr txBox="1"/>
          <p:nvPr>
            <p:ph type="title"/>
          </p:nvPr>
        </p:nvSpPr>
        <p:spPr>
          <a:xfrm>
            <a:off x="831850" y="1709738"/>
            <a:ext cx="10515600" cy="2852738"/>
          </a:xfrm>
          <a:prstGeom prst="rect">
            <a:avLst/>
          </a:prstGeom>
          <a:noFill/>
          <a:ln>
            <a:noFill/>
          </a:ln>
        </p:spPr>
        <p:txBody>
          <a:bodyPr anchorCtr="0" anchor="b" bIns="45700" lIns="45700" spcFirstLastPara="1" rIns="45700" wrap="square" tIns="45700">
            <a:normAutofit/>
          </a:bodyPr>
          <a:lstStyle/>
          <a:p>
            <a:pPr indent="0" lvl="0" marL="0" rtl="0" algn="l">
              <a:lnSpc>
                <a:spcPct val="90000"/>
              </a:lnSpc>
              <a:spcBef>
                <a:spcPts val="0"/>
              </a:spcBef>
              <a:spcAft>
                <a:spcPts val="0"/>
              </a:spcAft>
              <a:buClr>
                <a:srgbClr val="000000"/>
              </a:buClr>
              <a:buSzPts val="6000"/>
              <a:buFont typeface="Play"/>
              <a:buNone/>
            </a:pPr>
            <a:r>
              <a:rPr lang="en-US"/>
              <a:t>Appendix</a:t>
            </a:r>
            <a:endParaRPr/>
          </a:p>
        </p:txBody>
      </p:sp>
      <p:sp>
        <p:nvSpPr>
          <p:cNvPr id="713" name="Google Shape;713;p61"/>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757575"/>
              </a:buClr>
              <a:buSzPts val="2400"/>
              <a:buFont typeface="Arial"/>
              <a:buNone/>
            </a:pPr>
            <a:r>
              <a:t/>
            </a:r>
            <a:endParaRPr/>
          </a:p>
        </p:txBody>
      </p:sp>
      <p:sp>
        <p:nvSpPr>
          <p:cNvPr id="714" name="Google Shape;714;p6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62"/>
          <p:cNvSpPr txBox="1"/>
          <p:nvPr>
            <p:ph idx="1" type="body"/>
          </p:nvPr>
        </p:nvSpPr>
        <p:spPr>
          <a:xfrm>
            <a:off x="838200" y="2472267"/>
            <a:ext cx="10515600" cy="3704696"/>
          </a:xfrm>
          <a:prstGeom prst="rect">
            <a:avLst/>
          </a:prstGeom>
          <a:noFill/>
          <a:ln>
            <a:noFill/>
          </a:ln>
        </p:spPr>
        <p:txBody>
          <a:bodyPr anchorCtr="0" anchor="t" bIns="45700" lIns="45700" spcFirstLastPara="1" rIns="45700" wrap="square" tIns="45700">
            <a:normAutofit/>
          </a:bodyPr>
          <a:lstStyle/>
          <a:p>
            <a:pPr indent="0" lvl="0" marL="0" rtl="0" algn="l">
              <a:lnSpc>
                <a:spcPct val="110000"/>
              </a:lnSpc>
              <a:spcBef>
                <a:spcPts val="0"/>
              </a:spcBef>
              <a:spcAft>
                <a:spcPts val="0"/>
              </a:spcAft>
              <a:buClr>
                <a:srgbClr val="000000"/>
              </a:buClr>
              <a:buSzPts val="2800"/>
              <a:buNone/>
            </a:pPr>
            <a:r>
              <a:rPr lang="en-US"/>
              <a:t>This thesis develops methods </a:t>
            </a:r>
            <a:r>
              <a:rPr i="1" lang="en-US"/>
              <a:t>for making expert judgment explicit </a:t>
            </a:r>
            <a:r>
              <a:rPr lang="en-US"/>
              <a:t>and turning it into task definitions and evaluation measures that better capture what good performance means in context-dependent ML problems.</a:t>
            </a:r>
            <a:endParaRPr/>
          </a:p>
          <a:p>
            <a:pPr indent="-50800" lvl="0" marL="228600" rtl="0" algn="l">
              <a:lnSpc>
                <a:spcPct val="110000"/>
              </a:lnSpc>
              <a:spcBef>
                <a:spcPts val="1000"/>
              </a:spcBef>
              <a:spcAft>
                <a:spcPts val="0"/>
              </a:spcAft>
              <a:buClr>
                <a:srgbClr val="000000"/>
              </a:buClr>
              <a:buSzPts val="2800"/>
              <a:buNone/>
            </a:pPr>
            <a:r>
              <a:t/>
            </a:r>
            <a:endParaRPr/>
          </a:p>
        </p:txBody>
      </p:sp>
      <p:sp>
        <p:nvSpPr>
          <p:cNvPr id="720" name="Google Shape;720;p62"/>
          <p:cNvSpPr txBox="1"/>
          <p:nvPr/>
        </p:nvSpPr>
        <p:spPr>
          <a:xfrm>
            <a:off x="838200" y="4695291"/>
            <a:ext cx="10515600" cy="1592976"/>
          </a:xfrm>
          <a:prstGeom prst="rect">
            <a:avLst/>
          </a:prstGeom>
          <a:noFill/>
          <a:ln>
            <a:noFill/>
          </a:ln>
        </p:spPr>
        <p:txBody>
          <a:bodyPr anchorCtr="0" anchor="t" bIns="45700" lIns="45700" spcFirstLastPara="1" rIns="45700" wrap="square" tIns="45700">
            <a:normAutofit fontScale="85000" lnSpcReduction="10000"/>
          </a:bodyPr>
          <a:lstStyle/>
          <a:p>
            <a:pPr indent="0" lvl="0" marL="0" marR="0" rtl="0" algn="l">
              <a:lnSpc>
                <a:spcPct val="110000"/>
              </a:lnSpc>
              <a:spcBef>
                <a:spcPts val="0"/>
              </a:spcBef>
              <a:spcAft>
                <a:spcPts val="0"/>
              </a:spcAft>
              <a:buClr>
                <a:srgbClr val="000000"/>
              </a:buClr>
              <a:buSzPct val="100000"/>
              <a:buFont typeface="Arial"/>
              <a:buNone/>
            </a:pPr>
            <a:r>
              <a:rPr b="0" i="0" lang="en-US" sz="2800" u="none" cap="none" strike="noStrike">
                <a:solidFill>
                  <a:srgbClr val="000000"/>
                </a:solidFill>
                <a:latin typeface="Arial"/>
                <a:ea typeface="Arial"/>
                <a:cs typeface="Arial"/>
                <a:sym typeface="Arial"/>
              </a:rPr>
              <a:t>This thesis develops methods for operationalizing expert frameworks — from economics, law, and political theory — into language modeling pipelines for open-ended, consequential domains. This includes defining what tasks mean, evaluating model outputs, and designing systems whose effects matter.</a:t>
            </a:r>
            <a:endParaRPr b="0" i="0" sz="2800" u="none" cap="none" strike="noStrike">
              <a:solidFill>
                <a:srgbClr val="000000"/>
              </a:solidFill>
              <a:latin typeface="Arial"/>
              <a:ea typeface="Arial"/>
              <a:cs typeface="Arial"/>
              <a:sym typeface="Arial"/>
            </a:endParaRPr>
          </a:p>
        </p:txBody>
      </p:sp>
      <p:sp>
        <p:nvSpPr>
          <p:cNvPr id="721" name="Google Shape;721;p6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63"/>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p>
            <a:pPr indent="0" lvl="0" marL="0" rtl="0" algn="l">
              <a:lnSpc>
                <a:spcPct val="90000"/>
              </a:lnSpc>
              <a:spcBef>
                <a:spcPts val="0"/>
              </a:spcBef>
              <a:spcAft>
                <a:spcPts val="0"/>
              </a:spcAft>
              <a:buClr>
                <a:srgbClr val="000000"/>
              </a:buClr>
              <a:buSzPts val="6000"/>
              <a:buFont typeface="Play"/>
              <a:buNone/>
            </a:pPr>
            <a:r>
              <a:rPr lang="en-US"/>
              <a:t>Inflation Narratives</a:t>
            </a:r>
            <a:endParaRPr/>
          </a:p>
        </p:txBody>
      </p:sp>
      <p:sp>
        <p:nvSpPr>
          <p:cNvPr id="727" name="Google Shape;727;p63"/>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757575"/>
              </a:buClr>
              <a:buSzPts val="2400"/>
              <a:buFont typeface="Arial"/>
              <a:buNone/>
            </a:pPr>
            <a:r>
              <a:t/>
            </a:r>
            <a:endParaRPr/>
          </a:p>
        </p:txBody>
      </p:sp>
      <p:sp>
        <p:nvSpPr>
          <p:cNvPr id="728" name="Google Shape;728;p6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6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Measuring narratives: prior work captures concept but not scale</a:t>
            </a:r>
            <a:endParaRPr b="0" i="0" sz="4180" u="none" cap="none" strike="noStrike">
              <a:solidFill>
                <a:srgbClr val="000000"/>
              </a:solidFill>
              <a:latin typeface="Play"/>
              <a:ea typeface="Play"/>
              <a:cs typeface="Play"/>
              <a:sym typeface="Play"/>
            </a:endParaRPr>
          </a:p>
        </p:txBody>
      </p:sp>
      <p:sp>
        <p:nvSpPr>
          <p:cNvPr id="734" name="Google Shape;734;p64"/>
          <p:cNvSpPr txBox="1"/>
          <p:nvPr>
            <p:ph idx="1" type="body"/>
          </p:nvPr>
        </p:nvSpPr>
        <p:spPr>
          <a:xfrm>
            <a:off x="745732" y="2052954"/>
            <a:ext cx="6158502" cy="4351338"/>
          </a:xfrm>
          <a:prstGeom prst="rect">
            <a:avLst/>
          </a:prstGeom>
          <a:noFill/>
          <a:ln>
            <a:noFill/>
          </a:ln>
        </p:spPr>
        <p:txBody>
          <a:bodyPr anchorCtr="0" anchor="t" bIns="45700" lIns="45700" spcFirstLastPara="1" rIns="45700" wrap="square" tIns="45700">
            <a:normAutofit lnSpcReduction="10000"/>
          </a:bodyPr>
          <a:lstStyle/>
          <a:p>
            <a:pPr indent="-228600" lvl="0" marL="228600" rtl="0" algn="l">
              <a:lnSpc>
                <a:spcPct val="150000"/>
              </a:lnSpc>
              <a:spcBef>
                <a:spcPts val="0"/>
              </a:spcBef>
              <a:spcAft>
                <a:spcPts val="0"/>
              </a:spcAft>
              <a:buClr>
                <a:srgbClr val="000000"/>
              </a:buClr>
              <a:buSzPts val="2400"/>
              <a:buChar char="•"/>
            </a:pPr>
            <a:r>
              <a:rPr lang="en-US" sz="2400"/>
              <a:t>Definitions of narrative are not built to be extracted and measured from actual text</a:t>
            </a:r>
            <a:endParaRPr/>
          </a:p>
          <a:p>
            <a:pPr indent="-76200" lvl="0" marL="228600" rtl="0" algn="l">
              <a:lnSpc>
                <a:spcPct val="150000"/>
              </a:lnSpc>
              <a:spcBef>
                <a:spcPts val="1000"/>
              </a:spcBef>
              <a:spcAft>
                <a:spcPts val="0"/>
              </a:spcAft>
              <a:buClr>
                <a:srgbClr val="000000"/>
              </a:buClr>
              <a:buSzPts val="2400"/>
              <a:buNone/>
            </a:pPr>
            <a:r>
              <a:t/>
            </a:r>
            <a:endParaRPr sz="2400"/>
          </a:p>
          <a:p>
            <a:pPr indent="-228600" lvl="0" marL="228600" rtl="0" algn="l">
              <a:lnSpc>
                <a:spcPct val="150000"/>
              </a:lnSpc>
              <a:spcBef>
                <a:spcPts val="1000"/>
              </a:spcBef>
              <a:spcAft>
                <a:spcPts val="0"/>
              </a:spcAft>
              <a:buClr>
                <a:srgbClr val="000000"/>
              </a:buClr>
              <a:buSzPts val="2400"/>
              <a:buChar char="•"/>
            </a:pPr>
            <a:r>
              <a:rPr lang="en-US" sz="2400"/>
              <a:t>Extraction methods are not built around any definition of narrative</a:t>
            </a:r>
            <a:endParaRPr/>
          </a:p>
          <a:p>
            <a:pPr indent="-266700" lvl="1" marL="723900" rtl="0" algn="l">
              <a:lnSpc>
                <a:spcPct val="150000"/>
              </a:lnSpc>
              <a:spcBef>
                <a:spcPts val="1000"/>
              </a:spcBef>
              <a:spcAft>
                <a:spcPts val="0"/>
              </a:spcAft>
              <a:buClr>
                <a:srgbClr val="000000"/>
              </a:buClr>
              <a:buSzPts val="2400"/>
              <a:buChar char="•"/>
            </a:pPr>
            <a:r>
              <a:rPr lang="en-US" sz="2400"/>
              <a:t>Subject-verb-object tuples</a:t>
            </a:r>
            <a:endParaRPr/>
          </a:p>
          <a:p>
            <a:pPr indent="-266700" lvl="1" marL="723900" rtl="0" algn="l">
              <a:lnSpc>
                <a:spcPct val="150000"/>
              </a:lnSpc>
              <a:spcBef>
                <a:spcPts val="1000"/>
              </a:spcBef>
              <a:spcAft>
                <a:spcPts val="0"/>
              </a:spcAft>
              <a:buClr>
                <a:srgbClr val="000000"/>
              </a:buClr>
              <a:buSzPts val="2400"/>
              <a:buChar char="•"/>
            </a:pPr>
            <a:r>
              <a:rPr lang="en-US" sz="2400"/>
              <a:t>Sentiment</a:t>
            </a:r>
            <a:endParaRPr/>
          </a:p>
        </p:txBody>
      </p:sp>
      <p:sp>
        <p:nvSpPr>
          <p:cNvPr id="735" name="Google Shape;735;p6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id="736" name="Google Shape;736;p64"/>
          <p:cNvPicPr preferRelativeResize="0"/>
          <p:nvPr/>
        </p:nvPicPr>
        <p:blipFill rotWithShape="1">
          <a:blip r:embed="rId3">
            <a:alphaModFix/>
          </a:blip>
          <a:srcRect b="0" l="0" r="0" t="0"/>
          <a:stretch/>
        </p:blipFill>
        <p:spPr>
          <a:xfrm>
            <a:off x="7027518" y="1690688"/>
            <a:ext cx="5017556" cy="3952099"/>
          </a:xfrm>
          <a:prstGeom prst="rect">
            <a:avLst/>
          </a:prstGeom>
          <a:noFill/>
          <a:ln>
            <a:noFill/>
          </a:ln>
        </p:spPr>
      </p:pic>
      <p:sp>
        <p:nvSpPr>
          <p:cNvPr id="737" name="Google Shape;737;p64"/>
          <p:cNvSpPr txBox="1"/>
          <p:nvPr/>
        </p:nvSpPr>
        <p:spPr>
          <a:xfrm>
            <a:off x="9956101" y="5642787"/>
            <a:ext cx="1996506" cy="307775"/>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[Ash et al., 2022]</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6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Narrative label distributions</a:t>
            </a:r>
            <a:endParaRPr/>
          </a:p>
        </p:txBody>
      </p:sp>
      <p:pic>
        <p:nvPicPr>
          <p:cNvPr id="743" name="Google Shape;743;p65"/>
          <p:cNvPicPr preferRelativeResize="0"/>
          <p:nvPr/>
        </p:nvPicPr>
        <p:blipFill rotWithShape="1">
          <a:blip r:embed="rId3">
            <a:alphaModFix/>
          </a:blip>
          <a:srcRect b="0" l="0" r="0" t="0"/>
          <a:stretch/>
        </p:blipFill>
        <p:spPr>
          <a:xfrm>
            <a:off x="1237128" y="2368924"/>
            <a:ext cx="9181171" cy="3619500"/>
          </a:xfrm>
          <a:prstGeom prst="rect">
            <a:avLst/>
          </a:prstGeom>
          <a:noFill/>
          <a:ln>
            <a:noFill/>
          </a:ln>
        </p:spPr>
      </p:pic>
      <p:sp>
        <p:nvSpPr>
          <p:cNvPr id="744" name="Google Shape;744;p6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6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Narrative Definitions</a:t>
            </a:r>
            <a:endParaRPr/>
          </a:p>
        </p:txBody>
      </p:sp>
      <p:sp>
        <p:nvSpPr>
          <p:cNvPr id="750" name="Google Shape;750;p6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id="751" name="Google Shape;751;p66"/>
          <p:cNvPicPr preferRelativeResize="0"/>
          <p:nvPr/>
        </p:nvPicPr>
        <p:blipFill rotWithShape="1">
          <a:blip r:embed="rId3">
            <a:alphaModFix/>
          </a:blip>
          <a:srcRect b="0" l="0" r="0" t="0"/>
          <a:stretch/>
        </p:blipFill>
        <p:spPr>
          <a:xfrm>
            <a:off x="6393100" y="1515762"/>
            <a:ext cx="5478889" cy="4585228"/>
          </a:xfrm>
          <a:prstGeom prst="rect">
            <a:avLst/>
          </a:prstGeom>
          <a:noFill/>
          <a:ln>
            <a:noFill/>
          </a:ln>
        </p:spPr>
      </p:pic>
      <p:pic>
        <p:nvPicPr>
          <p:cNvPr id="752" name="Google Shape;752;p66"/>
          <p:cNvPicPr preferRelativeResize="0"/>
          <p:nvPr/>
        </p:nvPicPr>
        <p:blipFill rotWithShape="1">
          <a:blip r:embed="rId4">
            <a:alphaModFix/>
          </a:blip>
          <a:srcRect b="0" l="0" r="0" t="0"/>
          <a:stretch/>
        </p:blipFill>
        <p:spPr>
          <a:xfrm>
            <a:off x="124940" y="2149647"/>
            <a:ext cx="6268160" cy="274768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6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Narrative Examples</a:t>
            </a:r>
            <a:endParaRPr/>
          </a:p>
        </p:txBody>
      </p:sp>
      <p:sp>
        <p:nvSpPr>
          <p:cNvPr id="758" name="Google Shape;758;p6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id="759" name="Google Shape;759;p67"/>
          <p:cNvPicPr preferRelativeResize="0"/>
          <p:nvPr/>
        </p:nvPicPr>
        <p:blipFill rotWithShape="1">
          <a:blip r:embed="rId3">
            <a:alphaModFix/>
          </a:blip>
          <a:srcRect b="55925" l="0" r="0" t="0"/>
          <a:stretch/>
        </p:blipFill>
        <p:spPr>
          <a:xfrm>
            <a:off x="0" y="1308083"/>
            <a:ext cx="6497116" cy="4050631"/>
          </a:xfrm>
          <a:prstGeom prst="rect">
            <a:avLst/>
          </a:prstGeom>
          <a:noFill/>
          <a:ln>
            <a:noFill/>
          </a:ln>
        </p:spPr>
      </p:pic>
      <p:pic>
        <p:nvPicPr>
          <p:cNvPr id="760" name="Google Shape;760;p67"/>
          <p:cNvPicPr preferRelativeResize="0"/>
          <p:nvPr/>
        </p:nvPicPr>
        <p:blipFill rotWithShape="1">
          <a:blip r:embed="rId3">
            <a:alphaModFix/>
          </a:blip>
          <a:srcRect b="0" l="0" r="0" t="44075"/>
          <a:stretch/>
        </p:blipFill>
        <p:spPr>
          <a:xfrm>
            <a:off x="6497116" y="1807310"/>
            <a:ext cx="5681262" cy="449436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pic>
        <p:nvPicPr>
          <p:cNvPr descr="Content Placeholder 5" id="765" name="Google Shape;765;p68"/>
          <p:cNvPicPr preferRelativeResize="0"/>
          <p:nvPr/>
        </p:nvPicPr>
        <p:blipFill rotWithShape="1">
          <a:blip r:embed="rId3">
            <a:alphaModFix/>
          </a:blip>
          <a:srcRect b="0" l="0" r="0" t="0"/>
          <a:stretch/>
        </p:blipFill>
        <p:spPr>
          <a:xfrm>
            <a:off x="2545853" y="1782910"/>
            <a:ext cx="6682455" cy="3690752"/>
          </a:xfrm>
          <a:prstGeom prst="rect">
            <a:avLst/>
          </a:prstGeom>
          <a:noFill/>
          <a:ln>
            <a:noFill/>
          </a:ln>
        </p:spPr>
      </p:pic>
      <p:sp>
        <p:nvSpPr>
          <p:cNvPr id="766" name="Google Shape;766;p6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767" name="Google Shape;767;p6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10x smaller fine-tuned models achieve </a:t>
            </a:r>
            <a:r>
              <a:rPr b="1" lang="en-US"/>
              <a:t>good performance</a:t>
            </a:r>
            <a:r>
              <a:rPr lang="en-US" sz="4180"/>
              <a:t> &amp; </a:t>
            </a:r>
            <a:r>
              <a:rPr b="1" lang="en-US"/>
              <a:t>outperform GPT-4</a:t>
            </a:r>
            <a:endParaRPr/>
          </a:p>
        </p:txBody>
      </p:sp>
      <p:sp>
        <p:nvSpPr>
          <p:cNvPr id="768" name="Google Shape;768;p68"/>
          <p:cNvSpPr/>
          <p:nvPr/>
        </p:nvSpPr>
        <p:spPr>
          <a:xfrm>
            <a:off x="5654416" y="2952676"/>
            <a:ext cx="1907219" cy="2368686"/>
          </a:xfrm>
          <a:prstGeom prst="roundRect">
            <a:avLst>
              <a:gd fmla="val 7030" name="adj"/>
            </a:avLst>
          </a:prstGeom>
          <a:noFill/>
          <a:ln cap="flat" cmpd="sng" w="38100">
            <a:solidFill>
              <a:srgbClr val="00B05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494248"/>
              </a:buClr>
              <a:buSzPts val="1800"/>
              <a:buFont typeface="Roboto"/>
              <a:buNone/>
            </a:pPr>
            <a:r>
              <a:t/>
            </a:r>
            <a:endParaRPr b="0" i="0" sz="1800" u="none" cap="none" strike="noStrike">
              <a:solidFill>
                <a:srgbClr val="000000"/>
              </a:solidFill>
              <a:latin typeface="Arial"/>
              <a:ea typeface="Arial"/>
              <a:cs typeface="Arial"/>
              <a:sym typeface="Arial"/>
            </a:endParaRPr>
          </a:p>
        </p:txBody>
      </p:sp>
      <p:sp>
        <p:nvSpPr>
          <p:cNvPr id="769" name="Google Shape;769;p68"/>
          <p:cNvSpPr/>
          <p:nvPr/>
        </p:nvSpPr>
        <p:spPr>
          <a:xfrm>
            <a:off x="8249056" y="2952676"/>
            <a:ext cx="758758" cy="2368686"/>
          </a:xfrm>
          <a:prstGeom prst="roundRect">
            <a:avLst>
              <a:gd fmla="val 7030" name="adj"/>
            </a:avLst>
          </a:prstGeom>
          <a:noFill/>
          <a:ln cap="flat" cmpd="sng" w="38100">
            <a:solidFill>
              <a:srgbClr val="FF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494248"/>
              </a:buClr>
              <a:buSzPts val="1800"/>
              <a:buFont typeface="Roboto"/>
              <a:buNone/>
            </a:pPr>
            <a:r>
              <a:t/>
            </a:r>
            <a:endParaRPr b="0" i="0" sz="1800" u="none" cap="none" strike="noStrike">
              <a:solidFill>
                <a:srgbClr val="000000"/>
              </a:solidFill>
              <a:latin typeface="Arial"/>
              <a:ea typeface="Arial"/>
              <a:cs typeface="Arial"/>
              <a:sym typeface="Arial"/>
            </a:endParaRPr>
          </a:p>
        </p:txBody>
      </p:sp>
      <p:pic>
        <p:nvPicPr>
          <p:cNvPr descr="Picture 4" id="770" name="Google Shape;770;p68"/>
          <p:cNvPicPr preferRelativeResize="0"/>
          <p:nvPr/>
        </p:nvPicPr>
        <p:blipFill rotWithShape="1">
          <a:blip r:embed="rId4">
            <a:alphaModFix/>
          </a:blip>
          <a:srcRect b="11890" l="20714" r="40989" t="13446"/>
          <a:stretch/>
        </p:blipFill>
        <p:spPr>
          <a:xfrm>
            <a:off x="7613184" y="3694004"/>
            <a:ext cx="584321" cy="886030"/>
          </a:xfrm>
          <a:prstGeom prst="rect">
            <a:avLst/>
          </a:prstGeom>
          <a:noFill/>
          <a:ln>
            <a:noFill/>
          </a:ln>
        </p:spPr>
      </p:pic>
      <p:sp>
        <p:nvSpPr>
          <p:cNvPr id="771" name="Google Shape;771;p68"/>
          <p:cNvSpPr txBox="1"/>
          <p:nvPr/>
        </p:nvSpPr>
        <p:spPr>
          <a:xfrm>
            <a:off x="5780528" y="2546310"/>
            <a:ext cx="1654997"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B050"/>
              </a:buClr>
              <a:buSzPts val="2400"/>
              <a:buFont typeface="Arial"/>
              <a:buNone/>
            </a:pPr>
            <a:r>
              <a:rPr b="0" i="0" lang="en-US" sz="2400" u="none" cap="none" strike="noStrike">
                <a:solidFill>
                  <a:srgbClr val="00B050"/>
                </a:solidFill>
                <a:latin typeface="Arial"/>
                <a:ea typeface="Arial"/>
                <a:cs typeface="Arial"/>
                <a:sym typeface="Arial"/>
              </a:rPr>
              <a:t>Fine-tuned</a:t>
            </a:r>
            <a:endParaRPr/>
          </a:p>
        </p:txBody>
      </p:sp>
      <p:sp>
        <p:nvSpPr>
          <p:cNvPr id="772" name="Google Shape;772;p68"/>
          <p:cNvSpPr txBox="1"/>
          <p:nvPr/>
        </p:nvSpPr>
        <p:spPr>
          <a:xfrm>
            <a:off x="7937607" y="2546883"/>
            <a:ext cx="1490361"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Prompted</a:t>
            </a:r>
            <a:endParaRPr/>
          </a:p>
        </p:txBody>
      </p:sp>
      <p:sp>
        <p:nvSpPr>
          <p:cNvPr id="773" name="Google Shape;773;p68"/>
          <p:cNvSpPr txBox="1"/>
          <p:nvPr>
            <p:ph idx="1" type="body"/>
          </p:nvPr>
        </p:nvSpPr>
        <p:spPr>
          <a:xfrm>
            <a:off x="838199" y="5595653"/>
            <a:ext cx="11011297" cy="1130777"/>
          </a:xfrm>
          <a:prstGeom prst="rect">
            <a:avLst/>
          </a:prstGeom>
          <a:noFill/>
          <a:ln>
            <a:noFill/>
          </a:ln>
        </p:spPr>
        <p:txBody>
          <a:bodyPr anchorCtr="0" anchor="t" bIns="45700" lIns="45700" spcFirstLastPara="1" rIns="45700" wrap="square" tIns="45700">
            <a:normAutofit/>
          </a:bodyPr>
          <a:lstStyle/>
          <a:p>
            <a:pPr indent="-228600" lvl="0" marL="228600" rtl="0" algn="l">
              <a:lnSpc>
                <a:spcPct val="110000"/>
              </a:lnSpc>
              <a:spcBef>
                <a:spcPts val="0"/>
              </a:spcBef>
              <a:spcAft>
                <a:spcPts val="0"/>
              </a:spcAft>
              <a:buClr>
                <a:srgbClr val="000000"/>
              </a:buClr>
              <a:buSzPts val="2400"/>
              <a:buChar char="•"/>
            </a:pPr>
            <a:r>
              <a:rPr b="0" i="0" lang="en-US" sz="2400" u="none" cap="none" strike="noStrike">
                <a:solidFill>
                  <a:srgbClr val="000000"/>
                </a:solidFill>
                <a:latin typeface="Arial"/>
                <a:ea typeface="Arial"/>
                <a:cs typeface="Arial"/>
                <a:sym typeface="Arial"/>
              </a:rPr>
              <a:t>Fine-tuned Llama better reflects the natural human disagreements than GPT-4 </a:t>
            </a:r>
            <a:br>
              <a:rPr b="0" i="0" lang="en-US" sz="2400" u="none" cap="none" strike="noStrike">
                <a:solidFill>
                  <a:srgbClr val="000000"/>
                </a:solidFill>
                <a:latin typeface="Arial"/>
                <a:ea typeface="Arial"/>
                <a:cs typeface="Arial"/>
                <a:sym typeface="Arial"/>
              </a:rPr>
            </a:br>
            <a:r>
              <a:rPr b="0" i="0" lang="en-US" sz="2400" u="none" cap="none" strike="noStrike">
                <a:solidFill>
                  <a:srgbClr val="000000"/>
                </a:solidFill>
                <a:latin typeface="Arial"/>
                <a:ea typeface="Arial"/>
                <a:cs typeface="Arial"/>
                <a:sym typeface="Arial"/>
              </a:rPr>
              <a:t>( r = 0.97 vs 0.70)</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Narrative evolution over time</a:t>
            </a:r>
            <a:endParaRPr/>
          </a:p>
        </p:txBody>
      </p:sp>
      <p:pic>
        <p:nvPicPr>
          <p:cNvPr id="779" name="Google Shape;779;p69"/>
          <p:cNvPicPr preferRelativeResize="0"/>
          <p:nvPr/>
        </p:nvPicPr>
        <p:blipFill rotWithShape="1">
          <a:blip r:embed="rId3">
            <a:alphaModFix/>
          </a:blip>
          <a:srcRect b="0" l="0" r="0" t="0"/>
          <a:stretch/>
        </p:blipFill>
        <p:spPr>
          <a:xfrm>
            <a:off x="177798" y="2278284"/>
            <a:ext cx="5757335" cy="3428525"/>
          </a:xfrm>
          <a:prstGeom prst="rect">
            <a:avLst/>
          </a:prstGeom>
          <a:noFill/>
          <a:ln>
            <a:noFill/>
          </a:ln>
        </p:spPr>
      </p:pic>
      <p:pic>
        <p:nvPicPr>
          <p:cNvPr id="780" name="Google Shape;780;p69"/>
          <p:cNvPicPr preferRelativeResize="0"/>
          <p:nvPr/>
        </p:nvPicPr>
        <p:blipFill rotWithShape="1">
          <a:blip r:embed="rId4">
            <a:alphaModFix/>
          </a:blip>
          <a:srcRect b="0" l="0" r="0" t="0"/>
          <a:stretch/>
        </p:blipFill>
        <p:spPr>
          <a:xfrm>
            <a:off x="6131122" y="2278284"/>
            <a:ext cx="5757337" cy="3428526"/>
          </a:xfrm>
          <a:prstGeom prst="rect">
            <a:avLst/>
          </a:prstGeom>
          <a:noFill/>
          <a:ln>
            <a:noFill/>
          </a:ln>
        </p:spPr>
      </p:pic>
      <p:sp>
        <p:nvSpPr>
          <p:cNvPr id="781" name="Google Shape;781;p6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7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Do narratives predict inflation expectations?</a:t>
            </a:r>
            <a:endParaRPr/>
          </a:p>
        </p:txBody>
      </p:sp>
      <p:sp>
        <p:nvSpPr>
          <p:cNvPr id="787" name="Google Shape;787;p70"/>
          <p:cNvSpPr txBox="1"/>
          <p:nvPr>
            <p:ph idx="1" type="body"/>
          </p:nvPr>
        </p:nvSpPr>
        <p:spPr>
          <a:xfrm>
            <a:off x="838200" y="1944159"/>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114000"/>
              </a:lnSpc>
              <a:spcBef>
                <a:spcPts val="0"/>
              </a:spcBef>
              <a:spcAft>
                <a:spcPts val="0"/>
              </a:spcAft>
              <a:buClr>
                <a:srgbClr val="000000"/>
              </a:buClr>
              <a:buSzPts val="2800"/>
              <a:buChar char="•"/>
            </a:pPr>
            <a:r>
              <a:rPr lang="en-US"/>
              <a:t>Survey data: “</a:t>
            </a:r>
            <a:r>
              <a:rPr b="1" lang="en-US"/>
              <a:t>By about what percent do you expect prices to go (up/down) on the average, during the next 12 months?</a:t>
            </a:r>
            <a:r>
              <a:rPr lang="en-US"/>
              <a:t>”</a:t>
            </a:r>
            <a:endParaRPr/>
          </a:p>
          <a:p>
            <a:pPr indent="-228600" lvl="0" marL="228600" rtl="0" algn="l">
              <a:lnSpc>
                <a:spcPct val="114000"/>
              </a:lnSpc>
              <a:spcBef>
                <a:spcPts val="1000"/>
              </a:spcBef>
              <a:spcAft>
                <a:spcPts val="0"/>
              </a:spcAft>
              <a:buClr>
                <a:srgbClr val="000000"/>
              </a:buClr>
              <a:buSzPts val="2800"/>
              <a:buChar char="•"/>
            </a:pPr>
            <a:r>
              <a:rPr lang="en-US"/>
              <a:t>We compute narrative prevalence by time and region, then relate them to the inflation expectations survey data</a:t>
            </a:r>
            <a:endParaRPr/>
          </a:p>
          <a:p>
            <a:pPr indent="-50800" lvl="0" marL="228600" rtl="0" algn="l">
              <a:lnSpc>
                <a:spcPct val="114000"/>
              </a:lnSpc>
              <a:spcBef>
                <a:spcPts val="1000"/>
              </a:spcBef>
              <a:spcAft>
                <a:spcPts val="0"/>
              </a:spcAft>
              <a:buClr>
                <a:srgbClr val="000000"/>
              </a:buClr>
              <a:buSzPts val="2800"/>
              <a:buNone/>
            </a:pPr>
            <a:r>
              <a:t/>
            </a:r>
            <a:endParaRPr/>
          </a:p>
        </p:txBody>
      </p:sp>
      <p:pic>
        <p:nvPicPr>
          <p:cNvPr id="788" name="Google Shape;788;p70"/>
          <p:cNvPicPr preferRelativeResize="0"/>
          <p:nvPr/>
        </p:nvPicPr>
        <p:blipFill rotWithShape="1">
          <a:blip r:embed="rId3">
            <a:alphaModFix/>
          </a:blip>
          <a:srcRect b="0" l="0" r="0" t="0"/>
          <a:stretch/>
        </p:blipFill>
        <p:spPr>
          <a:xfrm>
            <a:off x="1017058" y="4390761"/>
            <a:ext cx="10157884" cy="1306167"/>
          </a:xfrm>
          <a:prstGeom prst="rect">
            <a:avLst/>
          </a:prstGeom>
          <a:noFill/>
          <a:ln>
            <a:noFill/>
          </a:ln>
        </p:spPr>
      </p:pic>
      <p:sp>
        <p:nvSpPr>
          <p:cNvPr id="789" name="Google Shape;789;p7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pic>
        <p:nvPicPr>
          <p:cNvPr id="794" name="Google Shape;794;p71"/>
          <p:cNvPicPr preferRelativeResize="0"/>
          <p:nvPr/>
        </p:nvPicPr>
        <p:blipFill rotWithShape="1">
          <a:blip r:embed="rId3">
            <a:alphaModFix/>
          </a:blip>
          <a:srcRect b="18777" l="0" r="0" t="0"/>
          <a:stretch/>
        </p:blipFill>
        <p:spPr>
          <a:xfrm>
            <a:off x="1309649" y="1353672"/>
            <a:ext cx="9394210" cy="4616824"/>
          </a:xfrm>
          <a:prstGeom prst="rect">
            <a:avLst/>
          </a:prstGeom>
          <a:noFill/>
          <a:ln>
            <a:noFill/>
          </a:ln>
        </p:spPr>
      </p:pic>
      <p:sp>
        <p:nvSpPr>
          <p:cNvPr id="795" name="Google Shape;795;p7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pic>
        <p:nvPicPr>
          <p:cNvPr id="800" name="Google Shape;800;p72"/>
          <p:cNvPicPr preferRelativeResize="0"/>
          <p:nvPr/>
        </p:nvPicPr>
        <p:blipFill rotWithShape="1">
          <a:blip r:embed="rId3">
            <a:alphaModFix/>
          </a:blip>
          <a:srcRect b="20633" l="0" r="0" t="0"/>
          <a:stretch/>
        </p:blipFill>
        <p:spPr>
          <a:xfrm>
            <a:off x="1381382" y="1314384"/>
            <a:ext cx="9303728" cy="4467852"/>
          </a:xfrm>
          <a:prstGeom prst="rect">
            <a:avLst/>
          </a:prstGeom>
          <a:noFill/>
          <a:ln>
            <a:noFill/>
          </a:ln>
        </p:spPr>
      </p:pic>
      <p:sp>
        <p:nvSpPr>
          <p:cNvPr id="801" name="Google Shape;801;p7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73"/>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p>
            <a:pPr indent="0" lvl="0" marL="0" rtl="0" algn="l">
              <a:lnSpc>
                <a:spcPct val="90000"/>
              </a:lnSpc>
              <a:spcBef>
                <a:spcPts val="0"/>
              </a:spcBef>
              <a:spcAft>
                <a:spcPts val="0"/>
              </a:spcAft>
              <a:buClr>
                <a:srgbClr val="000000"/>
              </a:buClr>
              <a:buSzPts val="6000"/>
              <a:buFont typeface="Play"/>
              <a:buNone/>
            </a:pPr>
            <a:r>
              <a:rPr lang="en-US"/>
              <a:t>CivicChats</a:t>
            </a:r>
            <a:endParaRPr/>
          </a:p>
        </p:txBody>
      </p:sp>
      <p:sp>
        <p:nvSpPr>
          <p:cNvPr id="807" name="Google Shape;807;p73"/>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757575"/>
              </a:buClr>
              <a:buSzPts val="2400"/>
              <a:buFont typeface="Arial"/>
              <a:buNone/>
            </a:pPr>
            <a:r>
              <a:t/>
            </a:r>
            <a:endParaRPr/>
          </a:p>
        </p:txBody>
      </p:sp>
      <p:sp>
        <p:nvSpPr>
          <p:cNvPr id="808" name="Google Shape;808;p7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7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Subjective understanding and decision confidence</a:t>
            </a:r>
            <a:endParaRPr/>
          </a:p>
        </p:txBody>
      </p:sp>
      <p:pic>
        <p:nvPicPr>
          <p:cNvPr id="814" name="Google Shape;814;p74"/>
          <p:cNvPicPr preferRelativeResize="0"/>
          <p:nvPr/>
        </p:nvPicPr>
        <p:blipFill rotWithShape="1">
          <a:blip r:embed="rId3">
            <a:alphaModFix/>
          </a:blip>
          <a:srcRect b="0" l="0" r="0" t="0"/>
          <a:stretch/>
        </p:blipFill>
        <p:spPr>
          <a:xfrm>
            <a:off x="838200" y="2180001"/>
            <a:ext cx="10230003" cy="4026065"/>
          </a:xfrm>
          <a:prstGeom prst="rect">
            <a:avLst/>
          </a:prstGeom>
          <a:noFill/>
          <a:ln>
            <a:noFill/>
          </a:ln>
        </p:spPr>
      </p:pic>
      <p:sp>
        <p:nvSpPr>
          <p:cNvPr id="815" name="Google Shape;815;p7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7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fontScale="90000"/>
          </a:bodyPr>
          <a:lstStyle/>
          <a:p>
            <a:pPr indent="0" lvl="0" marL="0" rtl="0" algn="l">
              <a:lnSpc>
                <a:spcPct val="90000"/>
              </a:lnSpc>
              <a:spcBef>
                <a:spcPts val="0"/>
              </a:spcBef>
              <a:spcAft>
                <a:spcPts val="0"/>
              </a:spcAft>
              <a:buClr>
                <a:srgbClr val="000000"/>
              </a:buClr>
              <a:buSzPct val="100000"/>
              <a:buFont typeface="Play"/>
              <a:buNone/>
            </a:pPr>
            <a:r>
              <a:rPr lang="en-US"/>
              <a:t>People argue </a:t>
            </a:r>
            <a:r>
              <a:rPr lang="en-US">
                <a:solidFill>
                  <a:srgbClr val="C00000"/>
                </a:solidFill>
              </a:rPr>
              <a:t>cons </a:t>
            </a:r>
            <a:r>
              <a:rPr b="1" i="1" lang="en-US">
                <a:solidFill>
                  <a:srgbClr val="C00000"/>
                </a:solidFill>
              </a:rPr>
              <a:t>during the chat</a:t>
            </a:r>
            <a:r>
              <a:rPr lang="en-US"/>
              <a:t> more under reflective in CO and under argumentative in FL</a:t>
            </a:r>
            <a:endParaRPr/>
          </a:p>
        </p:txBody>
      </p:sp>
      <p:pic>
        <p:nvPicPr>
          <p:cNvPr id="821" name="Google Shape;821;p75"/>
          <p:cNvPicPr preferRelativeResize="0"/>
          <p:nvPr/>
        </p:nvPicPr>
        <p:blipFill rotWithShape="1">
          <a:blip r:embed="rId3">
            <a:alphaModFix/>
          </a:blip>
          <a:srcRect b="17956" l="0" r="0" t="8692"/>
          <a:stretch/>
        </p:blipFill>
        <p:spPr>
          <a:xfrm>
            <a:off x="1906587" y="2455333"/>
            <a:ext cx="8056563" cy="3386667"/>
          </a:xfrm>
          <a:prstGeom prst="rect">
            <a:avLst/>
          </a:prstGeom>
          <a:noFill/>
          <a:ln>
            <a:noFill/>
          </a:ln>
        </p:spPr>
      </p:pic>
      <p:sp>
        <p:nvSpPr>
          <p:cNvPr id="822" name="Google Shape;822;p7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76"/>
          <p:cNvSpPr txBox="1"/>
          <p:nvPr>
            <p:ph type="title"/>
          </p:nvPr>
        </p:nvSpPr>
        <p:spPr>
          <a:xfrm>
            <a:off x="482600" y="382058"/>
            <a:ext cx="11353800" cy="1325563"/>
          </a:xfrm>
          <a:prstGeom prst="rect">
            <a:avLst/>
          </a:prstGeom>
          <a:noFill/>
          <a:ln>
            <a:noFill/>
          </a:ln>
        </p:spPr>
        <p:txBody>
          <a:bodyPr anchorCtr="0" anchor="ctr" bIns="45700" lIns="45700" spcFirstLastPara="1" rIns="45700" wrap="square" tIns="45700">
            <a:normAutofit fontScale="90000"/>
          </a:bodyPr>
          <a:lstStyle/>
          <a:p>
            <a:pPr indent="0" lvl="0" marL="0" rtl="0" algn="l">
              <a:lnSpc>
                <a:spcPct val="90000"/>
              </a:lnSpc>
              <a:spcBef>
                <a:spcPts val="0"/>
              </a:spcBef>
              <a:spcAft>
                <a:spcPts val="0"/>
              </a:spcAft>
              <a:buClr>
                <a:srgbClr val="000000"/>
              </a:buClr>
              <a:buSzPct val="100000"/>
              <a:buFont typeface="Play"/>
              <a:buNone/>
            </a:pPr>
            <a:r>
              <a:rPr lang="en-US"/>
              <a:t>Additional user arguments (pro/con) </a:t>
            </a:r>
            <a:r>
              <a:rPr i="1" lang="en-US"/>
              <a:t>during chat</a:t>
            </a:r>
            <a:r>
              <a:rPr lang="en-US"/>
              <a:t> move the vote about the same regardless of condition</a:t>
            </a:r>
            <a:endParaRPr/>
          </a:p>
        </p:txBody>
      </p:sp>
      <p:pic>
        <p:nvPicPr>
          <p:cNvPr id="828" name="Google Shape;828;p76"/>
          <p:cNvPicPr preferRelativeResize="0"/>
          <p:nvPr/>
        </p:nvPicPr>
        <p:blipFill rotWithShape="1">
          <a:blip r:embed="rId3">
            <a:alphaModFix/>
          </a:blip>
          <a:srcRect b="0" l="0" r="0" t="0"/>
          <a:stretch/>
        </p:blipFill>
        <p:spPr>
          <a:xfrm>
            <a:off x="1515534" y="2506133"/>
            <a:ext cx="8387746" cy="3217217"/>
          </a:xfrm>
          <a:prstGeom prst="rect">
            <a:avLst/>
          </a:prstGeom>
          <a:noFill/>
          <a:ln>
            <a:noFill/>
          </a:ln>
        </p:spPr>
      </p:pic>
      <p:sp>
        <p:nvSpPr>
          <p:cNvPr id="829" name="Google Shape;829;p7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77"/>
          <p:cNvSpPr txBox="1"/>
          <p:nvPr>
            <p:ph type="title"/>
          </p:nvPr>
        </p:nvSpPr>
        <p:spPr>
          <a:xfrm>
            <a:off x="838200" y="475192"/>
            <a:ext cx="10515600" cy="1325563"/>
          </a:xfrm>
          <a:prstGeom prst="rect">
            <a:avLst/>
          </a:prstGeom>
          <a:noFill/>
          <a:ln>
            <a:noFill/>
          </a:ln>
        </p:spPr>
        <p:txBody>
          <a:bodyPr anchorCtr="0" anchor="ctr" bIns="45700" lIns="45700" spcFirstLastPara="1" rIns="45700" wrap="square" tIns="45700">
            <a:normAutofit fontScale="90000"/>
          </a:bodyPr>
          <a:lstStyle/>
          <a:p>
            <a:pPr indent="0" lvl="0" marL="0" rtl="0" algn="l">
              <a:lnSpc>
                <a:spcPct val="90000"/>
              </a:lnSpc>
              <a:spcBef>
                <a:spcPts val="0"/>
              </a:spcBef>
              <a:spcAft>
                <a:spcPts val="0"/>
              </a:spcAft>
              <a:buClr>
                <a:srgbClr val="000000"/>
              </a:buClr>
              <a:buSzPct val="100000"/>
              <a:buFont typeface="Play"/>
              <a:buNone/>
            </a:pPr>
            <a:r>
              <a:rPr lang="en-US"/>
              <a:t>Additional user arguments (pro/con) </a:t>
            </a:r>
            <a:r>
              <a:rPr i="1" lang="en-US"/>
              <a:t>in their explanations </a:t>
            </a:r>
            <a:r>
              <a:rPr lang="en-US"/>
              <a:t>move the vote about the same regardless of condition</a:t>
            </a:r>
            <a:endParaRPr/>
          </a:p>
        </p:txBody>
      </p:sp>
      <p:pic>
        <p:nvPicPr>
          <p:cNvPr id="835" name="Google Shape;835;p77"/>
          <p:cNvPicPr preferRelativeResize="0"/>
          <p:nvPr/>
        </p:nvPicPr>
        <p:blipFill rotWithShape="1">
          <a:blip r:embed="rId3">
            <a:alphaModFix/>
          </a:blip>
          <a:srcRect b="14495" l="0" r="0" t="5189"/>
          <a:stretch/>
        </p:blipFill>
        <p:spPr>
          <a:xfrm>
            <a:off x="1170516" y="2336801"/>
            <a:ext cx="9305583" cy="3699932"/>
          </a:xfrm>
          <a:prstGeom prst="rect">
            <a:avLst/>
          </a:prstGeom>
          <a:noFill/>
          <a:ln>
            <a:noFill/>
          </a:ln>
        </p:spPr>
      </p:pic>
      <p:sp>
        <p:nvSpPr>
          <p:cNvPr id="836" name="Google Shape;836;p7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7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t/>
            </a:r>
            <a:endParaRPr/>
          </a:p>
        </p:txBody>
      </p:sp>
      <p:pic>
        <p:nvPicPr>
          <p:cNvPr id="842" name="Google Shape;842;p78"/>
          <p:cNvPicPr preferRelativeResize="0"/>
          <p:nvPr/>
        </p:nvPicPr>
        <p:blipFill rotWithShape="1">
          <a:blip r:embed="rId3">
            <a:alphaModFix/>
          </a:blip>
          <a:srcRect b="15370" l="0" r="0" t="5046"/>
          <a:stretch/>
        </p:blipFill>
        <p:spPr>
          <a:xfrm>
            <a:off x="1253066" y="2302933"/>
            <a:ext cx="9179833" cy="3699933"/>
          </a:xfrm>
          <a:prstGeom prst="rect">
            <a:avLst/>
          </a:prstGeom>
          <a:noFill/>
          <a:ln>
            <a:noFill/>
          </a:ln>
        </p:spPr>
      </p:pic>
      <p:sp>
        <p:nvSpPr>
          <p:cNvPr id="843" name="Google Shape;843;p7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7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Tradeoffs</a:t>
            </a:r>
            <a:endParaRPr/>
          </a:p>
        </p:txBody>
      </p:sp>
      <p:sp>
        <p:nvSpPr>
          <p:cNvPr id="849" name="Google Shape;849;p7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id="850" name="Google Shape;850;p79"/>
          <p:cNvPicPr preferRelativeResize="0"/>
          <p:nvPr/>
        </p:nvPicPr>
        <p:blipFill rotWithShape="1">
          <a:blip r:embed="rId3">
            <a:alphaModFix/>
          </a:blip>
          <a:srcRect b="13004" l="0" r="0" t="0"/>
          <a:stretch/>
        </p:blipFill>
        <p:spPr>
          <a:xfrm>
            <a:off x="2526486" y="2353428"/>
            <a:ext cx="6419336" cy="3643669"/>
          </a:xfrm>
          <a:prstGeom prst="rect">
            <a:avLst/>
          </a:prstGeom>
          <a:noFill/>
          <a:ln>
            <a:noFill/>
          </a:ln>
        </p:spPr>
      </p:pic>
      <p:grpSp>
        <p:nvGrpSpPr>
          <p:cNvPr id="851" name="Google Shape;851;p79"/>
          <p:cNvGrpSpPr/>
          <p:nvPr/>
        </p:nvGrpSpPr>
        <p:grpSpPr>
          <a:xfrm>
            <a:off x="4415578" y="20953"/>
            <a:ext cx="6801394" cy="2419561"/>
            <a:chOff x="257862" y="2850621"/>
            <a:chExt cx="5419277" cy="1927880"/>
          </a:xfrm>
        </p:grpSpPr>
        <p:pic>
          <p:nvPicPr>
            <p:cNvPr id="852" name="Google Shape;852;p79"/>
            <p:cNvPicPr preferRelativeResize="0"/>
            <p:nvPr/>
          </p:nvPicPr>
          <p:blipFill rotWithShape="1">
            <a:blip r:embed="rId4">
              <a:alphaModFix/>
            </a:blip>
            <a:srcRect b="85620" l="0" r="0" t="0"/>
            <a:stretch/>
          </p:blipFill>
          <p:spPr>
            <a:xfrm>
              <a:off x="315384" y="2850621"/>
              <a:ext cx="5361755" cy="477041"/>
            </a:xfrm>
            <a:prstGeom prst="rect">
              <a:avLst/>
            </a:prstGeom>
            <a:noFill/>
            <a:ln>
              <a:noFill/>
            </a:ln>
          </p:spPr>
        </p:pic>
        <p:pic>
          <p:nvPicPr>
            <p:cNvPr id="853" name="Google Shape;853;p79"/>
            <p:cNvPicPr preferRelativeResize="0"/>
            <p:nvPr/>
          </p:nvPicPr>
          <p:blipFill rotWithShape="1">
            <a:blip r:embed="rId5">
              <a:alphaModFix/>
            </a:blip>
            <a:srcRect b="0" l="0" r="0" t="57118"/>
            <a:stretch/>
          </p:blipFill>
          <p:spPr>
            <a:xfrm>
              <a:off x="257862" y="3355943"/>
              <a:ext cx="5361755" cy="1422558"/>
            </a:xfrm>
            <a:prstGeom prst="rect">
              <a:avLst/>
            </a:prstGeom>
            <a:noFill/>
            <a:ln>
              <a:noFill/>
            </a:ln>
          </p:spPr>
        </p:pic>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80"/>
          <p:cNvSpPr txBox="1"/>
          <p:nvPr>
            <p:ph type="title"/>
          </p:nvPr>
        </p:nvSpPr>
        <p:spPr>
          <a:xfrm>
            <a:off x="831850" y="1709738"/>
            <a:ext cx="10515600" cy="2852738"/>
          </a:xfrm>
          <a:prstGeom prst="rect">
            <a:avLst/>
          </a:prstGeom>
          <a:noFill/>
          <a:ln>
            <a:noFill/>
          </a:ln>
        </p:spPr>
        <p:txBody>
          <a:bodyPr anchorCtr="0" anchor="b" bIns="45700" lIns="45700" spcFirstLastPara="1" rIns="45700" wrap="square" tIns="45700">
            <a:normAutofit/>
          </a:bodyPr>
          <a:lstStyle/>
          <a:p>
            <a:pPr indent="0" lvl="0" marL="0" rtl="0" algn="l">
              <a:lnSpc>
                <a:spcPct val="90000"/>
              </a:lnSpc>
              <a:spcBef>
                <a:spcPts val="0"/>
              </a:spcBef>
              <a:spcAft>
                <a:spcPts val="0"/>
              </a:spcAft>
              <a:buClr>
                <a:srgbClr val="000000"/>
              </a:buClr>
              <a:buSzPts val="6000"/>
              <a:buFont typeface="Play"/>
              <a:buNone/>
            </a:pPr>
            <a:r>
              <a:rPr lang="en-US"/>
              <a:t>Appendix OLD</a:t>
            </a:r>
            <a:endParaRPr/>
          </a:p>
        </p:txBody>
      </p:sp>
      <p:sp>
        <p:nvSpPr>
          <p:cNvPr id="859" name="Google Shape;859;p80"/>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757575"/>
              </a:buClr>
              <a:buSzPts val="2400"/>
              <a:buFont typeface="Arial"/>
              <a:buNone/>
            </a:pPr>
            <a:r>
              <a:t/>
            </a:r>
            <a:endParaRPr/>
          </a:p>
        </p:txBody>
      </p:sp>
      <p:sp>
        <p:nvSpPr>
          <p:cNvPr id="860" name="Google Shape;860;p8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4" name="Shape 864"/>
        <p:cNvGrpSpPr/>
        <p:nvPr/>
      </p:nvGrpSpPr>
      <p:grpSpPr>
        <a:xfrm>
          <a:off x="0" y="0"/>
          <a:ext cx="0" cy="0"/>
          <a:chOff x="0" y="0"/>
          <a:chExt cx="0" cy="0"/>
        </a:xfrm>
      </p:grpSpPr>
      <p:sp>
        <p:nvSpPr>
          <p:cNvPr id="865" name="Google Shape;865;p81"/>
          <p:cNvSpPr txBox="1"/>
          <p:nvPr>
            <p:ph idx="1" type="body"/>
          </p:nvPr>
        </p:nvSpPr>
        <p:spPr>
          <a:xfrm>
            <a:off x="838200" y="1869897"/>
            <a:ext cx="10515600" cy="4307066"/>
          </a:xfrm>
          <a:prstGeom prst="rect">
            <a:avLst/>
          </a:prstGeom>
          <a:noFill/>
          <a:ln>
            <a:noFill/>
          </a:ln>
        </p:spPr>
        <p:txBody>
          <a:bodyPr anchorCtr="0" anchor="t" bIns="45700" lIns="45700" spcFirstLastPara="1" rIns="45700" wrap="square" tIns="45700">
            <a:normAutofit/>
          </a:bodyPr>
          <a:lstStyle/>
          <a:p>
            <a:pPr indent="0" lvl="0" marL="0" rtl="0" algn="l">
              <a:lnSpc>
                <a:spcPct val="110000"/>
              </a:lnSpc>
              <a:spcBef>
                <a:spcPts val="0"/>
              </a:spcBef>
              <a:spcAft>
                <a:spcPts val="0"/>
              </a:spcAft>
              <a:buClr>
                <a:srgbClr val="000000"/>
              </a:buClr>
              <a:buSzPts val="4000"/>
              <a:buNone/>
            </a:pPr>
            <a:r>
              <a:rPr b="1" lang="en-US" sz="4000" u="sng"/>
              <a:t>My research</a:t>
            </a:r>
            <a:endParaRPr/>
          </a:p>
          <a:p>
            <a:pPr indent="0" lvl="0" marL="0" rtl="0" algn="l">
              <a:lnSpc>
                <a:spcPct val="110000"/>
              </a:lnSpc>
              <a:spcBef>
                <a:spcPts val="1000"/>
              </a:spcBef>
              <a:spcAft>
                <a:spcPts val="0"/>
              </a:spcAft>
              <a:buClr>
                <a:srgbClr val="000000"/>
              </a:buClr>
              <a:buSzPts val="4000"/>
              <a:buNone/>
            </a:pPr>
            <a:r>
              <a:rPr lang="en-US" sz="4000"/>
              <a:t>Combining machine learning approaches and social science to ”solve” important problems</a:t>
            </a:r>
            <a:endParaRPr/>
          </a:p>
        </p:txBody>
      </p:sp>
      <p:sp>
        <p:nvSpPr>
          <p:cNvPr id="866" name="Google Shape;866;p8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0" name="Shape 870"/>
        <p:cNvGrpSpPr/>
        <p:nvPr/>
      </p:nvGrpSpPr>
      <p:grpSpPr>
        <a:xfrm>
          <a:off x="0" y="0"/>
          <a:ext cx="0" cy="0"/>
          <a:chOff x="0" y="0"/>
          <a:chExt cx="0" cy="0"/>
        </a:xfrm>
      </p:grpSpPr>
      <p:sp>
        <p:nvSpPr>
          <p:cNvPr id="871" name="Google Shape;871;p82"/>
          <p:cNvSpPr txBox="1"/>
          <p:nvPr>
            <p:ph idx="1" type="body"/>
          </p:nvPr>
        </p:nvSpPr>
        <p:spPr>
          <a:xfrm>
            <a:off x="838200" y="1202077"/>
            <a:ext cx="10515600" cy="4307066"/>
          </a:xfrm>
          <a:prstGeom prst="rect">
            <a:avLst/>
          </a:prstGeom>
          <a:noFill/>
          <a:ln>
            <a:noFill/>
          </a:ln>
        </p:spPr>
        <p:txBody>
          <a:bodyPr anchorCtr="0" anchor="t" bIns="45700" lIns="45700" spcFirstLastPara="1" rIns="45700" wrap="square" tIns="45700">
            <a:noAutofit/>
          </a:bodyPr>
          <a:lstStyle/>
          <a:p>
            <a:pPr indent="0" lvl="0" marL="0" rtl="0" algn="l">
              <a:lnSpc>
                <a:spcPct val="110000"/>
              </a:lnSpc>
              <a:spcBef>
                <a:spcPts val="0"/>
              </a:spcBef>
              <a:spcAft>
                <a:spcPts val="0"/>
              </a:spcAft>
              <a:buClr>
                <a:srgbClr val="000000"/>
              </a:buClr>
              <a:buSzPts val="3200"/>
              <a:buNone/>
            </a:pPr>
            <a:r>
              <a:rPr b="1" lang="en-US" sz="3200" u="sng"/>
              <a:t>My research methodology</a:t>
            </a:r>
            <a:endParaRPr b="1" sz="3200"/>
          </a:p>
          <a:p>
            <a:pPr indent="-514350" lvl="0" marL="514350" rtl="0" algn="l">
              <a:lnSpc>
                <a:spcPct val="110000"/>
              </a:lnSpc>
              <a:spcBef>
                <a:spcPts val="1000"/>
              </a:spcBef>
              <a:spcAft>
                <a:spcPts val="0"/>
              </a:spcAft>
              <a:buClr>
                <a:srgbClr val="000000"/>
              </a:buClr>
              <a:buSzPts val="3200"/>
              <a:buFont typeface="Arial"/>
              <a:buAutoNum type="arabicPeriod"/>
            </a:pPr>
            <a:r>
              <a:rPr lang="en-US" sz="3200"/>
              <a:t>Identify an important problem that resists the usual simplifications. </a:t>
            </a:r>
            <a:endParaRPr/>
          </a:p>
          <a:p>
            <a:pPr indent="-514350" lvl="0" marL="514350" rtl="0" algn="l">
              <a:lnSpc>
                <a:spcPct val="110000"/>
              </a:lnSpc>
              <a:spcBef>
                <a:spcPts val="1000"/>
              </a:spcBef>
              <a:spcAft>
                <a:spcPts val="0"/>
              </a:spcAft>
              <a:buClr>
                <a:srgbClr val="000000"/>
              </a:buClr>
              <a:buSzPts val="3200"/>
              <a:buFont typeface="Arial"/>
              <a:buAutoNum type="arabicPeriod"/>
            </a:pPr>
            <a:r>
              <a:rPr lang="en-US" sz="3200"/>
              <a:t>Reformulate concepts from the relevant domain into something measurable, and develop methods to address the problem, without flattening what made the concepts useful. </a:t>
            </a:r>
            <a:endParaRPr/>
          </a:p>
          <a:p>
            <a:pPr indent="-514350" lvl="0" marL="514350" rtl="0" algn="l">
              <a:lnSpc>
                <a:spcPct val="110000"/>
              </a:lnSpc>
              <a:spcBef>
                <a:spcPts val="1000"/>
              </a:spcBef>
              <a:spcAft>
                <a:spcPts val="0"/>
              </a:spcAft>
              <a:buClr>
                <a:srgbClr val="000000"/>
              </a:buClr>
              <a:buSzPts val="3200"/>
              <a:buFont typeface="Arial"/>
              <a:buAutoNum type="arabicPeriod"/>
            </a:pPr>
            <a:r>
              <a:rPr lang="en-US" sz="3200"/>
              <a:t>Show that the methods produce results that matter for the problem.</a:t>
            </a:r>
            <a:endParaRPr/>
          </a:p>
        </p:txBody>
      </p:sp>
      <p:sp>
        <p:nvSpPr>
          <p:cNvPr id="872" name="Google Shape;872;p8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8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Chatbots enable a new mode of interaction </a:t>
            </a:r>
            <a:endParaRPr/>
          </a:p>
        </p:txBody>
      </p:sp>
      <p:sp>
        <p:nvSpPr>
          <p:cNvPr id="878" name="Google Shape;878;p83"/>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50800" lvl="0" marL="228600" rtl="0" algn="l">
              <a:lnSpc>
                <a:spcPct val="90000"/>
              </a:lnSpc>
              <a:spcBef>
                <a:spcPts val="0"/>
              </a:spcBef>
              <a:spcAft>
                <a:spcPts val="0"/>
              </a:spcAft>
              <a:buClr>
                <a:srgbClr val="000000"/>
              </a:buClr>
              <a:buSzPts val="2800"/>
              <a:buNone/>
            </a:pPr>
            <a:r>
              <a:t/>
            </a:r>
            <a:endParaRPr/>
          </a:p>
        </p:txBody>
      </p:sp>
      <p:sp>
        <p:nvSpPr>
          <p:cNvPr id="879" name="Google Shape;879;p8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8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885" name="Google Shape;885;p84"/>
          <p:cNvSpPr txBox="1"/>
          <p:nvPr>
            <p:ph type="title"/>
          </p:nvPr>
        </p:nvSpPr>
        <p:spPr>
          <a:xfrm>
            <a:off x="838200" y="365125"/>
            <a:ext cx="1060973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Inflation narratives vary across local newspapers</a:t>
            </a:r>
            <a:endParaRPr/>
          </a:p>
        </p:txBody>
      </p:sp>
      <p:pic>
        <p:nvPicPr>
          <p:cNvPr id="886" name="Google Shape;886;p84"/>
          <p:cNvPicPr preferRelativeResize="0"/>
          <p:nvPr/>
        </p:nvPicPr>
        <p:blipFill rotWithShape="1">
          <a:blip r:embed="rId3">
            <a:alphaModFix/>
          </a:blip>
          <a:srcRect b="0" l="0" r="0" t="0"/>
          <a:stretch/>
        </p:blipFill>
        <p:spPr>
          <a:xfrm>
            <a:off x="1003301" y="2061882"/>
            <a:ext cx="9108000" cy="3822988"/>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8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Economic narratives are a mechanism for behavior change</a:t>
            </a:r>
            <a:endParaRPr/>
          </a:p>
        </p:txBody>
      </p:sp>
      <p:sp>
        <p:nvSpPr>
          <p:cNvPr id="892" name="Google Shape;892;p85"/>
          <p:cNvSpPr txBox="1"/>
          <p:nvPr>
            <p:ph idx="12" type="sldNum"/>
          </p:nvPr>
        </p:nvSpPr>
        <p:spPr>
          <a:xfrm>
            <a:off x="11164902" y="6404292"/>
            <a:ext cx="188898"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893" name="Google Shape;893;p85"/>
          <p:cNvSpPr txBox="1"/>
          <p:nvPr/>
        </p:nvSpPr>
        <p:spPr>
          <a:xfrm>
            <a:off x="883919" y="4343112"/>
            <a:ext cx="10424161" cy="2378363"/>
          </a:xfrm>
          <a:prstGeom prst="rect">
            <a:avLst/>
          </a:prstGeom>
          <a:noFill/>
          <a:ln>
            <a:noFill/>
          </a:ln>
        </p:spPr>
        <p:txBody>
          <a:bodyPr anchorCtr="0" anchor="t" bIns="45700" lIns="45700" spcFirstLastPara="1" rIns="45700" wrap="square" tIns="45700">
            <a:normAutofit/>
          </a:bodyPr>
          <a:lstStyle/>
          <a:p>
            <a:pPr indent="0" lvl="0" marL="0" marR="0" rtl="0" algn="l">
              <a:lnSpc>
                <a:spcPct val="135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If we fail to consider and understand the properties of narratives, “we remain blind to a very real, very palpable, very important </a:t>
            </a:r>
            <a:r>
              <a:rPr b="1" i="0" lang="en-US" sz="2500" u="none" cap="none" strike="noStrike">
                <a:solidFill>
                  <a:srgbClr val="000000"/>
                </a:solidFill>
                <a:latin typeface="Arial"/>
                <a:ea typeface="Arial"/>
                <a:cs typeface="Arial"/>
                <a:sym typeface="Arial"/>
              </a:rPr>
              <a:t>mechanism for economic change</a:t>
            </a:r>
            <a:r>
              <a:rPr b="0" i="0" lang="en-US" sz="2500" u="none" cap="none" strike="noStrike">
                <a:solidFill>
                  <a:srgbClr val="000000"/>
                </a:solidFill>
                <a:latin typeface="Arial"/>
                <a:ea typeface="Arial"/>
                <a:cs typeface="Arial"/>
                <a:sym typeface="Arial"/>
              </a:rPr>
              <a:t>, as well as a </a:t>
            </a:r>
            <a:r>
              <a:rPr b="1" i="0" lang="en-US" sz="2500" u="none" cap="none" strike="noStrike">
                <a:solidFill>
                  <a:srgbClr val="000000"/>
                </a:solidFill>
                <a:latin typeface="Arial"/>
                <a:ea typeface="Arial"/>
                <a:cs typeface="Arial"/>
                <a:sym typeface="Arial"/>
              </a:rPr>
              <a:t>crucial element for economic forecasting.</a:t>
            </a:r>
            <a:r>
              <a:rPr b="0" i="0" lang="en-US" sz="2500" u="none" cap="none" strike="noStrike">
                <a:solidFill>
                  <a:srgbClr val="000000"/>
                </a:solidFill>
                <a:latin typeface="Arial"/>
                <a:ea typeface="Arial"/>
                <a:cs typeface="Arial"/>
                <a:sym typeface="Arial"/>
              </a:rPr>
              <a:t>” [Shiller, 2017]</a:t>
            </a:r>
            <a:endParaRPr/>
          </a:p>
        </p:txBody>
      </p:sp>
      <p:pic>
        <p:nvPicPr>
          <p:cNvPr descr="Easy How to Draw a House Tutorial and House Coloring Page" id="894" name="Google Shape;894;p85"/>
          <p:cNvPicPr preferRelativeResize="0"/>
          <p:nvPr/>
        </p:nvPicPr>
        <p:blipFill rotWithShape="1">
          <a:blip r:embed="rId3">
            <a:alphaModFix/>
          </a:blip>
          <a:srcRect b="0" l="0" r="0" t="0"/>
          <a:stretch/>
        </p:blipFill>
        <p:spPr>
          <a:xfrm>
            <a:off x="1226460" y="1919536"/>
            <a:ext cx="2735374" cy="2110797"/>
          </a:xfrm>
          <a:prstGeom prst="rect">
            <a:avLst/>
          </a:prstGeom>
          <a:noFill/>
          <a:ln>
            <a:noFill/>
          </a:ln>
        </p:spPr>
      </p:pic>
      <p:pic>
        <p:nvPicPr>
          <p:cNvPr descr="Stock Market Buy Sell Text Drawing Drawing by Frank Ramspott - Pixels" id="895" name="Google Shape;895;p85"/>
          <p:cNvPicPr preferRelativeResize="0"/>
          <p:nvPr/>
        </p:nvPicPr>
        <p:blipFill rotWithShape="1">
          <a:blip r:embed="rId4">
            <a:alphaModFix/>
          </a:blip>
          <a:srcRect b="0" l="0" r="0" t="0"/>
          <a:stretch/>
        </p:blipFill>
        <p:spPr>
          <a:xfrm>
            <a:off x="4579338" y="1830496"/>
            <a:ext cx="3428060" cy="2110796"/>
          </a:xfrm>
          <a:prstGeom prst="rect">
            <a:avLst/>
          </a:prstGeom>
          <a:noFill/>
          <a:ln>
            <a:noFill/>
          </a:ln>
        </p:spPr>
      </p:pic>
      <p:pic>
        <p:nvPicPr>
          <p:cNvPr descr="Hand Drawn College Building Stock Illustrations – 391 Hand Drawn College  Building Stock Illustrations, Vectors &amp; Clipart - Dreamstime" id="896" name="Google Shape;896;p85"/>
          <p:cNvPicPr preferRelativeResize="0"/>
          <p:nvPr/>
        </p:nvPicPr>
        <p:blipFill rotWithShape="1">
          <a:blip r:embed="rId5">
            <a:alphaModFix/>
          </a:blip>
          <a:srcRect b="0" l="0" r="0" t="0"/>
          <a:stretch/>
        </p:blipFill>
        <p:spPr>
          <a:xfrm>
            <a:off x="8624902" y="1385366"/>
            <a:ext cx="2728898" cy="27288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86"/>
          <p:cNvSpPr txBox="1"/>
          <p:nvPr>
            <p:ph type="title"/>
          </p:nvPr>
        </p:nvSpPr>
        <p:spPr>
          <a:xfrm>
            <a:off x="838200" y="365125"/>
            <a:ext cx="11021711"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But human experts most often preferred GPT-4, not the fine-tuned LLM</a:t>
            </a:r>
            <a:endParaRPr/>
          </a:p>
        </p:txBody>
      </p:sp>
      <p:pic>
        <p:nvPicPr>
          <p:cNvPr descr="Picture 8" id="902" name="Google Shape;902;p86"/>
          <p:cNvPicPr preferRelativeResize="0"/>
          <p:nvPr/>
        </p:nvPicPr>
        <p:blipFill rotWithShape="1">
          <a:blip r:embed="rId3">
            <a:alphaModFix/>
          </a:blip>
          <a:srcRect b="0" l="0" r="0" t="0"/>
          <a:stretch/>
        </p:blipFill>
        <p:spPr>
          <a:xfrm>
            <a:off x="779609" y="1958122"/>
            <a:ext cx="10574191" cy="2173971"/>
          </a:xfrm>
          <a:prstGeom prst="rect">
            <a:avLst/>
          </a:prstGeom>
          <a:noFill/>
          <a:ln>
            <a:noFill/>
          </a:ln>
        </p:spPr>
      </p:pic>
      <p:sp>
        <p:nvSpPr>
          <p:cNvPr id="903" name="Google Shape;903;p8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904" name="Google Shape;904;p86"/>
          <p:cNvSpPr txBox="1"/>
          <p:nvPr/>
        </p:nvSpPr>
        <p:spPr>
          <a:xfrm>
            <a:off x="4248068" y="4138581"/>
            <a:ext cx="2314537"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Rank (lower is better)</a:t>
            </a:r>
            <a:endParaRPr/>
          </a:p>
        </p:txBody>
      </p:sp>
      <p:sp>
        <p:nvSpPr>
          <p:cNvPr id="905" name="Google Shape;905;p86"/>
          <p:cNvSpPr txBox="1"/>
          <p:nvPr/>
        </p:nvSpPr>
        <p:spPr>
          <a:xfrm>
            <a:off x="9763651" y="4119757"/>
            <a:ext cx="1383922"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of errors</a:t>
            </a:r>
            <a:endParaRPr/>
          </a:p>
        </p:txBody>
      </p:sp>
      <p:sp>
        <p:nvSpPr>
          <p:cNvPr id="906" name="Google Shape;906;p86"/>
          <p:cNvSpPr/>
          <p:nvPr/>
        </p:nvSpPr>
        <p:spPr>
          <a:xfrm>
            <a:off x="1003853" y="2530637"/>
            <a:ext cx="8388316" cy="382261"/>
          </a:xfrm>
          <a:prstGeom prst="rect">
            <a:avLst/>
          </a:prstGeom>
          <a:noFill/>
          <a:ln cap="flat" cmpd="sng" w="28575">
            <a:solidFill>
              <a:srgbClr val="FF26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7" name="Google Shape;907;p86"/>
          <p:cNvSpPr txBox="1"/>
          <p:nvPr/>
        </p:nvSpPr>
        <p:spPr>
          <a:xfrm>
            <a:off x="530863" y="2491897"/>
            <a:ext cx="396241"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
            </a:r>
            <a:endParaRPr/>
          </a:p>
        </p:txBody>
      </p:sp>
      <p:sp>
        <p:nvSpPr>
          <p:cNvPr id="908" name="Google Shape;908;p86"/>
          <p:cNvSpPr/>
          <p:nvPr/>
        </p:nvSpPr>
        <p:spPr>
          <a:xfrm>
            <a:off x="1883955" y="2964592"/>
            <a:ext cx="7368237" cy="869755"/>
          </a:xfrm>
          <a:prstGeom prst="rect">
            <a:avLst/>
          </a:prstGeom>
          <a:solidFill>
            <a:srgbClr val="FFFFFF">
              <a:alpha val="74118"/>
            </a:srgbClr>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9" name="Google Shape;909;p86"/>
          <p:cNvSpPr/>
          <p:nvPr/>
        </p:nvSpPr>
        <p:spPr>
          <a:xfrm>
            <a:off x="1883955" y="2209703"/>
            <a:ext cx="7368237" cy="269241"/>
          </a:xfrm>
          <a:prstGeom prst="rect">
            <a:avLst/>
          </a:prstGeom>
          <a:solidFill>
            <a:srgbClr val="FFFFFF">
              <a:alpha val="74118"/>
            </a:srgbClr>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0" name="Google Shape;910;p86"/>
          <p:cNvSpPr txBox="1"/>
          <p:nvPr>
            <p:ph idx="1" type="body"/>
          </p:nvPr>
        </p:nvSpPr>
        <p:spPr>
          <a:xfrm>
            <a:off x="838200" y="4813656"/>
            <a:ext cx="10515600" cy="1751006"/>
          </a:xfrm>
          <a:prstGeom prst="rect">
            <a:avLst/>
          </a:prstGeom>
          <a:noFill/>
          <a:ln>
            <a:noFill/>
          </a:ln>
        </p:spPr>
        <p:txBody>
          <a:bodyPr anchorCtr="0" anchor="t" bIns="45700" lIns="45700" spcFirstLastPara="1" rIns="45700" wrap="square" tIns="45700">
            <a:normAutofit/>
          </a:bodyPr>
          <a:lstStyle/>
          <a:p>
            <a:pPr indent="-228600" lvl="0" marL="228600" rtl="0" algn="l">
              <a:lnSpc>
                <a:spcPct val="110000"/>
              </a:lnSpc>
              <a:spcBef>
                <a:spcPts val="0"/>
              </a:spcBef>
              <a:spcAft>
                <a:spcPts val="0"/>
              </a:spcAft>
              <a:buClr>
                <a:srgbClr val="000000"/>
              </a:buClr>
              <a:buSzPts val="2600"/>
              <a:buChar char="•"/>
            </a:pPr>
            <a:r>
              <a:rPr i="1" lang="en-US"/>
              <a:t>Sensitivity</a:t>
            </a:r>
            <a:r>
              <a:rPr lang="en-US" sz="2600"/>
              <a:t>: did the summary contain all relevant information from the opinion</a:t>
            </a:r>
            <a:endParaRPr/>
          </a:p>
          <a:p>
            <a:pPr indent="-228600" lvl="0" marL="228600" rtl="0" algn="l">
              <a:lnSpc>
                <a:spcPct val="110000"/>
              </a:lnSpc>
              <a:spcBef>
                <a:spcPts val="1000"/>
              </a:spcBef>
              <a:spcAft>
                <a:spcPts val="0"/>
              </a:spcAft>
              <a:buClr>
                <a:srgbClr val="000000"/>
              </a:buClr>
              <a:buSzPts val="2600"/>
              <a:buChar char="•"/>
            </a:pPr>
            <a:r>
              <a:rPr i="1" lang="en-US"/>
              <a:t>Specificity</a:t>
            </a:r>
            <a:r>
              <a:rPr lang="en-US" sz="2600"/>
              <a:t>: did it exclude irrelevant information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87"/>
          <p:cNvSpPr txBox="1"/>
          <p:nvPr>
            <p:ph type="title"/>
          </p:nvPr>
        </p:nvSpPr>
        <p:spPr>
          <a:xfrm>
            <a:off x="838199" y="365125"/>
            <a:ext cx="10605249"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As LLMs improve, “hallucinations” become more subtle and matters of judgement.</a:t>
            </a:r>
            <a:endParaRPr/>
          </a:p>
        </p:txBody>
      </p:sp>
      <p:sp>
        <p:nvSpPr>
          <p:cNvPr id="916" name="Google Shape;916;p8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descr="Content Placeholder 4" id="917" name="Google Shape;917;p87"/>
          <p:cNvPicPr preferRelativeResize="0"/>
          <p:nvPr/>
        </p:nvPicPr>
        <p:blipFill rotWithShape="1">
          <a:blip r:embed="rId3">
            <a:alphaModFix/>
          </a:blip>
          <a:srcRect b="0" l="0" r="0" t="78059"/>
          <a:stretch/>
        </p:blipFill>
        <p:spPr>
          <a:xfrm>
            <a:off x="1705036" y="4312685"/>
            <a:ext cx="8120574" cy="1121027"/>
          </a:xfrm>
          <a:prstGeom prst="rect">
            <a:avLst/>
          </a:prstGeom>
          <a:noFill/>
          <a:ln>
            <a:noFill/>
          </a:ln>
        </p:spPr>
      </p:pic>
      <p:grpSp>
        <p:nvGrpSpPr>
          <p:cNvPr id="918" name="Google Shape;918;p87"/>
          <p:cNvGrpSpPr/>
          <p:nvPr/>
        </p:nvGrpSpPr>
        <p:grpSpPr>
          <a:xfrm>
            <a:off x="1704985" y="2553605"/>
            <a:ext cx="8120794" cy="1728564"/>
            <a:chOff x="0" y="0"/>
            <a:chExt cx="8120792" cy="1728563"/>
          </a:xfrm>
        </p:grpSpPr>
        <p:pic>
          <p:nvPicPr>
            <p:cNvPr descr="Content Placeholder 4" id="919" name="Google Shape;919;p87"/>
            <p:cNvPicPr preferRelativeResize="0"/>
            <p:nvPr/>
          </p:nvPicPr>
          <p:blipFill rotWithShape="1">
            <a:blip r:embed="rId3">
              <a:alphaModFix/>
            </a:blip>
            <a:srcRect b="33724" l="0" r="0" t="46382"/>
            <a:stretch/>
          </p:blipFill>
          <p:spPr>
            <a:xfrm>
              <a:off x="0" y="712113"/>
              <a:ext cx="8120792" cy="1016450"/>
            </a:xfrm>
            <a:prstGeom prst="rect">
              <a:avLst/>
            </a:prstGeom>
            <a:noFill/>
            <a:ln>
              <a:noFill/>
            </a:ln>
          </p:spPr>
        </p:pic>
        <p:pic>
          <p:nvPicPr>
            <p:cNvPr descr="Content Placeholder 4" id="920" name="Google Shape;920;p87"/>
            <p:cNvPicPr preferRelativeResize="0"/>
            <p:nvPr/>
          </p:nvPicPr>
          <p:blipFill rotWithShape="1">
            <a:blip r:embed="rId3">
              <a:alphaModFix/>
            </a:blip>
            <a:srcRect b="86290" l="0" r="0" t="0"/>
            <a:stretch/>
          </p:blipFill>
          <p:spPr>
            <a:xfrm>
              <a:off x="0" y="0"/>
              <a:ext cx="8120792" cy="700484"/>
            </a:xfrm>
            <a:prstGeom prst="rect">
              <a:avLst/>
            </a:prstGeom>
            <a:noFill/>
            <a:ln>
              <a:noFill/>
            </a:ln>
          </p:spPr>
        </p:pic>
      </p:gr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8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t/>
            </a:r>
            <a:endParaRPr/>
          </a:p>
        </p:txBody>
      </p:sp>
      <p:sp>
        <p:nvSpPr>
          <p:cNvPr id="926" name="Google Shape;926;p8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descr="Image" id="927" name="Google Shape;927;p88"/>
          <p:cNvPicPr preferRelativeResize="0"/>
          <p:nvPr/>
        </p:nvPicPr>
        <p:blipFill rotWithShape="1">
          <a:blip r:embed="rId3">
            <a:alphaModFix/>
          </a:blip>
          <a:srcRect b="0" l="0" r="0" t="0"/>
          <a:stretch/>
        </p:blipFill>
        <p:spPr>
          <a:xfrm>
            <a:off x="5454501" y="2067760"/>
            <a:ext cx="6570273" cy="4191592"/>
          </a:xfrm>
          <a:prstGeom prst="rect">
            <a:avLst/>
          </a:prstGeom>
          <a:noFill/>
          <a:ln>
            <a:noFill/>
          </a:ln>
        </p:spPr>
      </p:pic>
      <p:sp>
        <p:nvSpPr>
          <p:cNvPr id="928" name="Google Shape;928;p88"/>
          <p:cNvSpPr txBox="1"/>
          <p:nvPr/>
        </p:nvSpPr>
        <p:spPr>
          <a:xfrm>
            <a:off x="657953" y="2533444"/>
            <a:ext cx="5192845" cy="2806281"/>
          </a:xfrm>
          <a:prstGeom prst="rect">
            <a:avLst/>
          </a:prstGeom>
          <a:noFill/>
          <a:ln>
            <a:noFill/>
          </a:ln>
        </p:spPr>
        <p:txBody>
          <a:bodyPr anchorCtr="0" anchor="t" bIns="45700" lIns="45700" spcFirstLastPara="1" rIns="45700" wrap="square" tIns="45700">
            <a:spAutoFit/>
          </a:bodyPr>
          <a:lstStyle/>
          <a:p>
            <a:pPr indent="-228600" lvl="0" marL="228600" marR="0" rtl="0" algn="l">
              <a:lnSpc>
                <a:spcPct val="9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In such domains, documents can be long and complex</a:t>
            </a:r>
            <a:endParaRPr b="0" i="0" sz="1800" u="none" cap="none" strike="noStrike">
              <a:solidFill>
                <a:srgbClr val="000000"/>
              </a:solidFill>
              <a:latin typeface="Arial"/>
              <a:ea typeface="Arial"/>
              <a:cs typeface="Arial"/>
              <a:sym typeface="Arial"/>
            </a:endParaRPr>
          </a:p>
          <a:p>
            <a:pPr indent="-114300" lvl="0" marL="228600" marR="0" rtl="0" algn="l">
              <a:lnSpc>
                <a:spcPct val="90000"/>
              </a:lnSpc>
              <a:spcBef>
                <a:spcPts val="100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LLM context-lengths have grown over time</a:t>
            </a:r>
            <a:endParaRPr b="0" i="0" sz="18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How well do they perform?</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8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For long legal documents, evaluation is a bottleneck</a:t>
            </a:r>
            <a:endParaRPr/>
          </a:p>
        </p:txBody>
      </p:sp>
      <p:sp>
        <p:nvSpPr>
          <p:cNvPr id="934" name="Google Shape;934;p89"/>
          <p:cNvSpPr txBox="1"/>
          <p:nvPr>
            <p:ph idx="1" type="body"/>
          </p:nvPr>
        </p:nvSpPr>
        <p:spPr>
          <a:xfrm>
            <a:off x="838200" y="1825625"/>
            <a:ext cx="10515600" cy="3376296"/>
          </a:xfrm>
          <a:prstGeom prst="rect">
            <a:avLst/>
          </a:prstGeom>
          <a:noFill/>
          <a:ln>
            <a:noFill/>
          </a:ln>
        </p:spPr>
        <p:txBody>
          <a:bodyPr anchorCtr="0" anchor="t" bIns="45700" lIns="45700" spcFirstLastPara="1" rIns="45700" wrap="square" tIns="45700">
            <a:normAutofit/>
          </a:bodyPr>
          <a:lstStyle/>
          <a:p>
            <a:pPr indent="-196596" lvl="0" marL="196596" rtl="0" algn="l">
              <a:lnSpc>
                <a:spcPct val="130000"/>
              </a:lnSpc>
              <a:spcBef>
                <a:spcPts val="0"/>
              </a:spcBef>
              <a:spcAft>
                <a:spcPts val="0"/>
              </a:spcAft>
              <a:buClr>
                <a:srgbClr val="000000"/>
              </a:buClr>
              <a:buSzPts val="2408"/>
              <a:buChar char="•"/>
            </a:pPr>
            <a:r>
              <a:rPr lang="en-US" sz="2408"/>
              <a:t>Summarization involves judgement: what counts as “important” depends on goal and audience.</a:t>
            </a:r>
            <a:endParaRPr/>
          </a:p>
          <a:p>
            <a:pPr indent="-196596" lvl="0" marL="196596" rtl="0" algn="l">
              <a:lnSpc>
                <a:spcPct val="130000"/>
              </a:lnSpc>
              <a:spcBef>
                <a:spcPts val="800"/>
              </a:spcBef>
              <a:spcAft>
                <a:spcPts val="0"/>
              </a:spcAft>
              <a:buClr>
                <a:srgbClr val="000000"/>
              </a:buClr>
              <a:buSzPts val="2408"/>
              <a:buChar char="•"/>
            </a:pPr>
            <a:r>
              <a:rPr lang="en-US" sz="2408"/>
              <a:t>Long documents make that judgement harder.</a:t>
            </a:r>
            <a:endParaRPr/>
          </a:p>
          <a:p>
            <a:pPr indent="-196596" lvl="0" marL="196596" rtl="0" algn="l">
              <a:lnSpc>
                <a:spcPct val="130000"/>
              </a:lnSpc>
              <a:spcBef>
                <a:spcPts val="800"/>
              </a:spcBef>
              <a:spcAft>
                <a:spcPts val="0"/>
              </a:spcAft>
              <a:buClr>
                <a:srgbClr val="000000"/>
              </a:buClr>
              <a:buSzPts val="2408"/>
              <a:buChar char="•"/>
            </a:pPr>
            <a:r>
              <a:rPr lang="en-US" sz="2408"/>
              <a:t>In high-stakes settings, these choices have consequences.</a:t>
            </a:r>
            <a:endParaRPr/>
          </a:p>
          <a:p>
            <a:pPr indent="-196596" lvl="0" marL="196596" rtl="0" algn="l">
              <a:lnSpc>
                <a:spcPct val="130000"/>
              </a:lnSpc>
              <a:spcBef>
                <a:spcPts val="800"/>
              </a:spcBef>
              <a:spcAft>
                <a:spcPts val="0"/>
              </a:spcAft>
              <a:buClr>
                <a:srgbClr val="000000"/>
              </a:buClr>
              <a:buSzPts val="2408"/>
              <a:buChar char="•"/>
            </a:pPr>
            <a:r>
              <a:rPr lang="en-US" sz="2408"/>
              <a:t>LLMs are claimed to handle and summarize long-context well.</a:t>
            </a:r>
            <a:endParaRPr/>
          </a:p>
          <a:p>
            <a:pPr indent="-196596" lvl="1" marL="589788" rtl="0" algn="l">
              <a:lnSpc>
                <a:spcPct val="130000"/>
              </a:lnSpc>
              <a:spcBef>
                <a:spcPts val="800"/>
              </a:spcBef>
              <a:spcAft>
                <a:spcPts val="0"/>
              </a:spcAft>
              <a:buClr>
                <a:srgbClr val="000000"/>
              </a:buClr>
              <a:buSzPts val="2408"/>
              <a:buChar char="•"/>
            </a:pPr>
            <a:r>
              <a:rPr lang="en-US" sz="2408"/>
              <a:t>How well remains an open question.</a:t>
            </a:r>
            <a:endParaRPr/>
          </a:p>
        </p:txBody>
      </p:sp>
      <p:sp>
        <p:nvSpPr>
          <p:cNvPr id="935" name="Google Shape;935;p8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936" name="Google Shape;936;p89"/>
          <p:cNvSpPr/>
          <p:nvPr/>
        </p:nvSpPr>
        <p:spPr>
          <a:xfrm>
            <a:off x="2089665" y="5460682"/>
            <a:ext cx="8168840" cy="975014"/>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small" strike="noStrike">
                <a:solidFill>
                  <a:srgbClr val="000000"/>
                </a:solidFill>
                <a:latin typeface="Arial"/>
                <a:ea typeface="Arial"/>
                <a:cs typeface="Arial"/>
                <a:sym typeface="Arial"/>
              </a:rPr>
              <a:t>CaseSumm</a:t>
            </a:r>
            <a:r>
              <a:rPr b="0" i="0" lang="en-US" sz="2400" u="none" cap="none" strike="noStrike">
                <a:solidFill>
                  <a:srgbClr val="000000"/>
                </a:solidFill>
                <a:latin typeface="Arial"/>
                <a:ea typeface="Arial"/>
                <a:cs typeface="Arial"/>
                <a:sym typeface="Arial"/>
              </a:rPr>
              <a:t> is a benchmark designed around this setting.</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9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t/>
            </a:r>
            <a:endParaRPr/>
          </a:p>
        </p:txBody>
      </p:sp>
      <p:grpSp>
        <p:nvGrpSpPr>
          <p:cNvPr id="942" name="Google Shape;942;p90"/>
          <p:cNvGrpSpPr/>
          <p:nvPr/>
        </p:nvGrpSpPr>
        <p:grpSpPr>
          <a:xfrm>
            <a:off x="998012" y="3242904"/>
            <a:ext cx="4088379" cy="3080406"/>
            <a:chOff x="0" y="0"/>
            <a:chExt cx="4088377" cy="3080405"/>
          </a:xfrm>
        </p:grpSpPr>
        <p:pic>
          <p:nvPicPr>
            <p:cNvPr descr="Screenshot 2026-05-09 at 10.12.35 AM.png" id="943" name="Google Shape;943;p90"/>
            <p:cNvPicPr preferRelativeResize="0"/>
            <p:nvPr/>
          </p:nvPicPr>
          <p:blipFill rotWithShape="1">
            <a:blip r:embed="rId3">
              <a:alphaModFix/>
            </a:blip>
            <a:srcRect b="0" l="0" r="0" t="0"/>
            <a:stretch/>
          </p:blipFill>
          <p:spPr>
            <a:xfrm>
              <a:off x="141551" y="834140"/>
              <a:ext cx="3805119" cy="2246265"/>
            </a:xfrm>
            <a:prstGeom prst="rect">
              <a:avLst/>
            </a:prstGeom>
            <a:noFill/>
            <a:ln>
              <a:noFill/>
            </a:ln>
          </p:spPr>
        </p:pic>
        <p:pic>
          <p:nvPicPr>
            <p:cNvPr descr="Screenshot 2026-05-09 at 10.12.53 AM.png" id="944" name="Google Shape;944;p90"/>
            <p:cNvPicPr preferRelativeResize="0"/>
            <p:nvPr/>
          </p:nvPicPr>
          <p:blipFill rotWithShape="1">
            <a:blip r:embed="rId4">
              <a:alphaModFix/>
            </a:blip>
            <a:srcRect b="0" l="0" r="16971" t="0"/>
            <a:stretch/>
          </p:blipFill>
          <p:spPr>
            <a:xfrm>
              <a:off x="0" y="0"/>
              <a:ext cx="4088377" cy="786975"/>
            </a:xfrm>
            <a:prstGeom prst="rect">
              <a:avLst/>
            </a:prstGeom>
            <a:noFill/>
            <a:ln>
              <a:noFill/>
            </a:ln>
          </p:spPr>
        </p:pic>
      </p:grpSp>
      <p:pic>
        <p:nvPicPr>
          <p:cNvPr id="945" name="Google Shape;945;p90"/>
          <p:cNvPicPr preferRelativeResize="0"/>
          <p:nvPr/>
        </p:nvPicPr>
        <p:blipFill rotWithShape="1">
          <a:blip r:embed="rId5">
            <a:alphaModFix/>
          </a:blip>
          <a:srcRect b="0" l="0" r="0" t="0"/>
          <a:stretch/>
        </p:blipFill>
        <p:spPr>
          <a:xfrm>
            <a:off x="5086391" y="1690688"/>
            <a:ext cx="5815730" cy="4351338"/>
          </a:xfrm>
          <a:prstGeom prst="rect">
            <a:avLst/>
          </a:prstGeom>
          <a:noFill/>
          <a:ln>
            <a:noFill/>
          </a:ln>
        </p:spPr>
      </p:pic>
      <p:sp>
        <p:nvSpPr>
          <p:cNvPr id="946" name="Google Shape;946;p9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91"/>
          <p:cNvSpPr txBox="1"/>
          <p:nvPr>
            <p:ph type="title"/>
          </p:nvPr>
        </p:nvSpPr>
        <p:spPr>
          <a:xfrm>
            <a:off x="838200" y="365125"/>
            <a:ext cx="10872945"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Analyzing causal micro-narratives in millions of articles</a:t>
            </a:r>
            <a:endParaRPr/>
          </a:p>
        </p:txBody>
      </p:sp>
      <p:sp>
        <p:nvSpPr>
          <p:cNvPr id="952" name="Google Shape;952;p91"/>
          <p:cNvSpPr/>
          <p:nvPr/>
        </p:nvSpPr>
        <p:spPr>
          <a:xfrm>
            <a:off x="2986945" y="3366430"/>
            <a:ext cx="810329" cy="620487"/>
          </a:xfrm>
          <a:prstGeom prst="rightArrow">
            <a:avLst>
              <a:gd fmla="val 50000" name="adj1"/>
              <a:gd fmla="val 50000" name="adj2"/>
            </a:avLst>
          </a:prstGeom>
          <a:noFill/>
          <a:ln cap="flat" cmpd="sng" w="38100">
            <a:solidFill>
              <a:srgbClr val="E8E8E8"/>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D9D9D9"/>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Picture 10" id="953" name="Google Shape;953;p91"/>
          <p:cNvPicPr preferRelativeResize="0"/>
          <p:nvPr/>
        </p:nvPicPr>
        <p:blipFill rotWithShape="1">
          <a:blip r:embed="rId3">
            <a:alphaModFix/>
          </a:blip>
          <a:srcRect b="0" l="0" r="0" t="0"/>
          <a:stretch/>
        </p:blipFill>
        <p:spPr>
          <a:xfrm>
            <a:off x="6915491" y="4521610"/>
            <a:ext cx="4795653" cy="1563028"/>
          </a:xfrm>
          <a:prstGeom prst="rect">
            <a:avLst/>
          </a:prstGeom>
          <a:noFill/>
          <a:ln>
            <a:noFill/>
          </a:ln>
        </p:spPr>
      </p:pic>
      <p:pic>
        <p:nvPicPr>
          <p:cNvPr descr="Picture 12" id="954" name="Google Shape;954;p91"/>
          <p:cNvPicPr preferRelativeResize="0"/>
          <p:nvPr/>
        </p:nvPicPr>
        <p:blipFill rotWithShape="1">
          <a:blip r:embed="rId4">
            <a:alphaModFix/>
          </a:blip>
          <a:srcRect b="0" l="433" r="0" t="8819"/>
          <a:stretch/>
        </p:blipFill>
        <p:spPr>
          <a:xfrm>
            <a:off x="6839471" y="1690687"/>
            <a:ext cx="4947695" cy="2595934"/>
          </a:xfrm>
          <a:prstGeom prst="rect">
            <a:avLst/>
          </a:prstGeom>
          <a:noFill/>
          <a:ln>
            <a:noFill/>
          </a:ln>
        </p:spPr>
      </p:pic>
      <p:grpSp>
        <p:nvGrpSpPr>
          <p:cNvPr id="955" name="Google Shape;955;p91"/>
          <p:cNvGrpSpPr/>
          <p:nvPr/>
        </p:nvGrpSpPr>
        <p:grpSpPr>
          <a:xfrm>
            <a:off x="4090141" y="3797884"/>
            <a:ext cx="1211527" cy="178082"/>
            <a:chOff x="0" y="0"/>
            <a:chExt cx="1211526" cy="178080"/>
          </a:xfrm>
        </p:grpSpPr>
        <p:sp>
          <p:nvSpPr>
            <p:cNvPr id="956" name="Google Shape;956;p91"/>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7" name="Google Shape;957;p91"/>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8" name="Google Shape;958;p91"/>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59" name="Google Shape;959;p91"/>
          <p:cNvGrpSpPr/>
          <p:nvPr/>
        </p:nvGrpSpPr>
        <p:grpSpPr>
          <a:xfrm>
            <a:off x="4093631" y="4052284"/>
            <a:ext cx="1211528" cy="178082"/>
            <a:chOff x="0" y="0"/>
            <a:chExt cx="1211526" cy="178080"/>
          </a:xfrm>
        </p:grpSpPr>
        <p:sp>
          <p:nvSpPr>
            <p:cNvPr id="960" name="Google Shape;960;p91"/>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1" name="Google Shape;961;p91"/>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2" name="Google Shape;962;p91"/>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63" name="Google Shape;963;p91"/>
          <p:cNvGrpSpPr/>
          <p:nvPr/>
        </p:nvGrpSpPr>
        <p:grpSpPr>
          <a:xfrm>
            <a:off x="4093631" y="5445697"/>
            <a:ext cx="1211528" cy="178082"/>
            <a:chOff x="0" y="0"/>
            <a:chExt cx="1211526" cy="178080"/>
          </a:xfrm>
        </p:grpSpPr>
        <p:sp>
          <p:nvSpPr>
            <p:cNvPr id="964" name="Google Shape;964;p91"/>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5" name="Google Shape;965;p91"/>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6" name="Google Shape;966;p91"/>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67" name="Google Shape;967;p91"/>
          <p:cNvGrpSpPr/>
          <p:nvPr/>
        </p:nvGrpSpPr>
        <p:grpSpPr>
          <a:xfrm>
            <a:off x="4093631" y="5698961"/>
            <a:ext cx="1211528" cy="182336"/>
            <a:chOff x="0" y="-1"/>
            <a:chExt cx="1211526" cy="182334"/>
          </a:xfrm>
        </p:grpSpPr>
        <p:sp>
          <p:nvSpPr>
            <p:cNvPr id="968" name="Google Shape;968;p91"/>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9" name="Google Shape;969;p91"/>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0" name="Google Shape;970;p91"/>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71" name="Google Shape;971;p91"/>
          <p:cNvGrpSpPr/>
          <p:nvPr/>
        </p:nvGrpSpPr>
        <p:grpSpPr>
          <a:xfrm>
            <a:off x="4084249" y="4307653"/>
            <a:ext cx="1211528" cy="182336"/>
            <a:chOff x="0" y="-1"/>
            <a:chExt cx="1211526" cy="182334"/>
          </a:xfrm>
        </p:grpSpPr>
        <p:sp>
          <p:nvSpPr>
            <p:cNvPr id="972" name="Google Shape;972;p91"/>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3" name="Google Shape;973;p91"/>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4" name="Google Shape;974;p91"/>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75" name="Google Shape;975;p91"/>
          <p:cNvGrpSpPr/>
          <p:nvPr/>
        </p:nvGrpSpPr>
        <p:grpSpPr>
          <a:xfrm>
            <a:off x="4089615" y="5189193"/>
            <a:ext cx="1211528" cy="182336"/>
            <a:chOff x="0" y="-1"/>
            <a:chExt cx="1211526" cy="182334"/>
          </a:xfrm>
        </p:grpSpPr>
        <p:sp>
          <p:nvSpPr>
            <p:cNvPr id="976" name="Google Shape;976;p91"/>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7" name="Google Shape;977;p91"/>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8" name="Google Shape;978;p91"/>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79" name="Google Shape;979;p91"/>
          <p:cNvSpPr/>
          <p:nvPr/>
        </p:nvSpPr>
        <p:spPr>
          <a:xfrm>
            <a:off x="5641823" y="3346319"/>
            <a:ext cx="810330" cy="620487"/>
          </a:xfrm>
          <a:prstGeom prst="rightArrow">
            <a:avLst>
              <a:gd fmla="val 50000" name="adj1"/>
              <a:gd fmla="val 50000" name="adj2"/>
            </a:avLst>
          </a:prstGeom>
          <a:noFill/>
          <a:ln cap="flat" cmpd="sng" w="3810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80" name="Google Shape;980;p91"/>
          <p:cNvGrpSpPr/>
          <p:nvPr/>
        </p:nvGrpSpPr>
        <p:grpSpPr>
          <a:xfrm>
            <a:off x="4098831" y="2256163"/>
            <a:ext cx="1211528" cy="178082"/>
            <a:chOff x="0" y="0"/>
            <a:chExt cx="1211526" cy="178080"/>
          </a:xfrm>
        </p:grpSpPr>
        <p:sp>
          <p:nvSpPr>
            <p:cNvPr id="981" name="Google Shape;981;p91"/>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2" name="Google Shape;982;p91"/>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3" name="Google Shape;983;p91"/>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84" name="Google Shape;984;p91"/>
          <p:cNvGrpSpPr/>
          <p:nvPr/>
        </p:nvGrpSpPr>
        <p:grpSpPr>
          <a:xfrm>
            <a:off x="4098831" y="2512264"/>
            <a:ext cx="1211528" cy="178082"/>
            <a:chOff x="0" y="0"/>
            <a:chExt cx="1211526" cy="178080"/>
          </a:xfrm>
        </p:grpSpPr>
        <p:sp>
          <p:nvSpPr>
            <p:cNvPr id="985" name="Google Shape;985;p91"/>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6" name="Google Shape;986;p91"/>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7" name="Google Shape;987;p91"/>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88" name="Google Shape;988;p91"/>
          <p:cNvGrpSpPr/>
          <p:nvPr/>
        </p:nvGrpSpPr>
        <p:grpSpPr>
          <a:xfrm>
            <a:off x="4098831" y="3274485"/>
            <a:ext cx="1211528" cy="178082"/>
            <a:chOff x="0" y="0"/>
            <a:chExt cx="1211526" cy="178080"/>
          </a:xfrm>
        </p:grpSpPr>
        <p:sp>
          <p:nvSpPr>
            <p:cNvPr id="989" name="Google Shape;989;p91"/>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0" name="Google Shape;990;p91"/>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1" name="Google Shape;991;p91"/>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92" name="Google Shape;992;p91"/>
          <p:cNvGrpSpPr/>
          <p:nvPr/>
        </p:nvGrpSpPr>
        <p:grpSpPr>
          <a:xfrm>
            <a:off x="4098831" y="3527749"/>
            <a:ext cx="1211528" cy="182336"/>
            <a:chOff x="0" y="-1"/>
            <a:chExt cx="1211526" cy="182334"/>
          </a:xfrm>
        </p:grpSpPr>
        <p:sp>
          <p:nvSpPr>
            <p:cNvPr id="993" name="Google Shape;993;p91"/>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4" name="Google Shape;994;p91"/>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5" name="Google Shape;995;p91"/>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96" name="Google Shape;996;p91"/>
          <p:cNvGrpSpPr/>
          <p:nvPr/>
        </p:nvGrpSpPr>
        <p:grpSpPr>
          <a:xfrm>
            <a:off x="4089451" y="2767632"/>
            <a:ext cx="1211528" cy="182336"/>
            <a:chOff x="0" y="-1"/>
            <a:chExt cx="1211526" cy="182334"/>
          </a:xfrm>
        </p:grpSpPr>
        <p:sp>
          <p:nvSpPr>
            <p:cNvPr id="997" name="Google Shape;997;p91"/>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8" name="Google Shape;998;p91"/>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9" name="Google Shape;999;p91"/>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00" name="Google Shape;1000;p91"/>
          <p:cNvGrpSpPr/>
          <p:nvPr/>
        </p:nvGrpSpPr>
        <p:grpSpPr>
          <a:xfrm>
            <a:off x="4094817" y="3017981"/>
            <a:ext cx="1211528" cy="182336"/>
            <a:chOff x="0" y="-1"/>
            <a:chExt cx="1211526" cy="182334"/>
          </a:xfrm>
        </p:grpSpPr>
        <p:sp>
          <p:nvSpPr>
            <p:cNvPr id="1001" name="Google Shape;1001;p91"/>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2" name="Google Shape;1002;p91"/>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3" name="Google Shape;1003;p91"/>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04" name="Google Shape;1004;p91"/>
          <p:cNvSpPr txBox="1"/>
          <p:nvPr/>
        </p:nvSpPr>
        <p:spPr>
          <a:xfrm>
            <a:off x="883919" y="1990486"/>
            <a:ext cx="1344969"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D9D9D9"/>
              </a:buClr>
              <a:buSzPts val="1800"/>
              <a:buFont typeface="Arial"/>
              <a:buNone/>
            </a:pPr>
            <a:r>
              <a:rPr b="1" i="0" lang="en-US" sz="1800" u="none" cap="none" strike="noStrike">
                <a:solidFill>
                  <a:srgbClr val="D9D9D9"/>
                </a:solidFill>
                <a:latin typeface="Arial"/>
                <a:ea typeface="Arial"/>
                <a:cs typeface="Arial"/>
                <a:sym typeface="Arial"/>
              </a:rPr>
              <a:t>1923 - 2025</a:t>
            </a:r>
            <a:endParaRPr/>
          </a:p>
        </p:txBody>
      </p:sp>
      <p:sp>
        <p:nvSpPr>
          <p:cNvPr id="1005" name="Google Shape;1005;p9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1006" name="Google Shape;1006;p91"/>
          <p:cNvSpPr txBox="1"/>
          <p:nvPr/>
        </p:nvSpPr>
        <p:spPr>
          <a:xfrm rot="5400000">
            <a:off x="4361585" y="4782912"/>
            <a:ext cx="894054" cy="574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747474"/>
              </a:buClr>
              <a:buSzPts val="3200"/>
              <a:buFont typeface="Arial"/>
              <a:buNone/>
            </a:pPr>
            <a:r>
              <a:rPr b="0" i="0" lang="en-US" sz="3200" u="none" cap="none" strike="noStrike">
                <a:solidFill>
                  <a:srgbClr val="747474"/>
                </a:solidFill>
                <a:latin typeface="Arial"/>
                <a:ea typeface="Arial"/>
                <a:cs typeface="Arial"/>
                <a:sym typeface="Arial"/>
              </a:rPr>
              <a:t>…</a:t>
            </a:r>
            <a:endParaRPr/>
          </a:p>
        </p:txBody>
      </p:sp>
      <p:pic>
        <p:nvPicPr>
          <p:cNvPr descr="Picture 2" id="1007" name="Google Shape;1007;p91"/>
          <p:cNvPicPr preferRelativeResize="0"/>
          <p:nvPr/>
        </p:nvPicPr>
        <p:blipFill rotWithShape="1">
          <a:blip r:embed="rId5">
            <a:alphaModFix amt="20000"/>
          </a:blip>
          <a:srcRect b="0" l="0" r="0" t="0"/>
          <a:stretch/>
        </p:blipFill>
        <p:spPr>
          <a:xfrm>
            <a:off x="246489" y="2413680"/>
            <a:ext cx="1325564" cy="1325564"/>
          </a:xfrm>
          <a:prstGeom prst="rect">
            <a:avLst/>
          </a:prstGeom>
          <a:noFill/>
          <a:ln>
            <a:noFill/>
          </a:ln>
        </p:spPr>
      </p:pic>
      <p:pic>
        <p:nvPicPr>
          <p:cNvPr descr="Picture 2" id="1008" name="Google Shape;1008;p91"/>
          <p:cNvPicPr preferRelativeResize="0"/>
          <p:nvPr/>
        </p:nvPicPr>
        <p:blipFill rotWithShape="1">
          <a:blip r:embed="rId5">
            <a:alphaModFix amt="20000"/>
          </a:blip>
          <a:srcRect b="0" l="0" r="0" t="0"/>
          <a:stretch/>
        </p:blipFill>
        <p:spPr>
          <a:xfrm>
            <a:off x="1426909" y="3846967"/>
            <a:ext cx="1325564" cy="1325564"/>
          </a:xfrm>
          <a:prstGeom prst="rect">
            <a:avLst/>
          </a:prstGeom>
          <a:noFill/>
          <a:ln>
            <a:noFill/>
          </a:ln>
        </p:spPr>
      </p:pic>
      <p:pic>
        <p:nvPicPr>
          <p:cNvPr descr="Picture 2" id="1009" name="Google Shape;1009;p91"/>
          <p:cNvPicPr preferRelativeResize="0"/>
          <p:nvPr/>
        </p:nvPicPr>
        <p:blipFill rotWithShape="1">
          <a:blip r:embed="rId5">
            <a:alphaModFix amt="20000"/>
          </a:blip>
          <a:srcRect b="0" l="0" r="0" t="0"/>
          <a:stretch/>
        </p:blipFill>
        <p:spPr>
          <a:xfrm>
            <a:off x="246489" y="3846967"/>
            <a:ext cx="1325564" cy="1325564"/>
          </a:xfrm>
          <a:prstGeom prst="rect">
            <a:avLst/>
          </a:prstGeom>
          <a:noFill/>
          <a:ln>
            <a:noFill/>
          </a:ln>
        </p:spPr>
      </p:pic>
      <p:pic>
        <p:nvPicPr>
          <p:cNvPr descr="Picture 2" id="1010" name="Google Shape;1010;p91"/>
          <p:cNvPicPr preferRelativeResize="0"/>
          <p:nvPr/>
        </p:nvPicPr>
        <p:blipFill rotWithShape="1">
          <a:blip r:embed="rId5">
            <a:alphaModFix amt="20000"/>
          </a:blip>
          <a:srcRect b="0" l="0" r="0" t="0"/>
          <a:stretch/>
        </p:blipFill>
        <p:spPr>
          <a:xfrm>
            <a:off x="1416399" y="2413679"/>
            <a:ext cx="1325563" cy="1325564"/>
          </a:xfrm>
          <a:prstGeom prst="rect">
            <a:avLst/>
          </a:prstGeom>
          <a:noFill/>
          <a:ln>
            <a:noFill/>
          </a:ln>
        </p:spPr>
      </p:pic>
      <p:sp>
        <p:nvSpPr>
          <p:cNvPr id="1011" name="Google Shape;1011;p91"/>
          <p:cNvSpPr/>
          <p:nvPr/>
        </p:nvSpPr>
        <p:spPr>
          <a:xfrm>
            <a:off x="3939378" y="1594341"/>
            <a:ext cx="7947767" cy="4762010"/>
          </a:xfrm>
          <a:prstGeom prst="rect">
            <a:avLst/>
          </a:prstGeom>
          <a:noFill/>
          <a:ln cap="flat" cmpd="sng" w="28575">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012" name="Google Shape;1012;p91"/>
          <p:cNvGrpSpPr/>
          <p:nvPr/>
        </p:nvGrpSpPr>
        <p:grpSpPr>
          <a:xfrm>
            <a:off x="333251" y="330122"/>
            <a:ext cx="11612260" cy="6089468"/>
            <a:chOff x="0" y="0"/>
            <a:chExt cx="11612258" cy="6089466"/>
          </a:xfrm>
        </p:grpSpPr>
        <p:sp>
          <p:nvSpPr>
            <p:cNvPr id="1013" name="Google Shape;1013;p91"/>
            <p:cNvSpPr/>
            <p:nvPr/>
          </p:nvSpPr>
          <p:spPr>
            <a:xfrm>
              <a:off x="0" y="0"/>
              <a:ext cx="11612258" cy="6089466"/>
            </a:xfrm>
            <a:prstGeom prst="rect">
              <a:avLst/>
            </a:prstGeom>
            <a:solidFill>
              <a:srgbClr val="FFFFFF">
                <a:alpha val="78039"/>
              </a:srgbClr>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4" name="Google Shape;1014;p91"/>
            <p:cNvSpPr/>
            <p:nvPr/>
          </p:nvSpPr>
          <p:spPr>
            <a:xfrm>
              <a:off x="1065710" y="1622392"/>
              <a:ext cx="9856000" cy="3357868"/>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5" name="Google Shape;1015;p91"/>
            <p:cNvSpPr txBox="1"/>
            <p:nvPr/>
          </p:nvSpPr>
          <p:spPr>
            <a:xfrm>
              <a:off x="1290704" y="1767514"/>
              <a:ext cx="9315263" cy="3037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Predicting inflation expectations:</a:t>
              </a:r>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“By about what percent do you expect prices to go (up/down) on the average, during the next 12 months?”</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38539" lvl="0" marL="238539"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We compute narrative shares by time and region, then relate them to survey inflation expectations controlling for realized inflation and standard predictors.</a:t>
              </a:r>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92"/>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t/>
            </a:r>
            <a:endParaRPr/>
          </a:p>
        </p:txBody>
      </p:sp>
      <p:sp>
        <p:nvSpPr>
          <p:cNvPr id="1021" name="Google Shape;1021;p92"/>
          <p:cNvSpPr txBox="1"/>
          <p:nvPr>
            <p:ph idx="1" type="body"/>
          </p:nvPr>
        </p:nvSpPr>
        <p:spPr>
          <a:xfrm>
            <a:off x="838200" y="1825625"/>
            <a:ext cx="10515601" cy="4443731"/>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But a good summary varies by task and domain</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So generic evaluations are insufficient for measuring summary quality across different domains</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We need evaluations that capture what is important</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Especially in domains where summaries play a role in high-stakes decisions. </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e.g., law, medicine, finance</a:t>
            </a:r>
            <a:endParaRPr/>
          </a:p>
        </p:txBody>
      </p:sp>
      <p:sp>
        <p:nvSpPr>
          <p:cNvPr id="1022" name="Google Shape;1022;p9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9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Evaluation is a bottleneck in long-context summarization </a:t>
            </a:r>
            <a:endParaRPr/>
          </a:p>
        </p:txBody>
      </p:sp>
      <p:sp>
        <p:nvSpPr>
          <p:cNvPr id="1028" name="Google Shape;1028;p93"/>
          <p:cNvSpPr txBox="1"/>
          <p:nvPr>
            <p:ph idx="1" type="body"/>
          </p:nvPr>
        </p:nvSpPr>
        <p:spPr>
          <a:xfrm>
            <a:off x="838200" y="4372449"/>
            <a:ext cx="10515600" cy="2095315"/>
          </a:xfrm>
          <a:prstGeom prst="rect">
            <a:avLst/>
          </a:prstGeom>
          <a:noFill/>
          <a:ln>
            <a:noFill/>
          </a:ln>
        </p:spPr>
        <p:txBody>
          <a:bodyPr anchorCtr="0" anchor="t" bIns="45700" lIns="45700" spcFirstLastPara="1" rIns="45700" wrap="square" tIns="45700">
            <a:normAutofit/>
          </a:bodyPr>
          <a:lstStyle/>
          <a:p>
            <a:pPr indent="-228600" lvl="0" marL="228600" rtl="0" algn="l">
              <a:lnSpc>
                <a:spcPct val="110000"/>
              </a:lnSpc>
              <a:spcBef>
                <a:spcPts val="0"/>
              </a:spcBef>
              <a:spcAft>
                <a:spcPts val="0"/>
              </a:spcAft>
              <a:buClr>
                <a:srgbClr val="000000"/>
              </a:buClr>
              <a:buSzPts val="2800"/>
              <a:buChar char="•"/>
            </a:pPr>
            <a:r>
              <a:rPr lang="en-US" cap="small"/>
              <a:t>CaseSumm</a:t>
            </a:r>
            <a:r>
              <a:rPr lang="en-US"/>
              <a:t> tests these paradigms with an authoritative reference and expert human evaluation, then measures where they disagree.</a:t>
            </a:r>
            <a:endParaRPr/>
          </a:p>
        </p:txBody>
      </p:sp>
      <p:sp>
        <p:nvSpPr>
          <p:cNvPr id="1029" name="Google Shape;1029;p9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cxnSp>
        <p:nvCxnSpPr>
          <p:cNvPr id="1030" name="Google Shape;1030;p93"/>
          <p:cNvCxnSpPr/>
          <p:nvPr/>
        </p:nvCxnSpPr>
        <p:spPr>
          <a:xfrm>
            <a:off x="1118404" y="2536592"/>
            <a:ext cx="2924132" cy="1"/>
          </a:xfrm>
          <a:prstGeom prst="straightConnector1">
            <a:avLst/>
          </a:prstGeom>
          <a:noFill/>
          <a:ln cap="flat" cmpd="sng" w="19050">
            <a:solidFill>
              <a:schemeClr val="accent1"/>
            </a:solidFill>
            <a:prstDash val="solid"/>
            <a:miter lim="8000"/>
            <a:headEnd len="sm" w="sm" type="none"/>
            <a:tailEnd len="sm" w="sm" type="none"/>
          </a:ln>
        </p:spPr>
      </p:cxnSp>
      <p:sp>
        <p:nvSpPr>
          <p:cNvPr id="1031" name="Google Shape;1031;p93"/>
          <p:cNvSpPr txBox="1"/>
          <p:nvPr/>
        </p:nvSpPr>
        <p:spPr>
          <a:xfrm>
            <a:off x="1142704" y="2000642"/>
            <a:ext cx="2662348"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Reference Overlap</a:t>
            </a:r>
            <a:endParaRPr/>
          </a:p>
        </p:txBody>
      </p:sp>
      <p:sp>
        <p:nvSpPr>
          <p:cNvPr id="1032" name="Google Shape;1032;p93"/>
          <p:cNvSpPr txBox="1"/>
          <p:nvPr/>
        </p:nvSpPr>
        <p:spPr>
          <a:xfrm>
            <a:off x="1081480" y="2612802"/>
            <a:ext cx="2997980" cy="1127761"/>
          </a:xfrm>
          <a:prstGeom prst="rect">
            <a:avLst/>
          </a:prstGeom>
          <a:noFill/>
          <a:ln>
            <a:noFill/>
          </a:ln>
        </p:spPr>
        <p:txBody>
          <a:bodyPr anchorCtr="0" anchor="t" bIns="45700" lIns="45700" spcFirstLastPara="1" rIns="45700" wrap="square" tIns="45700">
            <a:sp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Fast but rewards overlap with reference not overall quality.</a:t>
            </a:r>
            <a:endParaRPr/>
          </a:p>
        </p:txBody>
      </p:sp>
      <p:cxnSp>
        <p:nvCxnSpPr>
          <p:cNvPr id="1033" name="Google Shape;1033;p93"/>
          <p:cNvCxnSpPr/>
          <p:nvPr/>
        </p:nvCxnSpPr>
        <p:spPr>
          <a:xfrm>
            <a:off x="4784180" y="2536592"/>
            <a:ext cx="2932771" cy="1"/>
          </a:xfrm>
          <a:prstGeom prst="straightConnector1">
            <a:avLst/>
          </a:prstGeom>
          <a:noFill/>
          <a:ln cap="flat" cmpd="sng" w="19050">
            <a:solidFill>
              <a:schemeClr val="accent1"/>
            </a:solidFill>
            <a:prstDash val="solid"/>
            <a:miter lim="8000"/>
            <a:headEnd len="sm" w="sm" type="none"/>
            <a:tailEnd len="sm" w="sm" type="none"/>
          </a:ln>
        </p:spPr>
      </p:cxnSp>
      <p:sp>
        <p:nvSpPr>
          <p:cNvPr id="1034" name="Google Shape;1034;p93"/>
          <p:cNvSpPr txBox="1"/>
          <p:nvPr/>
        </p:nvSpPr>
        <p:spPr>
          <a:xfrm>
            <a:off x="5016676" y="2000642"/>
            <a:ext cx="2594780"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Human Evaluation</a:t>
            </a:r>
            <a:endParaRPr/>
          </a:p>
        </p:txBody>
      </p:sp>
      <p:sp>
        <p:nvSpPr>
          <p:cNvPr id="1035" name="Google Shape;1035;p93"/>
          <p:cNvSpPr txBox="1"/>
          <p:nvPr/>
        </p:nvSpPr>
        <p:spPr>
          <a:xfrm>
            <a:off x="4784180" y="2623432"/>
            <a:ext cx="2932771" cy="762001"/>
          </a:xfrm>
          <a:prstGeom prst="rect">
            <a:avLst/>
          </a:prstGeom>
          <a:noFill/>
          <a:ln>
            <a:noFill/>
          </a:ln>
        </p:spPr>
        <p:txBody>
          <a:bodyPr anchorCtr="0" anchor="t" bIns="45700" lIns="45700" spcFirstLastPara="1" rIns="45700" wrap="square" tIns="45700">
            <a:sp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Expensive and requires domain expertise.</a:t>
            </a:r>
            <a:endParaRPr/>
          </a:p>
        </p:txBody>
      </p:sp>
      <p:cxnSp>
        <p:nvCxnSpPr>
          <p:cNvPr id="1036" name="Google Shape;1036;p93"/>
          <p:cNvCxnSpPr/>
          <p:nvPr/>
        </p:nvCxnSpPr>
        <p:spPr>
          <a:xfrm>
            <a:off x="8469190" y="2536592"/>
            <a:ext cx="2932770" cy="1"/>
          </a:xfrm>
          <a:prstGeom prst="straightConnector1">
            <a:avLst/>
          </a:prstGeom>
          <a:noFill/>
          <a:ln cap="flat" cmpd="sng" w="19050">
            <a:solidFill>
              <a:schemeClr val="accent1"/>
            </a:solidFill>
            <a:prstDash val="solid"/>
            <a:miter lim="8000"/>
            <a:headEnd len="sm" w="sm" type="none"/>
            <a:tailEnd len="sm" w="sm" type="none"/>
          </a:ln>
        </p:spPr>
      </p:cxnSp>
      <p:sp>
        <p:nvSpPr>
          <p:cNvPr id="1037" name="Google Shape;1037;p93"/>
          <p:cNvSpPr txBox="1"/>
          <p:nvPr/>
        </p:nvSpPr>
        <p:spPr>
          <a:xfrm>
            <a:off x="8782250" y="2000642"/>
            <a:ext cx="2306649"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LLM-based Eval</a:t>
            </a:r>
            <a:endParaRPr/>
          </a:p>
        </p:txBody>
      </p:sp>
      <p:sp>
        <p:nvSpPr>
          <p:cNvPr id="1038" name="Google Shape;1038;p93"/>
          <p:cNvSpPr txBox="1"/>
          <p:nvPr/>
        </p:nvSpPr>
        <p:spPr>
          <a:xfrm>
            <a:off x="8469190" y="2612802"/>
            <a:ext cx="2913267" cy="762001"/>
          </a:xfrm>
          <a:prstGeom prst="rect">
            <a:avLst/>
          </a:prstGeom>
          <a:noFill/>
          <a:ln>
            <a:noFill/>
          </a:ln>
        </p:spPr>
        <p:txBody>
          <a:bodyPr anchorCtr="0" anchor="t" bIns="45700" lIns="45700" spcFirstLastPara="1" rIns="45700" wrap="square" tIns="45700">
            <a:sp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Scalable but does it agree with experts?</a:t>
            </a:r>
            <a:endParaRPr/>
          </a:p>
        </p:txBody>
      </p:sp>
      <p:sp>
        <p:nvSpPr>
          <p:cNvPr id="1039" name="Google Shape;1039;p93"/>
          <p:cNvSpPr/>
          <p:nvPr/>
        </p:nvSpPr>
        <p:spPr>
          <a:xfrm>
            <a:off x="800527" y="1895504"/>
            <a:ext cx="3530059" cy="2121551"/>
          </a:xfrm>
          <a:prstGeom prst="roundRect">
            <a:avLst>
              <a:gd fmla="val 15000" name="adj"/>
            </a:avLst>
          </a:prstGeom>
          <a:noFill/>
          <a:ln cap="flat" cmpd="sng" w="508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0" name="Google Shape;1040;p93"/>
          <p:cNvSpPr/>
          <p:nvPr/>
        </p:nvSpPr>
        <p:spPr>
          <a:xfrm>
            <a:off x="4485536" y="1895504"/>
            <a:ext cx="3530059" cy="2121551"/>
          </a:xfrm>
          <a:prstGeom prst="roundRect">
            <a:avLst>
              <a:gd fmla="val 15000" name="adj"/>
            </a:avLst>
          </a:prstGeom>
          <a:noFill/>
          <a:ln cap="flat" cmpd="sng" w="508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1" name="Google Shape;1041;p93"/>
          <p:cNvSpPr/>
          <p:nvPr/>
        </p:nvSpPr>
        <p:spPr>
          <a:xfrm>
            <a:off x="8170545" y="1895504"/>
            <a:ext cx="3530059" cy="2121551"/>
          </a:xfrm>
          <a:prstGeom prst="roundRect">
            <a:avLst>
              <a:gd fmla="val 15000" name="adj"/>
            </a:avLst>
          </a:prstGeom>
          <a:noFill/>
          <a:ln cap="flat" cmpd="sng" w="508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9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Automatic metrics favor syllabus-like summaries</a:t>
            </a:r>
            <a:endParaRPr/>
          </a:p>
        </p:txBody>
      </p:sp>
      <p:sp>
        <p:nvSpPr>
          <p:cNvPr id="1047" name="Google Shape;1047;p9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descr="Screenshot 2026-01-12 at 5.34.21 PM.png" id="1048" name="Google Shape;1048;p94"/>
          <p:cNvPicPr preferRelativeResize="0"/>
          <p:nvPr/>
        </p:nvPicPr>
        <p:blipFill rotWithShape="1">
          <a:blip r:embed="rId3">
            <a:alphaModFix/>
          </a:blip>
          <a:srcRect b="0" l="0" r="0" t="0"/>
          <a:stretch/>
        </p:blipFill>
        <p:spPr>
          <a:xfrm>
            <a:off x="926020" y="2493873"/>
            <a:ext cx="10339960" cy="2878646"/>
          </a:xfrm>
          <a:prstGeom prst="rect">
            <a:avLst/>
          </a:prstGeom>
          <a:noFill/>
          <a:ln>
            <a:noFill/>
          </a:ln>
        </p:spPr>
      </p:pic>
      <p:sp>
        <p:nvSpPr>
          <p:cNvPr id="1049" name="Google Shape;1049;p94"/>
          <p:cNvSpPr txBox="1"/>
          <p:nvPr/>
        </p:nvSpPr>
        <p:spPr>
          <a:xfrm>
            <a:off x="570960" y="4024629"/>
            <a:ext cx="396241"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
            </a:r>
            <a:endParaRPr/>
          </a:p>
        </p:txBody>
      </p:sp>
      <p:sp>
        <p:nvSpPr>
          <p:cNvPr id="1050" name="Google Shape;1050;p94"/>
          <p:cNvSpPr/>
          <p:nvPr/>
        </p:nvSpPr>
        <p:spPr>
          <a:xfrm>
            <a:off x="1014013" y="4088769"/>
            <a:ext cx="10163974" cy="382261"/>
          </a:xfrm>
          <a:prstGeom prst="rect">
            <a:avLst/>
          </a:prstGeom>
          <a:noFill/>
          <a:ln cap="flat" cmpd="sng" w="28575">
            <a:solidFill>
              <a:srgbClr val="FF26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1" name="Google Shape;1051;p94"/>
          <p:cNvSpPr/>
          <p:nvPr/>
        </p:nvSpPr>
        <p:spPr>
          <a:xfrm>
            <a:off x="2442782" y="3488576"/>
            <a:ext cx="8849384" cy="585702"/>
          </a:xfrm>
          <a:prstGeom prst="rect">
            <a:avLst/>
          </a:prstGeom>
          <a:solidFill>
            <a:srgbClr val="FFFFFF">
              <a:alpha val="83137"/>
            </a:srgbClr>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2" name="Google Shape;1052;p94"/>
          <p:cNvSpPr/>
          <p:nvPr/>
        </p:nvSpPr>
        <p:spPr>
          <a:xfrm>
            <a:off x="2661920" y="4580776"/>
            <a:ext cx="8726766" cy="577455"/>
          </a:xfrm>
          <a:prstGeom prst="rect">
            <a:avLst/>
          </a:prstGeom>
          <a:solidFill>
            <a:srgbClr val="FFFFFF">
              <a:alpha val="83137"/>
            </a:srgbClr>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9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LLM-based eval does not correlate well either with human judgements</a:t>
            </a:r>
            <a:endParaRPr/>
          </a:p>
        </p:txBody>
      </p:sp>
      <p:sp>
        <p:nvSpPr>
          <p:cNvPr id="1058" name="Google Shape;1058;p9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descr="Screenshot 2026-01-12 at 5.58.09 PM.png" id="1059" name="Google Shape;1059;p95"/>
          <p:cNvPicPr preferRelativeResize="0"/>
          <p:nvPr/>
        </p:nvPicPr>
        <p:blipFill rotWithShape="1">
          <a:blip r:embed="rId3">
            <a:alphaModFix/>
          </a:blip>
          <a:srcRect b="0" l="0" r="0" t="0"/>
          <a:stretch/>
        </p:blipFill>
        <p:spPr>
          <a:xfrm>
            <a:off x="9979959" y="3266363"/>
            <a:ext cx="850901" cy="2209801"/>
          </a:xfrm>
          <a:prstGeom prst="rect">
            <a:avLst/>
          </a:prstGeom>
          <a:noFill/>
          <a:ln>
            <a:noFill/>
          </a:ln>
        </p:spPr>
      </p:pic>
      <p:pic>
        <p:nvPicPr>
          <p:cNvPr descr="Screenshot 2026-01-12 at 6.05.29 PM.png" id="1060" name="Google Shape;1060;p95"/>
          <p:cNvPicPr preferRelativeResize="0"/>
          <p:nvPr/>
        </p:nvPicPr>
        <p:blipFill rotWithShape="1">
          <a:blip r:embed="rId4">
            <a:alphaModFix/>
          </a:blip>
          <a:srcRect b="0" l="0" r="0" t="0"/>
          <a:stretch/>
        </p:blipFill>
        <p:spPr>
          <a:xfrm>
            <a:off x="1733184" y="2617081"/>
            <a:ext cx="8293101" cy="2946401"/>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9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Roadmap for this talk</a:t>
            </a:r>
            <a:endParaRPr/>
          </a:p>
        </p:txBody>
      </p:sp>
      <p:sp>
        <p:nvSpPr>
          <p:cNvPr id="1066" name="Google Shape;1066;p96"/>
          <p:cNvSpPr txBox="1"/>
          <p:nvPr>
            <p:ph idx="1" type="body"/>
          </p:nvPr>
        </p:nvSpPr>
        <p:spPr>
          <a:xfrm>
            <a:off x="838200" y="1825625"/>
            <a:ext cx="10515600" cy="4559635"/>
          </a:xfrm>
          <a:prstGeom prst="rect">
            <a:avLst/>
          </a:prstGeom>
          <a:noFill/>
          <a:ln>
            <a:noFill/>
          </a:ln>
        </p:spPr>
        <p:txBody>
          <a:bodyPr anchorCtr="0" anchor="t" bIns="45700" lIns="45700" spcFirstLastPara="1" rIns="45700" wrap="square" tIns="45700">
            <a:normAutofit/>
          </a:bodyPr>
          <a:lstStyle/>
          <a:p>
            <a:pPr indent="-208026" lvl="0" marL="208026" rtl="0" algn="l">
              <a:lnSpc>
                <a:spcPct val="120000"/>
              </a:lnSpc>
              <a:spcBef>
                <a:spcPts val="0"/>
              </a:spcBef>
              <a:spcAft>
                <a:spcPts val="0"/>
              </a:spcAft>
              <a:buClr>
                <a:srgbClr val="000000"/>
              </a:buClr>
              <a:buSzPts val="2548"/>
              <a:buChar char="•"/>
            </a:pPr>
            <a:r>
              <a:rPr lang="en-US" sz="2548"/>
              <a:t> Language shapes consequential decisions, but measuring and supporting this is hard. I develop methods to:</a:t>
            </a:r>
            <a:endParaRPr/>
          </a:p>
          <a:p>
            <a:pPr indent="-340627" lvl="1" marL="802907" rtl="0" algn="l">
              <a:lnSpc>
                <a:spcPct val="110000"/>
              </a:lnSpc>
              <a:spcBef>
                <a:spcPts val="900"/>
              </a:spcBef>
              <a:spcAft>
                <a:spcPts val="0"/>
              </a:spcAft>
              <a:buClr>
                <a:srgbClr val="000000"/>
              </a:buClr>
              <a:buSzPts val="2548"/>
              <a:buFont typeface="Arial"/>
              <a:buAutoNum type="arabicPeriod"/>
            </a:pPr>
            <a:r>
              <a:rPr lang="en-US" sz="2548"/>
              <a:t>Extract decision-relevant language at scale.</a:t>
            </a:r>
            <a:endParaRPr/>
          </a:p>
          <a:p>
            <a:pPr indent="-242697" lvl="2" marL="1074801" rtl="0" algn="l">
              <a:lnSpc>
                <a:spcPct val="110000"/>
              </a:lnSpc>
              <a:spcBef>
                <a:spcPts val="900"/>
              </a:spcBef>
              <a:spcAft>
                <a:spcPts val="0"/>
              </a:spcAft>
              <a:buClr>
                <a:srgbClr val="000000"/>
              </a:buClr>
              <a:buSzPts val="2366"/>
              <a:buChar char="•"/>
            </a:pPr>
            <a:r>
              <a:rPr lang="en-US" sz="2366"/>
              <a:t>Causal Micro-Narratives</a:t>
            </a:r>
            <a:endParaRPr/>
          </a:p>
          <a:p>
            <a:pPr indent="-340627" lvl="1" marL="802907" rtl="0" algn="l">
              <a:lnSpc>
                <a:spcPct val="110000"/>
              </a:lnSpc>
              <a:spcBef>
                <a:spcPts val="900"/>
              </a:spcBef>
              <a:spcAft>
                <a:spcPts val="0"/>
              </a:spcAft>
              <a:buClr>
                <a:srgbClr val="000000"/>
              </a:buClr>
              <a:buSzPts val="2548"/>
              <a:buFont typeface="Arial"/>
              <a:buAutoNum type="arabicPeriod"/>
            </a:pPr>
            <a:r>
              <a:rPr lang="en-US" sz="2548"/>
              <a:t>Evaluate LLM outputs in consequential domains.</a:t>
            </a:r>
            <a:endParaRPr/>
          </a:p>
          <a:p>
            <a:pPr indent="-242697" lvl="2" marL="1074801" rtl="0" algn="l">
              <a:lnSpc>
                <a:spcPct val="110000"/>
              </a:lnSpc>
              <a:spcBef>
                <a:spcPts val="900"/>
              </a:spcBef>
              <a:spcAft>
                <a:spcPts val="0"/>
              </a:spcAft>
              <a:buClr>
                <a:srgbClr val="000000"/>
              </a:buClr>
              <a:buSzPts val="2366"/>
              <a:buChar char="•"/>
            </a:pPr>
            <a:r>
              <a:rPr lang="en-US" sz="2366"/>
              <a:t>CaseSumm: Long-Context Summarization from U.S. SCOTUS Opinions</a:t>
            </a:r>
            <a:endParaRPr/>
          </a:p>
          <a:p>
            <a:pPr indent="-242697" lvl="2" marL="1074801" rtl="0" algn="l">
              <a:lnSpc>
                <a:spcPct val="110000"/>
              </a:lnSpc>
              <a:spcBef>
                <a:spcPts val="900"/>
              </a:spcBef>
              <a:spcAft>
                <a:spcPts val="0"/>
              </a:spcAft>
              <a:buClr>
                <a:srgbClr val="000000"/>
              </a:buClr>
              <a:buSzPts val="2366"/>
              <a:buChar char="•"/>
            </a:pPr>
            <a:r>
              <a:rPr lang="en-US" sz="2366"/>
              <a:t>LLMs as negotiators + compressing reasoning</a:t>
            </a:r>
            <a:endParaRPr/>
          </a:p>
          <a:p>
            <a:pPr indent="-340627" lvl="1" marL="802907" rtl="0" algn="l">
              <a:lnSpc>
                <a:spcPct val="110000"/>
              </a:lnSpc>
              <a:spcBef>
                <a:spcPts val="900"/>
              </a:spcBef>
              <a:spcAft>
                <a:spcPts val="0"/>
              </a:spcAft>
              <a:buClr>
                <a:srgbClr val="000000"/>
              </a:buClr>
              <a:buSzPts val="2548"/>
              <a:buFont typeface="Arial"/>
              <a:buAutoNum type="arabicPeriod"/>
            </a:pPr>
            <a:r>
              <a:rPr lang="en-US" sz="2548"/>
              <a:t>Develop AI that supports human deliberation.</a:t>
            </a:r>
            <a:endParaRPr/>
          </a:p>
        </p:txBody>
      </p:sp>
      <p:sp>
        <p:nvSpPr>
          <p:cNvPr id="1067" name="Google Shape;1067;p96"/>
          <p:cNvSpPr txBox="1"/>
          <p:nvPr>
            <p:ph idx="12" type="sldNum"/>
          </p:nvPr>
        </p:nvSpPr>
        <p:spPr>
          <a:xfrm>
            <a:off x="11164902" y="6404292"/>
            <a:ext cx="188898"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97"/>
          <p:cNvSpPr txBox="1"/>
          <p:nvPr>
            <p:ph type="title"/>
          </p:nvPr>
        </p:nvSpPr>
        <p:spPr>
          <a:xfrm>
            <a:off x="838200" y="365125"/>
            <a:ext cx="10797777"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3900"/>
              <a:buFont typeface="Play"/>
              <a:buNone/>
            </a:pPr>
            <a:r>
              <a:rPr lang="en-US" sz="3900"/>
              <a:t>Summaries mediate how we access information</a:t>
            </a:r>
            <a:endParaRPr/>
          </a:p>
        </p:txBody>
      </p:sp>
      <p:sp>
        <p:nvSpPr>
          <p:cNvPr id="1073" name="Google Shape;1073;p97"/>
          <p:cNvSpPr txBox="1"/>
          <p:nvPr>
            <p:ph idx="1" type="body"/>
          </p:nvPr>
        </p:nvSpPr>
        <p:spPr>
          <a:xfrm>
            <a:off x="838200" y="1825625"/>
            <a:ext cx="10515600" cy="1560026"/>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LLMs can make sense of large and complex data</a:t>
            </a:r>
            <a:endParaRPr/>
          </a:p>
          <a:p>
            <a:pPr indent="-228600" lvl="0" marL="228600" rtl="0" algn="l">
              <a:lnSpc>
                <a:spcPct val="90000"/>
              </a:lnSpc>
              <a:spcBef>
                <a:spcPts val="1000"/>
              </a:spcBef>
              <a:spcAft>
                <a:spcPts val="0"/>
              </a:spcAft>
              <a:buClr>
                <a:srgbClr val="000000"/>
              </a:buClr>
              <a:buSzPts val="2800"/>
              <a:buChar char="•"/>
            </a:pPr>
            <a:r>
              <a:rPr b="1" lang="en-US"/>
              <a:t>Summarization</a:t>
            </a:r>
            <a:r>
              <a:rPr b="0" i="0" lang="en-US" sz="2800" u="none" cap="none" strike="noStrike">
                <a:solidFill>
                  <a:srgbClr val="000000"/>
                </a:solidFill>
                <a:latin typeface="Arial"/>
                <a:ea typeface="Arial"/>
                <a:cs typeface="Arial"/>
                <a:sym typeface="Arial"/>
              </a:rPr>
              <a:t> is an increasingly common use case</a:t>
            </a:r>
            <a:endParaRPr/>
          </a:p>
        </p:txBody>
      </p:sp>
      <p:sp>
        <p:nvSpPr>
          <p:cNvPr id="1074" name="Google Shape;1074;p9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grpSp>
        <p:nvGrpSpPr>
          <p:cNvPr id="1075" name="Google Shape;1075;p97"/>
          <p:cNvGrpSpPr/>
          <p:nvPr/>
        </p:nvGrpSpPr>
        <p:grpSpPr>
          <a:xfrm>
            <a:off x="998012" y="3242904"/>
            <a:ext cx="4088379" cy="3080406"/>
            <a:chOff x="0" y="0"/>
            <a:chExt cx="4088377" cy="3080405"/>
          </a:xfrm>
        </p:grpSpPr>
        <p:pic>
          <p:nvPicPr>
            <p:cNvPr descr="Screenshot 2026-05-09 at 10.12.35 AM.png" id="1076" name="Google Shape;1076;p97"/>
            <p:cNvPicPr preferRelativeResize="0"/>
            <p:nvPr/>
          </p:nvPicPr>
          <p:blipFill rotWithShape="1">
            <a:blip r:embed="rId3">
              <a:alphaModFix/>
            </a:blip>
            <a:srcRect b="0" l="0" r="0" t="0"/>
            <a:stretch/>
          </p:blipFill>
          <p:spPr>
            <a:xfrm>
              <a:off x="141551" y="834140"/>
              <a:ext cx="3805119" cy="2246265"/>
            </a:xfrm>
            <a:prstGeom prst="rect">
              <a:avLst/>
            </a:prstGeom>
            <a:noFill/>
            <a:ln>
              <a:noFill/>
            </a:ln>
          </p:spPr>
        </p:pic>
        <p:pic>
          <p:nvPicPr>
            <p:cNvPr descr="Screenshot 2026-05-09 at 10.12.53 AM.png" id="1077" name="Google Shape;1077;p97"/>
            <p:cNvPicPr preferRelativeResize="0"/>
            <p:nvPr/>
          </p:nvPicPr>
          <p:blipFill rotWithShape="1">
            <a:blip r:embed="rId4">
              <a:alphaModFix/>
            </a:blip>
            <a:srcRect b="0" l="0" r="16971" t="0"/>
            <a:stretch/>
          </p:blipFill>
          <p:spPr>
            <a:xfrm>
              <a:off x="0" y="0"/>
              <a:ext cx="4088377" cy="786975"/>
            </a:xfrm>
            <a:prstGeom prst="rect">
              <a:avLst/>
            </a:prstGeom>
            <a:noFill/>
            <a:ln>
              <a:noFill/>
            </a:ln>
          </p:spPr>
        </p:pic>
      </p:grpSp>
      <p:pic>
        <p:nvPicPr>
          <p:cNvPr descr="pasted-movie.png" id="1078" name="Google Shape;1078;p97"/>
          <p:cNvPicPr preferRelativeResize="0"/>
          <p:nvPr/>
        </p:nvPicPr>
        <p:blipFill rotWithShape="1">
          <a:blip r:embed="rId5">
            <a:alphaModFix/>
          </a:blip>
          <a:srcRect b="0" l="0" r="0" t="0"/>
          <a:stretch/>
        </p:blipFill>
        <p:spPr>
          <a:xfrm>
            <a:off x="6313215" y="5787261"/>
            <a:ext cx="3444265" cy="883781"/>
          </a:xfrm>
          <a:prstGeom prst="rect">
            <a:avLst/>
          </a:prstGeom>
          <a:noFill/>
          <a:ln>
            <a:noFill/>
          </a:ln>
        </p:spPr>
      </p:pic>
      <p:pic>
        <p:nvPicPr>
          <p:cNvPr descr="Screenshot 2026-05-09 at 10.35.03 AM.png" id="1079" name="Google Shape;1079;p97"/>
          <p:cNvPicPr preferRelativeResize="0"/>
          <p:nvPr/>
        </p:nvPicPr>
        <p:blipFill rotWithShape="1">
          <a:blip r:embed="rId6">
            <a:alphaModFix/>
          </a:blip>
          <a:srcRect b="0" l="0" r="0" t="0"/>
          <a:stretch/>
        </p:blipFill>
        <p:spPr>
          <a:xfrm>
            <a:off x="5621300" y="3091965"/>
            <a:ext cx="4990008" cy="2451987"/>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3" name="Shape 1083"/>
        <p:cNvGrpSpPr/>
        <p:nvPr/>
      </p:nvGrpSpPr>
      <p:grpSpPr>
        <a:xfrm>
          <a:off x="0" y="0"/>
          <a:ext cx="0" cy="0"/>
          <a:chOff x="0" y="0"/>
          <a:chExt cx="0" cy="0"/>
        </a:xfrm>
      </p:grpSpPr>
      <p:sp>
        <p:nvSpPr>
          <p:cNvPr id="1084" name="Google Shape;1084;p9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fontScale="90000"/>
          </a:bodyPr>
          <a:lstStyle/>
          <a:p>
            <a:pPr indent="0" lvl="0" marL="0" rtl="0" algn="l">
              <a:lnSpc>
                <a:spcPct val="90000"/>
              </a:lnSpc>
              <a:spcBef>
                <a:spcPts val="0"/>
              </a:spcBef>
              <a:spcAft>
                <a:spcPts val="0"/>
              </a:spcAft>
              <a:buClr>
                <a:srgbClr val="000000"/>
              </a:buClr>
              <a:buSzPct val="100000"/>
              <a:buFont typeface="Play"/>
              <a:buNone/>
            </a:pPr>
            <a:r>
              <a:rPr lang="en-US"/>
              <a:t>Can AI-based chat interfaces help voters make more </a:t>
            </a:r>
            <a:r>
              <a:rPr i="1" lang="en-US">
                <a:solidFill>
                  <a:srgbClr val="C00000"/>
                </a:solidFill>
              </a:rPr>
              <a:t>informed</a:t>
            </a:r>
            <a:r>
              <a:rPr lang="en-US"/>
              <a:t> decisions on ballot measures</a:t>
            </a:r>
            <a:br>
              <a:rPr lang="en-US"/>
            </a:br>
            <a:r>
              <a:rPr lang="en-US"/>
              <a:t>… and </a:t>
            </a:r>
            <a:r>
              <a:rPr i="1" lang="en-US">
                <a:solidFill>
                  <a:srgbClr val="C00000"/>
                </a:solidFill>
              </a:rPr>
              <a:t>explain</a:t>
            </a:r>
            <a:r>
              <a:rPr lang="en-US"/>
              <a:t> them?</a:t>
            </a:r>
            <a:endParaRPr/>
          </a:p>
        </p:txBody>
      </p:sp>
      <p:sp>
        <p:nvSpPr>
          <p:cNvPr id="1085" name="Google Shape;1085;p98"/>
          <p:cNvSpPr txBox="1"/>
          <p:nvPr>
            <p:ph idx="1" type="body"/>
          </p:nvPr>
        </p:nvSpPr>
        <p:spPr>
          <a:xfrm>
            <a:off x="838200" y="2177143"/>
            <a:ext cx="10515600" cy="3999820"/>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lang="en-US"/>
              <a:t>Randomized controlled experiment</a:t>
            </a:r>
            <a:endParaRPr/>
          </a:p>
          <a:p>
            <a:pPr indent="-266700" lvl="1" marL="723900" rtl="0" algn="l">
              <a:lnSpc>
                <a:spcPct val="90000"/>
              </a:lnSpc>
              <a:spcBef>
                <a:spcPts val="1000"/>
              </a:spcBef>
              <a:spcAft>
                <a:spcPts val="0"/>
              </a:spcAft>
              <a:buClr>
                <a:srgbClr val="000000"/>
              </a:buClr>
              <a:buSzPts val="2800"/>
              <a:buChar char="•"/>
            </a:pPr>
            <a:r>
              <a:rPr lang="en-US"/>
              <a:t>Control: Official ballot text</a:t>
            </a:r>
            <a:endParaRPr/>
          </a:p>
          <a:p>
            <a:pPr indent="-266700" lvl="1" marL="723900" rtl="0" algn="l">
              <a:lnSpc>
                <a:spcPct val="90000"/>
              </a:lnSpc>
              <a:spcBef>
                <a:spcPts val="1000"/>
              </a:spcBef>
              <a:spcAft>
                <a:spcPts val="0"/>
              </a:spcAft>
              <a:buClr>
                <a:srgbClr val="000000"/>
              </a:buClr>
              <a:buSzPts val="2800"/>
              <a:buChar char="•"/>
            </a:pPr>
            <a:r>
              <a:rPr lang="en-US"/>
              <a:t>Treatment:</a:t>
            </a:r>
            <a:endParaRPr/>
          </a:p>
          <a:p>
            <a:pPr indent="-320039" lvl="2" marL="1234439" rtl="0" algn="l">
              <a:lnSpc>
                <a:spcPct val="90000"/>
              </a:lnSpc>
              <a:spcBef>
                <a:spcPts val="1000"/>
              </a:spcBef>
              <a:spcAft>
                <a:spcPts val="0"/>
              </a:spcAft>
              <a:buClr>
                <a:srgbClr val="000000"/>
              </a:buClr>
              <a:buSzPts val="2800"/>
              <a:buChar char="•"/>
            </a:pPr>
            <a:r>
              <a:rPr lang="en-US"/>
              <a:t>Ballotpedia</a:t>
            </a:r>
            <a:endParaRPr/>
          </a:p>
          <a:p>
            <a:pPr indent="-320039" lvl="2" marL="1234439" rtl="0" algn="l">
              <a:lnSpc>
                <a:spcPct val="90000"/>
              </a:lnSpc>
              <a:spcBef>
                <a:spcPts val="1000"/>
              </a:spcBef>
              <a:spcAft>
                <a:spcPts val="0"/>
              </a:spcAft>
              <a:buClr>
                <a:srgbClr val="000000"/>
              </a:buClr>
              <a:buSzPts val="2800"/>
              <a:buChar char="•"/>
            </a:pPr>
            <a:r>
              <a:rPr lang="en-US"/>
              <a:t>3 chatbots: Q&amp;A, argumentative, reflective</a:t>
            </a:r>
            <a:endParaRPr/>
          </a:p>
        </p:txBody>
      </p:sp>
      <p:sp>
        <p:nvSpPr>
          <p:cNvPr id="1086" name="Google Shape;1086;p9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0" name="Shape 1090"/>
        <p:cNvGrpSpPr/>
        <p:nvPr/>
      </p:nvGrpSpPr>
      <p:grpSpPr>
        <a:xfrm>
          <a:off x="0" y="0"/>
          <a:ext cx="0" cy="0"/>
          <a:chOff x="0" y="0"/>
          <a:chExt cx="0" cy="0"/>
        </a:xfrm>
      </p:grpSpPr>
      <p:sp>
        <p:nvSpPr>
          <p:cNvPr id="1091" name="Google Shape;1091;p9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fontScale="90000"/>
          </a:bodyPr>
          <a:lstStyle/>
          <a:p>
            <a:pPr indent="0" lvl="0" marL="0" rtl="0" algn="l">
              <a:lnSpc>
                <a:spcPct val="90000"/>
              </a:lnSpc>
              <a:spcBef>
                <a:spcPts val="0"/>
              </a:spcBef>
              <a:spcAft>
                <a:spcPts val="0"/>
              </a:spcAft>
              <a:buClr>
                <a:srgbClr val="000000"/>
              </a:buClr>
              <a:buSzPct val="100000"/>
              <a:buFont typeface="Play"/>
              <a:buNone/>
            </a:pPr>
            <a:r>
              <a:rPr lang="en-US"/>
              <a:t>Can AI-based chat interfaces help voters make more </a:t>
            </a:r>
            <a:r>
              <a:rPr i="1" lang="en-US">
                <a:solidFill>
                  <a:srgbClr val="C00000"/>
                </a:solidFill>
              </a:rPr>
              <a:t>informed</a:t>
            </a:r>
            <a:r>
              <a:rPr lang="en-US"/>
              <a:t> decisions on ballot measures</a:t>
            </a:r>
            <a:br>
              <a:rPr lang="en-US"/>
            </a:br>
            <a:r>
              <a:rPr lang="en-US"/>
              <a:t>… and </a:t>
            </a:r>
            <a:r>
              <a:rPr i="1" lang="en-US">
                <a:solidFill>
                  <a:srgbClr val="C00000"/>
                </a:solidFill>
              </a:rPr>
              <a:t>explain</a:t>
            </a:r>
            <a:r>
              <a:rPr lang="en-US"/>
              <a:t> them?</a:t>
            </a:r>
            <a:endParaRPr/>
          </a:p>
        </p:txBody>
      </p:sp>
      <p:sp>
        <p:nvSpPr>
          <p:cNvPr id="1092" name="Google Shape;1092;p99"/>
          <p:cNvSpPr txBox="1"/>
          <p:nvPr>
            <p:ph idx="1" type="body"/>
          </p:nvPr>
        </p:nvSpPr>
        <p:spPr>
          <a:xfrm>
            <a:off x="838200" y="2177143"/>
            <a:ext cx="10515600" cy="7935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lang="en-US"/>
              <a:t>Randomized controlled experiment</a:t>
            </a:r>
            <a:endParaRPr/>
          </a:p>
        </p:txBody>
      </p:sp>
      <p:pic>
        <p:nvPicPr>
          <p:cNvPr descr="Image" id="1093" name="Google Shape;1093;p99"/>
          <p:cNvPicPr preferRelativeResize="0"/>
          <p:nvPr/>
        </p:nvPicPr>
        <p:blipFill rotWithShape="1">
          <a:blip r:embed="rId3">
            <a:alphaModFix/>
          </a:blip>
          <a:srcRect b="73037" l="50191" r="16668" t="12320"/>
          <a:stretch/>
        </p:blipFill>
        <p:spPr>
          <a:xfrm>
            <a:off x="667715" y="3551829"/>
            <a:ext cx="2818558" cy="2068945"/>
          </a:xfrm>
          <a:prstGeom prst="rect">
            <a:avLst/>
          </a:prstGeom>
          <a:noFill/>
          <a:ln>
            <a:noFill/>
          </a:ln>
        </p:spPr>
      </p:pic>
      <p:pic>
        <p:nvPicPr>
          <p:cNvPr descr="Ballotpedia-logo-with-tagline-color-PMS-2020 Logo - Florida Rights  Restoration Coalition" id="1094" name="Google Shape;1094;p99"/>
          <p:cNvPicPr preferRelativeResize="0"/>
          <p:nvPr/>
        </p:nvPicPr>
        <p:blipFill rotWithShape="1">
          <a:blip r:embed="rId4">
            <a:alphaModFix/>
          </a:blip>
          <a:srcRect b="0" l="0" r="0" t="0"/>
          <a:stretch/>
        </p:blipFill>
        <p:spPr>
          <a:xfrm>
            <a:off x="3999533" y="3800600"/>
            <a:ext cx="2850064" cy="1486990"/>
          </a:xfrm>
          <a:prstGeom prst="rect">
            <a:avLst/>
          </a:prstGeom>
          <a:noFill/>
          <a:ln>
            <a:noFill/>
          </a:ln>
        </p:spPr>
      </p:pic>
      <p:pic>
        <p:nvPicPr>
          <p:cNvPr id="1095" name="Google Shape;1095;p99"/>
          <p:cNvPicPr preferRelativeResize="0"/>
          <p:nvPr/>
        </p:nvPicPr>
        <p:blipFill rotWithShape="1">
          <a:blip r:embed="rId5">
            <a:alphaModFix/>
          </a:blip>
          <a:srcRect b="0" l="0" r="0" t="0"/>
          <a:stretch/>
        </p:blipFill>
        <p:spPr>
          <a:xfrm>
            <a:off x="7150042" y="3621925"/>
            <a:ext cx="4308260" cy="1844339"/>
          </a:xfrm>
          <a:prstGeom prst="rect">
            <a:avLst/>
          </a:prstGeom>
          <a:noFill/>
          <a:ln>
            <a:noFill/>
          </a:ln>
        </p:spPr>
      </p:pic>
      <p:sp>
        <p:nvSpPr>
          <p:cNvPr id="1096" name="Google Shape;1096;p99"/>
          <p:cNvSpPr txBox="1"/>
          <p:nvPr/>
        </p:nvSpPr>
        <p:spPr>
          <a:xfrm>
            <a:off x="667715" y="3053014"/>
            <a:ext cx="3122020"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Control: Official ballot text</a:t>
            </a:r>
            <a:endParaRPr/>
          </a:p>
        </p:txBody>
      </p:sp>
      <p:sp>
        <p:nvSpPr>
          <p:cNvPr id="1097" name="Google Shape;1097;p99"/>
          <p:cNvSpPr txBox="1"/>
          <p:nvPr/>
        </p:nvSpPr>
        <p:spPr>
          <a:xfrm>
            <a:off x="6480853" y="3051410"/>
            <a:ext cx="3122020"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 Treatment conditions</a:t>
            </a:r>
            <a:endParaRPr b="0" i="0" sz="1800" u="none" cap="none" strike="noStrike">
              <a:solidFill>
                <a:srgbClr val="000000"/>
              </a:solidFill>
              <a:latin typeface="Arial"/>
              <a:ea typeface="Arial"/>
              <a:cs typeface="Arial"/>
              <a:sym typeface="Arial"/>
            </a:endParaRPr>
          </a:p>
        </p:txBody>
      </p:sp>
      <p:cxnSp>
        <p:nvCxnSpPr>
          <p:cNvPr id="1098" name="Google Shape;1098;p99"/>
          <p:cNvCxnSpPr/>
          <p:nvPr/>
        </p:nvCxnSpPr>
        <p:spPr>
          <a:xfrm>
            <a:off x="3808659" y="3085939"/>
            <a:ext cx="0" cy="2916313"/>
          </a:xfrm>
          <a:prstGeom prst="straightConnector1">
            <a:avLst/>
          </a:prstGeom>
          <a:noFill/>
          <a:ln cap="flat" cmpd="sng" w="28575">
            <a:solidFill>
              <a:schemeClr val="dk1"/>
            </a:solidFill>
            <a:prstDash val="solid"/>
            <a:round/>
            <a:headEnd len="sm" w="sm" type="none"/>
            <a:tailEnd len="sm" w="sm" type="none"/>
          </a:ln>
        </p:spPr>
      </p:cxnSp>
      <p:sp>
        <p:nvSpPr>
          <p:cNvPr id="1099" name="Google Shape;1099;p9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100"/>
          <p:cNvSpPr txBox="1"/>
          <p:nvPr>
            <p:ph type="title"/>
          </p:nvPr>
        </p:nvSpPr>
        <p:spPr>
          <a:xfrm>
            <a:off x="838200" y="365125"/>
            <a:ext cx="10824167"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Related Work on LLM Evaluation &amp; Efficiency</a:t>
            </a:r>
            <a:endParaRPr/>
          </a:p>
        </p:txBody>
      </p:sp>
      <p:sp>
        <p:nvSpPr>
          <p:cNvPr id="1105" name="Google Shape;1105;p100"/>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lnSpcReduction="10000"/>
          </a:bodyPr>
          <a:lstStyle/>
          <a:p>
            <a:pPr indent="-224027" lvl="0" marL="224027" rtl="0" algn="l">
              <a:lnSpc>
                <a:spcPct val="120000"/>
              </a:lnSpc>
              <a:spcBef>
                <a:spcPts val="0"/>
              </a:spcBef>
              <a:spcAft>
                <a:spcPts val="0"/>
              </a:spcAft>
              <a:buClr>
                <a:srgbClr val="000000"/>
              </a:buClr>
              <a:buSzPts val="2548"/>
              <a:buChar char="•"/>
            </a:pPr>
            <a:r>
              <a:rPr lang="en-US" sz="2548"/>
              <a:t>LLMs as negotiators </a:t>
            </a:r>
            <a:r>
              <a:rPr lang="en-US" sz="1960"/>
              <a:t>[Shah, Agarwal, Garg, </a:t>
            </a:r>
            <a:r>
              <a:rPr b="1" lang="en-US" sz="1960"/>
              <a:t>Heddaya</a:t>
            </a:r>
            <a:r>
              <a:rPr lang="en-US" sz="1960"/>
              <a:t> 2025]</a:t>
            </a:r>
            <a:endParaRPr/>
          </a:p>
          <a:p>
            <a:pPr indent="-224027" lvl="1" marL="672084" rtl="0" algn="l">
              <a:lnSpc>
                <a:spcPct val="120000"/>
              </a:lnSpc>
              <a:spcBef>
                <a:spcPts val="900"/>
              </a:spcBef>
              <a:spcAft>
                <a:spcPts val="0"/>
              </a:spcAft>
              <a:buClr>
                <a:srgbClr val="000000"/>
              </a:buClr>
              <a:buSzPts val="2352"/>
              <a:buChar char="•"/>
            </a:pPr>
            <a:r>
              <a:rPr lang="en-US" sz="2352"/>
              <a:t>LLMs systematically anchor at negotiation extremes and ignore leverage/context, unlike humans, they don't adapt strategies to the situation.</a:t>
            </a:r>
            <a:endParaRPr/>
          </a:p>
          <a:p>
            <a:pPr indent="-224027" lvl="0" marL="224027" rtl="0" algn="l">
              <a:lnSpc>
                <a:spcPct val="120000"/>
              </a:lnSpc>
              <a:spcBef>
                <a:spcPts val="900"/>
              </a:spcBef>
              <a:spcAft>
                <a:spcPts val="0"/>
              </a:spcAft>
              <a:buClr>
                <a:srgbClr val="000000"/>
              </a:buClr>
              <a:buSzPts val="2548"/>
              <a:buChar char="•"/>
            </a:pPr>
            <a:r>
              <a:rPr lang="en-US" sz="2548"/>
              <a:t>Compressing reasoning traces </a:t>
            </a:r>
            <a:r>
              <a:rPr lang="en-US" sz="1960"/>
              <a:t>[</a:t>
            </a:r>
            <a:r>
              <a:rPr b="1" lang="en-US" sz="1960"/>
              <a:t>Heddaya</a:t>
            </a:r>
            <a:r>
              <a:rPr lang="en-US" sz="1960"/>
              <a:t> et al. 2026]</a:t>
            </a:r>
            <a:endParaRPr/>
          </a:p>
          <a:p>
            <a:pPr indent="-224027" lvl="1" marL="672084" rtl="0" algn="l">
              <a:lnSpc>
                <a:spcPct val="120000"/>
              </a:lnSpc>
              <a:spcBef>
                <a:spcPts val="900"/>
              </a:spcBef>
              <a:spcAft>
                <a:spcPts val="0"/>
              </a:spcAft>
              <a:buClr>
                <a:srgbClr val="000000"/>
              </a:buClr>
              <a:buSzPts val="2352"/>
              <a:buChar char="•"/>
            </a:pPr>
            <a:r>
              <a:rPr lang="en-US" sz="2352"/>
              <a:t>Reasoning models are slow and costly.</a:t>
            </a:r>
            <a:endParaRPr/>
          </a:p>
          <a:p>
            <a:pPr indent="-224027" lvl="1" marL="672084" rtl="0" algn="l">
              <a:lnSpc>
                <a:spcPct val="120000"/>
              </a:lnSpc>
              <a:spcBef>
                <a:spcPts val="900"/>
              </a:spcBef>
              <a:spcAft>
                <a:spcPts val="0"/>
              </a:spcAft>
              <a:buClr>
                <a:srgbClr val="000000"/>
              </a:buClr>
              <a:buSzPts val="2352"/>
              <a:buChar char="•"/>
            </a:pPr>
            <a:r>
              <a:rPr lang="en-US" sz="2352"/>
              <a:t>Full reasoning internalization does not scale to complex domains.</a:t>
            </a:r>
            <a:endParaRPr/>
          </a:p>
          <a:p>
            <a:pPr indent="-224027" lvl="1" marL="672084" rtl="0" algn="l">
              <a:lnSpc>
                <a:spcPct val="120000"/>
              </a:lnSpc>
              <a:spcBef>
                <a:spcPts val="900"/>
              </a:spcBef>
              <a:spcAft>
                <a:spcPts val="0"/>
              </a:spcAft>
              <a:buClr>
                <a:srgbClr val="000000"/>
              </a:buClr>
              <a:buSzPts val="2352"/>
              <a:buChar char="•"/>
            </a:pPr>
            <a:r>
              <a:rPr lang="en-US" sz="2352"/>
              <a:t>But reasoning can be significantly compressed with reasonable performance tradeoff.</a:t>
            </a:r>
            <a:endParaRPr/>
          </a:p>
        </p:txBody>
      </p:sp>
      <p:sp>
        <p:nvSpPr>
          <p:cNvPr id="1106" name="Google Shape;1106;p10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0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Ballotpedia drops CO yes by 30% but raises FL yes by 13%</a:t>
            </a:r>
            <a:endParaRPr/>
          </a:p>
        </p:txBody>
      </p:sp>
      <p:pic>
        <p:nvPicPr>
          <p:cNvPr id="1112" name="Google Shape;1112;p101"/>
          <p:cNvPicPr preferRelativeResize="0"/>
          <p:nvPr/>
        </p:nvPicPr>
        <p:blipFill rotWithShape="1">
          <a:blip r:embed="rId3">
            <a:alphaModFix/>
          </a:blip>
          <a:srcRect b="21168" l="0" r="0" t="7021"/>
          <a:stretch/>
        </p:blipFill>
        <p:spPr>
          <a:xfrm>
            <a:off x="1176865" y="2057400"/>
            <a:ext cx="9482668" cy="3750733"/>
          </a:xfrm>
          <a:prstGeom prst="rect">
            <a:avLst/>
          </a:prstGeom>
          <a:noFill/>
          <a:ln>
            <a:noFill/>
          </a:ln>
        </p:spPr>
      </p:pic>
      <p:sp>
        <p:nvSpPr>
          <p:cNvPr id="1113" name="Google Shape;1113;p101"/>
          <p:cNvSpPr/>
          <p:nvPr/>
        </p:nvSpPr>
        <p:spPr>
          <a:xfrm>
            <a:off x="4868334" y="2904062"/>
            <a:ext cx="795866" cy="2926080"/>
          </a:xfrm>
          <a:prstGeom prst="rect">
            <a:avLst/>
          </a:prstGeom>
          <a:noFill/>
          <a:ln cap="flat" cmpd="sng" w="38100">
            <a:solidFill>
              <a:schemeClr val="dk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4" name="Google Shape;1114;p101"/>
          <p:cNvSpPr/>
          <p:nvPr/>
        </p:nvSpPr>
        <p:spPr>
          <a:xfrm>
            <a:off x="8923868" y="2904062"/>
            <a:ext cx="795866" cy="2926080"/>
          </a:xfrm>
          <a:prstGeom prst="rect">
            <a:avLst/>
          </a:prstGeom>
          <a:noFill/>
          <a:ln cap="flat" cmpd="sng" w="38100">
            <a:solidFill>
              <a:schemeClr val="dk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5" name="Google Shape;1115;p101"/>
          <p:cNvSpPr/>
          <p:nvPr/>
        </p:nvSpPr>
        <p:spPr>
          <a:xfrm>
            <a:off x="1828800" y="2882053"/>
            <a:ext cx="1549399" cy="2926080"/>
          </a:xfrm>
          <a:prstGeom prst="rect">
            <a:avLst/>
          </a:prstGeom>
          <a:noFill/>
          <a:ln cap="flat" cmpd="sng" w="38100">
            <a:solidFill>
              <a:schemeClr val="dk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6" name="Google Shape;1116;p101"/>
          <p:cNvSpPr/>
          <p:nvPr/>
        </p:nvSpPr>
        <p:spPr>
          <a:xfrm>
            <a:off x="6646336" y="2882053"/>
            <a:ext cx="1549399" cy="2926080"/>
          </a:xfrm>
          <a:prstGeom prst="rect">
            <a:avLst/>
          </a:prstGeom>
          <a:noFill/>
          <a:ln cap="flat" cmpd="sng" w="38100">
            <a:solidFill>
              <a:schemeClr val="dk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117" name="Google Shape;1117;p101"/>
          <p:cNvCxnSpPr/>
          <p:nvPr/>
        </p:nvCxnSpPr>
        <p:spPr>
          <a:xfrm>
            <a:off x="2988735" y="3869268"/>
            <a:ext cx="0" cy="558800"/>
          </a:xfrm>
          <a:prstGeom prst="straightConnector1">
            <a:avLst/>
          </a:prstGeom>
          <a:noFill/>
          <a:ln cap="flat" cmpd="sng" w="28575">
            <a:solidFill>
              <a:schemeClr val="dk1"/>
            </a:solidFill>
            <a:prstDash val="solid"/>
            <a:round/>
            <a:headEnd len="sm" w="sm" type="none"/>
            <a:tailEnd len="med" w="med" type="triangle"/>
          </a:ln>
        </p:spPr>
      </p:cxnSp>
      <p:cxnSp>
        <p:nvCxnSpPr>
          <p:cNvPr id="1118" name="Google Shape;1118;p101"/>
          <p:cNvCxnSpPr/>
          <p:nvPr/>
        </p:nvCxnSpPr>
        <p:spPr>
          <a:xfrm rot="10800000">
            <a:off x="7797801" y="4367102"/>
            <a:ext cx="0" cy="230298"/>
          </a:xfrm>
          <a:prstGeom prst="straightConnector1">
            <a:avLst/>
          </a:prstGeom>
          <a:noFill/>
          <a:ln cap="flat" cmpd="sng" w="28575">
            <a:solidFill>
              <a:schemeClr val="dk1"/>
            </a:solidFill>
            <a:prstDash val="solid"/>
            <a:round/>
            <a:headEnd len="sm" w="sm" type="none"/>
            <a:tailEnd len="med" w="med" type="triangle"/>
          </a:ln>
        </p:spPr>
      </p:cxnSp>
      <p:sp>
        <p:nvSpPr>
          <p:cNvPr id="1119" name="Google Shape;1119;p10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02"/>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p>
            <a:pPr indent="0" lvl="0" marL="0" rtl="0" algn="l">
              <a:lnSpc>
                <a:spcPct val="90000"/>
              </a:lnSpc>
              <a:spcBef>
                <a:spcPts val="0"/>
              </a:spcBef>
              <a:spcAft>
                <a:spcPts val="0"/>
              </a:spcAft>
              <a:buClr>
                <a:srgbClr val="000000"/>
              </a:buClr>
              <a:buSzPts val="6000"/>
              <a:buFont typeface="Play"/>
              <a:buNone/>
            </a:pPr>
            <a:r>
              <a:rPr lang="en-US" sz="6000"/>
              <a:t>Ongoing &amp;</a:t>
            </a:r>
            <a:endParaRPr/>
          </a:p>
          <a:p>
            <a:pPr indent="0" lvl="0" marL="0" rtl="0" algn="l">
              <a:lnSpc>
                <a:spcPct val="90000"/>
              </a:lnSpc>
              <a:spcBef>
                <a:spcPts val="0"/>
              </a:spcBef>
              <a:spcAft>
                <a:spcPts val="0"/>
              </a:spcAft>
              <a:buClr>
                <a:srgbClr val="000000"/>
              </a:buClr>
              <a:buSzPts val="6000"/>
              <a:buFont typeface="Play"/>
              <a:buNone/>
            </a:pPr>
            <a:r>
              <a:rPr lang="en-US" sz="6000"/>
              <a:t>Proposed Work</a:t>
            </a:r>
            <a:endParaRPr/>
          </a:p>
        </p:txBody>
      </p:sp>
      <p:sp>
        <p:nvSpPr>
          <p:cNvPr id="1125" name="Google Shape;1125;p102"/>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p>
            <a:pPr indent="0" lvl="0" marL="0" rtl="0" algn="l">
              <a:lnSpc>
                <a:spcPct val="120000"/>
              </a:lnSpc>
              <a:spcBef>
                <a:spcPts val="0"/>
              </a:spcBef>
              <a:spcAft>
                <a:spcPts val="0"/>
              </a:spcAft>
              <a:buClr>
                <a:srgbClr val="757575"/>
              </a:buClr>
              <a:buSzPts val="2400"/>
              <a:buNone/>
            </a:pPr>
            <a:r>
              <a:t/>
            </a:r>
            <a:endParaRPr/>
          </a:p>
        </p:txBody>
      </p:sp>
      <p:sp>
        <p:nvSpPr>
          <p:cNvPr id="1126" name="Google Shape;1126;p10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03"/>
          <p:cNvSpPr txBox="1"/>
          <p:nvPr>
            <p:ph type="title"/>
          </p:nvPr>
        </p:nvSpPr>
        <p:spPr>
          <a:xfrm>
            <a:off x="694266" y="271991"/>
            <a:ext cx="10803467"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000"/>
              <a:buFont typeface="Play"/>
              <a:buNone/>
            </a:pPr>
            <a:r>
              <a:rPr lang="en-US" sz="4000"/>
              <a:t>Better LLMs unlock new uses in complex domains…</a:t>
            </a:r>
            <a:endParaRPr/>
          </a:p>
        </p:txBody>
      </p:sp>
      <p:sp>
        <p:nvSpPr>
          <p:cNvPr id="1132" name="Google Shape;1132;p103"/>
          <p:cNvSpPr txBox="1"/>
          <p:nvPr>
            <p:ph idx="1" type="body"/>
          </p:nvPr>
        </p:nvSpPr>
        <p:spPr>
          <a:xfrm>
            <a:off x="770466" y="4842933"/>
            <a:ext cx="10727267" cy="1580892"/>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lang="en-US"/>
              <a:t>But evaluation is a bottleneck</a:t>
            </a:r>
            <a:endParaRPr/>
          </a:p>
          <a:p>
            <a:pPr indent="-514350" lvl="1" marL="971550" rtl="0" algn="l">
              <a:lnSpc>
                <a:spcPct val="90000"/>
              </a:lnSpc>
              <a:spcBef>
                <a:spcPts val="1000"/>
              </a:spcBef>
              <a:spcAft>
                <a:spcPts val="0"/>
              </a:spcAft>
              <a:buClr>
                <a:srgbClr val="000000"/>
              </a:buClr>
              <a:buSzPts val="2800"/>
              <a:buFont typeface="Arial"/>
              <a:buAutoNum type="arabicPeriod"/>
            </a:pPr>
            <a:r>
              <a:rPr lang="en-US"/>
              <a:t>Good data to build benchmarks is hard to find</a:t>
            </a:r>
            <a:endParaRPr/>
          </a:p>
          <a:p>
            <a:pPr indent="-514350" lvl="1" marL="971550" rtl="0" algn="l">
              <a:lnSpc>
                <a:spcPct val="90000"/>
              </a:lnSpc>
              <a:spcBef>
                <a:spcPts val="1000"/>
              </a:spcBef>
              <a:spcAft>
                <a:spcPts val="0"/>
              </a:spcAft>
              <a:buClr>
                <a:srgbClr val="000000"/>
              </a:buClr>
              <a:buSzPts val="2800"/>
              <a:buFont typeface="Arial"/>
              <a:buAutoNum type="arabicPeriod"/>
            </a:pPr>
            <a:r>
              <a:rPr lang="en-US"/>
              <a:t>Model performance is hard to measure</a:t>
            </a:r>
            <a:endParaRPr/>
          </a:p>
        </p:txBody>
      </p:sp>
      <p:pic>
        <p:nvPicPr>
          <p:cNvPr descr="Understanding the Impact of Increasing LLM Context Windows - Meibel" id="1133" name="Google Shape;1133;p103"/>
          <p:cNvPicPr preferRelativeResize="0"/>
          <p:nvPr/>
        </p:nvPicPr>
        <p:blipFill rotWithShape="1">
          <a:blip r:embed="rId3">
            <a:alphaModFix/>
          </a:blip>
          <a:srcRect b="0" l="0" r="0" t="5165"/>
          <a:stretch/>
        </p:blipFill>
        <p:spPr>
          <a:xfrm>
            <a:off x="5914908" y="1565739"/>
            <a:ext cx="5100225" cy="2814881"/>
          </a:xfrm>
          <a:prstGeom prst="rect">
            <a:avLst/>
          </a:prstGeom>
          <a:noFill/>
          <a:ln>
            <a:noFill/>
          </a:ln>
        </p:spPr>
      </p:pic>
      <p:pic>
        <p:nvPicPr>
          <p:cNvPr descr="Picture 8" id="1134" name="Google Shape;1134;p103"/>
          <p:cNvPicPr preferRelativeResize="0"/>
          <p:nvPr/>
        </p:nvPicPr>
        <p:blipFill rotWithShape="1">
          <a:blip r:embed="rId4">
            <a:alphaModFix/>
          </a:blip>
          <a:srcRect b="0" l="0" r="0" t="0"/>
          <a:stretch/>
        </p:blipFill>
        <p:spPr>
          <a:xfrm>
            <a:off x="1829116" y="1497888"/>
            <a:ext cx="3081552" cy="2950585"/>
          </a:xfrm>
          <a:prstGeom prst="rect">
            <a:avLst/>
          </a:prstGeom>
          <a:noFill/>
          <a:ln>
            <a:noFill/>
          </a:ln>
        </p:spPr>
      </p:pic>
      <p:sp>
        <p:nvSpPr>
          <p:cNvPr id="1135" name="Google Shape;1135;p10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10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Developing and evaluating AI interactions that support human deliberation</a:t>
            </a:r>
            <a:endParaRPr/>
          </a:p>
        </p:txBody>
      </p:sp>
      <p:sp>
        <p:nvSpPr>
          <p:cNvPr id="1141" name="Google Shape;1141;p104"/>
          <p:cNvSpPr txBox="1"/>
          <p:nvPr>
            <p:ph idx="1" type="body"/>
          </p:nvPr>
        </p:nvSpPr>
        <p:spPr>
          <a:xfrm>
            <a:off x="838200" y="2541856"/>
            <a:ext cx="10515600" cy="3635107"/>
          </a:xfrm>
          <a:prstGeom prst="rect">
            <a:avLst/>
          </a:prstGeom>
          <a:noFill/>
          <a:ln>
            <a:noFill/>
          </a:ln>
        </p:spPr>
        <p:txBody>
          <a:bodyPr anchorCtr="0" anchor="t" bIns="45700" lIns="45700" spcFirstLastPara="1" rIns="45700" wrap="square" tIns="45700">
            <a:normAutofit/>
          </a:bodyPr>
          <a:lstStyle/>
          <a:p>
            <a:pPr indent="-228600" lvl="0" marL="228600" rtl="0" algn="l">
              <a:lnSpc>
                <a:spcPct val="12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AI can mediate how people engage with complex decisions.</a:t>
            </a:r>
            <a:endParaRPr/>
          </a:p>
          <a:p>
            <a:pPr indent="-228600" lvl="0" marL="228600" rtl="0" algn="l">
              <a:lnSpc>
                <a:spcPct val="12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How do these interactions shape new understanding and challenge existing intuitions or beliefs in consequential domains?</a:t>
            </a:r>
            <a:endParaRPr/>
          </a:p>
        </p:txBody>
      </p:sp>
      <p:sp>
        <p:nvSpPr>
          <p:cNvPr id="1142" name="Google Shape;1142;p10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10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Voters face complex ballot measures with little support</a:t>
            </a:r>
            <a:endParaRPr/>
          </a:p>
        </p:txBody>
      </p:sp>
      <p:sp>
        <p:nvSpPr>
          <p:cNvPr id="1148" name="Google Shape;1148;p10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descr="Image" id="1149" name="Google Shape;1149;p105"/>
          <p:cNvPicPr preferRelativeResize="0"/>
          <p:nvPr/>
        </p:nvPicPr>
        <p:blipFill rotWithShape="1">
          <a:blip r:embed="rId3">
            <a:alphaModFix/>
          </a:blip>
          <a:srcRect b="56073" l="8239" r="8239" t="11729"/>
          <a:stretch/>
        </p:blipFill>
        <p:spPr>
          <a:xfrm>
            <a:off x="1696441" y="2036917"/>
            <a:ext cx="3052613" cy="1955161"/>
          </a:xfrm>
          <a:prstGeom prst="rect">
            <a:avLst/>
          </a:prstGeom>
          <a:noFill/>
          <a:ln>
            <a:noFill/>
          </a:ln>
        </p:spPr>
      </p:pic>
      <p:sp>
        <p:nvSpPr>
          <p:cNvPr id="1150" name="Google Shape;1150;p105"/>
          <p:cNvSpPr/>
          <p:nvPr/>
        </p:nvSpPr>
        <p:spPr>
          <a:xfrm>
            <a:off x="3214917" y="2057514"/>
            <a:ext cx="1250490" cy="908210"/>
          </a:xfrm>
          <a:prstGeom prst="rect">
            <a:avLst/>
          </a:prstGeom>
          <a:noFill/>
          <a:ln cap="flat" cmpd="sng" w="3810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151" name="Google Shape;1151;p105"/>
          <p:cNvGrpSpPr/>
          <p:nvPr/>
        </p:nvGrpSpPr>
        <p:grpSpPr>
          <a:xfrm>
            <a:off x="6186087" y="1734883"/>
            <a:ext cx="3245075" cy="2324332"/>
            <a:chOff x="0" y="0"/>
            <a:chExt cx="3245074" cy="2324331"/>
          </a:xfrm>
        </p:grpSpPr>
        <p:pic>
          <p:nvPicPr>
            <p:cNvPr descr="Image" id="1152" name="Google Shape;1152;p105"/>
            <p:cNvPicPr preferRelativeResize="0"/>
            <p:nvPr/>
          </p:nvPicPr>
          <p:blipFill rotWithShape="1">
            <a:blip r:embed="rId3">
              <a:alphaModFix/>
            </a:blip>
            <a:srcRect b="73037" l="49781" r="15977" t="12200"/>
            <a:stretch/>
          </p:blipFill>
          <p:spPr>
            <a:xfrm>
              <a:off x="0" y="0"/>
              <a:ext cx="3245074" cy="2324331"/>
            </a:xfrm>
            <a:prstGeom prst="rect">
              <a:avLst/>
            </a:prstGeom>
            <a:noFill/>
            <a:ln>
              <a:noFill/>
            </a:ln>
          </p:spPr>
        </p:pic>
        <p:sp>
          <p:nvSpPr>
            <p:cNvPr id="1153" name="Google Shape;1153;p105"/>
            <p:cNvSpPr/>
            <p:nvPr/>
          </p:nvSpPr>
          <p:spPr>
            <a:xfrm>
              <a:off x="14547" y="13297"/>
              <a:ext cx="3200639" cy="2297768"/>
            </a:xfrm>
            <a:prstGeom prst="rect">
              <a:avLst/>
            </a:prstGeom>
            <a:noFill/>
            <a:ln cap="flat" cmpd="sng" w="6350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154" name="Google Shape;1154;p105"/>
          <p:cNvCxnSpPr/>
          <p:nvPr/>
        </p:nvCxnSpPr>
        <p:spPr>
          <a:xfrm>
            <a:off x="3211842" y="2969170"/>
            <a:ext cx="2973637" cy="1087065"/>
          </a:xfrm>
          <a:prstGeom prst="straightConnector1">
            <a:avLst/>
          </a:prstGeom>
          <a:noFill/>
          <a:ln cap="flat" cmpd="sng" w="38100">
            <a:solidFill>
              <a:srgbClr val="000000"/>
            </a:solidFill>
            <a:prstDash val="solid"/>
            <a:miter lim="8000"/>
            <a:headEnd len="sm" w="sm" type="none"/>
            <a:tailEnd len="sm" w="sm" type="none"/>
          </a:ln>
        </p:spPr>
      </p:cxnSp>
      <p:cxnSp>
        <p:nvCxnSpPr>
          <p:cNvPr id="1155" name="Google Shape;1155;p105"/>
          <p:cNvCxnSpPr/>
          <p:nvPr/>
        </p:nvCxnSpPr>
        <p:spPr>
          <a:xfrm flipH="1" rot="10800000">
            <a:off x="3213912" y="1737205"/>
            <a:ext cx="2982338" cy="320392"/>
          </a:xfrm>
          <a:prstGeom prst="straightConnector1">
            <a:avLst/>
          </a:prstGeom>
          <a:noFill/>
          <a:ln cap="flat" cmpd="sng" w="38100">
            <a:solidFill>
              <a:srgbClr val="000000"/>
            </a:solidFill>
            <a:prstDash val="solid"/>
            <a:miter lim="8000"/>
            <a:headEnd len="sm" w="sm" type="none"/>
            <a:tailEnd len="sm" w="sm" type="none"/>
          </a:ln>
        </p:spPr>
      </p:cxnSp>
      <p:sp>
        <p:nvSpPr>
          <p:cNvPr id="1156" name="Google Shape;1156;p105"/>
          <p:cNvSpPr txBox="1"/>
          <p:nvPr>
            <p:ph idx="4294967295" type="body"/>
          </p:nvPr>
        </p:nvSpPr>
        <p:spPr>
          <a:xfrm>
            <a:off x="838200" y="4376312"/>
            <a:ext cx="10515600" cy="2128291"/>
          </a:xfrm>
          <a:prstGeom prst="rect">
            <a:avLst/>
          </a:prstGeom>
          <a:noFill/>
          <a:ln>
            <a:noFill/>
          </a:ln>
        </p:spPr>
        <p:txBody>
          <a:bodyPr anchorCtr="0" anchor="t" bIns="45700" lIns="45700" spcFirstLastPara="1" rIns="45700" wrap="square" tIns="45700">
            <a:normAutofit/>
          </a:bodyPr>
          <a:lstStyle/>
          <a:p>
            <a:pPr indent="-194310" lvl="0" marL="194310" rtl="0" algn="l">
              <a:lnSpc>
                <a:spcPct val="100000"/>
              </a:lnSpc>
              <a:spcBef>
                <a:spcPts val="0"/>
              </a:spcBef>
              <a:spcAft>
                <a:spcPts val="0"/>
              </a:spcAft>
              <a:buClr>
                <a:srgbClr val="000000"/>
              </a:buClr>
              <a:buSzPts val="2380"/>
              <a:buChar char="•"/>
            </a:pPr>
            <a:r>
              <a:rPr lang="en-US" sz="2380"/>
              <a:t>Ballot measures are laws that citizens in the U.S. vote on directly.</a:t>
            </a:r>
            <a:endParaRPr/>
          </a:p>
          <a:p>
            <a:pPr indent="-194310" lvl="0" marL="194310" rtl="0" algn="l">
              <a:lnSpc>
                <a:spcPct val="100000"/>
              </a:lnSpc>
              <a:spcBef>
                <a:spcPts val="800"/>
              </a:spcBef>
              <a:spcAft>
                <a:spcPts val="0"/>
              </a:spcAft>
              <a:buClr>
                <a:srgbClr val="000000"/>
              </a:buClr>
              <a:buSzPts val="2380"/>
              <a:buChar char="•"/>
            </a:pPr>
            <a:r>
              <a:rPr lang="en-US" sz="2380"/>
              <a:t>Ballot measures decide consequential policy but are written in dense legal language.</a:t>
            </a:r>
            <a:endParaRPr/>
          </a:p>
          <a:p>
            <a:pPr indent="-194310" lvl="0" marL="194310" rtl="0" algn="l">
              <a:lnSpc>
                <a:spcPct val="100000"/>
              </a:lnSpc>
              <a:spcBef>
                <a:spcPts val="800"/>
              </a:spcBef>
              <a:spcAft>
                <a:spcPts val="0"/>
              </a:spcAft>
              <a:buClr>
                <a:srgbClr val="000000"/>
              </a:buClr>
              <a:buSzPts val="2380"/>
              <a:buChar char="•"/>
            </a:pPr>
            <a:r>
              <a:rPr lang="en-US" sz="2380"/>
              <a:t>Goal: Support informed judgement without manipulating voter values or preferences.</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106"/>
          <p:cNvSpPr txBox="1"/>
          <p:nvPr>
            <p:ph type="title"/>
          </p:nvPr>
        </p:nvSpPr>
        <p:spPr>
          <a:xfrm>
            <a:off x="838200" y="365125"/>
            <a:ext cx="10831258"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Engagement vs. understanding</a:t>
            </a:r>
            <a:endParaRPr/>
          </a:p>
        </p:txBody>
      </p:sp>
      <p:sp>
        <p:nvSpPr>
          <p:cNvPr id="1162" name="Google Shape;1162;p106"/>
          <p:cNvSpPr txBox="1"/>
          <p:nvPr>
            <p:ph idx="1" type="body"/>
          </p:nvPr>
        </p:nvSpPr>
        <p:spPr>
          <a:xfrm>
            <a:off x="838200" y="1825625"/>
            <a:ext cx="10515600" cy="4533423"/>
          </a:xfrm>
          <a:prstGeom prst="rect">
            <a:avLst/>
          </a:prstGeom>
          <a:noFill/>
          <a:ln>
            <a:noFill/>
          </a:ln>
        </p:spPr>
        <p:txBody>
          <a:bodyPr anchorCtr="0" anchor="t" bIns="45700" lIns="45700" spcFirstLastPara="1" rIns="45700" wrap="square" tIns="45700">
            <a:normAutofit/>
          </a:bodyPr>
          <a:lstStyle/>
          <a:p>
            <a:pPr indent="-196596" lvl="0" marL="196596" rtl="0" algn="l">
              <a:lnSpc>
                <a:spcPct val="100000"/>
              </a:lnSpc>
              <a:spcBef>
                <a:spcPts val="0"/>
              </a:spcBef>
              <a:spcAft>
                <a:spcPts val="0"/>
              </a:spcAft>
              <a:buClr>
                <a:srgbClr val="000000"/>
              </a:buClr>
              <a:buSzPts val="2400"/>
              <a:buChar char="•"/>
            </a:pPr>
            <a:r>
              <a:rPr lang="en-US"/>
              <a:t>Prior work shows AI dialogue reduced conspiracy beliefs through tailored engagement (Costello et al., 2025)</a:t>
            </a:r>
            <a:endParaRPr/>
          </a:p>
          <a:p>
            <a:pPr indent="-196596" lvl="0" marL="196596" rtl="0" algn="l">
              <a:lnSpc>
                <a:spcPct val="100000"/>
              </a:lnSpc>
              <a:spcBef>
                <a:spcPts val="800"/>
              </a:spcBef>
              <a:spcAft>
                <a:spcPts val="0"/>
              </a:spcAft>
              <a:buClr>
                <a:srgbClr val="000000"/>
              </a:buClr>
              <a:buSzPts val="2400"/>
              <a:buChar char="•"/>
            </a:pPr>
            <a:r>
              <a:rPr lang="en-US"/>
              <a:t>Chatbots can increase engagement, but effects on deeper comprehension are inconsistent.</a:t>
            </a:r>
            <a:endParaRPr/>
          </a:p>
          <a:p>
            <a:pPr indent="-196596" lvl="0" marL="196596" rtl="0" algn="l">
              <a:lnSpc>
                <a:spcPct val="100000"/>
              </a:lnSpc>
              <a:spcBef>
                <a:spcPts val="800"/>
              </a:spcBef>
              <a:spcAft>
                <a:spcPts val="0"/>
              </a:spcAft>
              <a:buClr>
                <a:srgbClr val="000000"/>
              </a:buClr>
              <a:buSzPts val="2400"/>
              <a:buChar char="•"/>
            </a:pPr>
            <a:r>
              <a:rPr lang="en-US"/>
              <a:t>Unclear whether interactivity improves comprehension vs. just engagement</a:t>
            </a:r>
            <a:endParaRPr/>
          </a:p>
          <a:p>
            <a:pPr indent="-196596" lvl="0" marL="196596" rtl="0" algn="l">
              <a:lnSpc>
                <a:spcPct val="100000"/>
              </a:lnSpc>
              <a:spcBef>
                <a:spcPts val="800"/>
              </a:spcBef>
              <a:spcAft>
                <a:spcPts val="0"/>
              </a:spcAft>
              <a:buClr>
                <a:srgbClr val="000000"/>
              </a:buClr>
              <a:buSzPts val="2400"/>
              <a:buChar char="•"/>
            </a:pPr>
            <a:r>
              <a:rPr lang="en-US"/>
              <a:t>Manner of interaction matters</a:t>
            </a:r>
            <a:endParaRPr/>
          </a:p>
          <a:p>
            <a:pPr indent="-196596" lvl="1" marL="589788" rtl="0" algn="l">
              <a:lnSpc>
                <a:spcPct val="100000"/>
              </a:lnSpc>
              <a:spcBef>
                <a:spcPts val="800"/>
              </a:spcBef>
              <a:spcAft>
                <a:spcPts val="0"/>
              </a:spcAft>
              <a:buClr>
                <a:srgbClr val="000000"/>
              </a:buClr>
              <a:buSzPts val="2400"/>
              <a:buChar char="•"/>
            </a:pPr>
            <a:r>
              <a:rPr lang="en-US"/>
              <a:t>Deliberation can increase openness, but exposure to opposing views can backfire (Bail et al., 2018)</a:t>
            </a:r>
            <a:endParaRPr/>
          </a:p>
          <a:p>
            <a:pPr indent="-196596" lvl="1" marL="589788" rtl="0" algn="l">
              <a:lnSpc>
                <a:spcPct val="100000"/>
              </a:lnSpc>
              <a:spcBef>
                <a:spcPts val="800"/>
              </a:spcBef>
              <a:spcAft>
                <a:spcPts val="0"/>
              </a:spcAft>
              <a:buClr>
                <a:srgbClr val="000000"/>
              </a:buClr>
              <a:buSzPts val="2400"/>
              <a:buChar char="•"/>
            </a:pPr>
            <a:r>
              <a:rPr lang="en-US"/>
              <a:t>Socratic questioning more effective than direct challenges (Chiang et al., 2024)</a:t>
            </a:r>
            <a:endParaRPr/>
          </a:p>
        </p:txBody>
      </p:sp>
      <p:sp>
        <p:nvSpPr>
          <p:cNvPr id="1163" name="Google Shape;1163;p10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0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Study: Can AI improve voter understanding?</a:t>
            </a:r>
            <a:endParaRPr/>
          </a:p>
        </p:txBody>
      </p:sp>
      <p:sp>
        <p:nvSpPr>
          <p:cNvPr id="1169" name="Google Shape;1169;p107"/>
          <p:cNvSpPr txBox="1"/>
          <p:nvPr>
            <p:ph idx="1" type="body"/>
          </p:nvPr>
        </p:nvSpPr>
        <p:spPr>
          <a:xfrm>
            <a:off x="660400" y="1825625"/>
            <a:ext cx="5010597" cy="4729684"/>
          </a:xfrm>
          <a:prstGeom prst="rect">
            <a:avLst/>
          </a:prstGeom>
          <a:noFill/>
          <a:ln>
            <a:noFill/>
          </a:ln>
        </p:spPr>
        <p:txBody>
          <a:bodyPr anchorCtr="0" anchor="t" bIns="45700" lIns="45700" spcFirstLastPara="1" rIns="45700" wrap="square" tIns="45700">
            <a:normAutofit/>
          </a:bodyPr>
          <a:lstStyle/>
          <a:p>
            <a:pPr indent="-226313" lvl="0" marL="226313" rtl="0" algn="l">
              <a:lnSpc>
                <a:spcPct val="110000"/>
              </a:lnSpc>
              <a:spcBef>
                <a:spcPts val="0"/>
              </a:spcBef>
              <a:spcAft>
                <a:spcPts val="0"/>
              </a:spcAft>
              <a:buClr>
                <a:srgbClr val="000000"/>
              </a:buClr>
              <a:buSzPts val="2772"/>
              <a:buChar char="•"/>
            </a:pPr>
            <a:r>
              <a:rPr lang="en-US" sz="2772"/>
              <a:t>Preliminary results confirm AI increases engagement.</a:t>
            </a:r>
            <a:endParaRPr/>
          </a:p>
          <a:p>
            <a:pPr indent="-226313" lvl="0" marL="226313" rtl="0" algn="l">
              <a:lnSpc>
                <a:spcPct val="110000"/>
              </a:lnSpc>
              <a:spcBef>
                <a:spcPts val="900"/>
              </a:spcBef>
              <a:spcAft>
                <a:spcPts val="0"/>
              </a:spcAft>
              <a:buClr>
                <a:srgbClr val="000000"/>
              </a:buClr>
              <a:buSzPts val="2772"/>
              <a:buChar char="•"/>
            </a:pPr>
            <a:r>
              <a:rPr lang="en-US" sz="2772"/>
              <a:t>In follow-up, we target whether different discourse styles can increase comprehension.</a:t>
            </a:r>
            <a:endParaRPr/>
          </a:p>
          <a:p>
            <a:pPr indent="-226313" lvl="1" marL="678941" rtl="0" algn="l">
              <a:lnSpc>
                <a:spcPct val="110000"/>
              </a:lnSpc>
              <a:spcBef>
                <a:spcPts val="900"/>
              </a:spcBef>
              <a:spcAft>
                <a:spcPts val="0"/>
              </a:spcAft>
              <a:buClr>
                <a:srgbClr val="000000"/>
              </a:buClr>
              <a:buSzPts val="2772"/>
              <a:buChar char="•"/>
            </a:pPr>
            <a:r>
              <a:rPr lang="en-US" sz="2772"/>
              <a:t>Q&amp;A chatbot</a:t>
            </a:r>
            <a:endParaRPr/>
          </a:p>
          <a:p>
            <a:pPr indent="-226313" lvl="1" marL="678941" rtl="0" algn="l">
              <a:lnSpc>
                <a:spcPct val="110000"/>
              </a:lnSpc>
              <a:spcBef>
                <a:spcPts val="900"/>
              </a:spcBef>
              <a:spcAft>
                <a:spcPts val="0"/>
              </a:spcAft>
              <a:buClr>
                <a:srgbClr val="000000"/>
              </a:buClr>
              <a:buSzPts val="2772"/>
              <a:buChar char="•"/>
            </a:pPr>
            <a:r>
              <a:rPr lang="en-US" sz="2772"/>
              <a:t>Argumentative chatbot</a:t>
            </a:r>
            <a:endParaRPr/>
          </a:p>
          <a:p>
            <a:pPr indent="-226313" lvl="1" marL="678941" rtl="0" algn="l">
              <a:lnSpc>
                <a:spcPct val="110000"/>
              </a:lnSpc>
              <a:spcBef>
                <a:spcPts val="900"/>
              </a:spcBef>
              <a:spcAft>
                <a:spcPts val="0"/>
              </a:spcAft>
              <a:buClr>
                <a:srgbClr val="000000"/>
              </a:buClr>
              <a:buSzPts val="2772"/>
              <a:buChar char="•"/>
            </a:pPr>
            <a:r>
              <a:rPr lang="en-US" sz="2772"/>
              <a:t>Socratic chatbot</a:t>
            </a:r>
            <a:endParaRPr/>
          </a:p>
        </p:txBody>
      </p:sp>
      <p:sp>
        <p:nvSpPr>
          <p:cNvPr id="1170" name="Google Shape;1170;p10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Screenshot 2026-01-11 at 6.19.22 PM.png" id="1171" name="Google Shape;1171;p107"/>
          <p:cNvPicPr preferRelativeResize="0"/>
          <p:nvPr/>
        </p:nvPicPr>
        <p:blipFill rotWithShape="1">
          <a:blip r:embed="rId3">
            <a:alphaModFix/>
          </a:blip>
          <a:srcRect b="368" l="714" r="459" t="0"/>
          <a:stretch/>
        </p:blipFill>
        <p:spPr>
          <a:xfrm rot="29">
            <a:off x="5857561" y="1719966"/>
            <a:ext cx="5441686" cy="4487031"/>
          </a:xfrm>
          <a:custGeom>
            <a:rect b="b" l="l" r="r" t="t"/>
            <a:pathLst>
              <a:path extrusionOk="0" h="21600" w="21600">
                <a:moveTo>
                  <a:pt x="0" y="25"/>
                </a:moveTo>
                <a:lnTo>
                  <a:pt x="34" y="21600"/>
                </a:lnTo>
                <a:lnTo>
                  <a:pt x="21600" y="21551"/>
                </a:lnTo>
                <a:lnTo>
                  <a:pt x="21566" y="0"/>
                </a:lnTo>
                <a:lnTo>
                  <a:pt x="10772" y="0"/>
                </a:lnTo>
                <a:lnTo>
                  <a:pt x="0" y="25"/>
                </a:lnTo>
                <a:close/>
              </a:path>
            </a:pathLst>
          </a:cu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0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CivicChat Public App</a:t>
            </a:r>
            <a:endParaRPr/>
          </a:p>
        </p:txBody>
      </p:sp>
      <p:sp>
        <p:nvSpPr>
          <p:cNvPr id="1177" name="Google Shape;1177;p108"/>
          <p:cNvSpPr txBox="1"/>
          <p:nvPr>
            <p:ph idx="1" type="body"/>
          </p:nvPr>
        </p:nvSpPr>
        <p:spPr>
          <a:xfrm>
            <a:off x="7209928" y="1516221"/>
            <a:ext cx="4717803" cy="5062539"/>
          </a:xfrm>
          <a:prstGeom prst="rect">
            <a:avLst/>
          </a:prstGeom>
          <a:noFill/>
          <a:ln>
            <a:noFill/>
          </a:ln>
        </p:spPr>
        <p:txBody>
          <a:bodyPr anchorCtr="0" anchor="t" bIns="45700" lIns="45700" spcFirstLastPara="1" rIns="45700" wrap="square" tIns="45700">
            <a:normAutofit/>
          </a:bodyPr>
          <a:lstStyle/>
          <a:p>
            <a:pPr indent="-228600" lvl="0" marL="228600" rtl="0" algn="l">
              <a:lnSpc>
                <a:spcPct val="12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Public-facing platform for browsing measures and discussing them with AI</a:t>
            </a:r>
            <a:endParaRPr/>
          </a:p>
          <a:p>
            <a:pPr indent="-228600" lvl="0" marL="228600" rtl="0" algn="l">
              <a:lnSpc>
                <a:spcPct val="12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Will leverage as an additional data in our study.</a:t>
            </a:r>
            <a:endParaRPr/>
          </a:p>
        </p:txBody>
      </p:sp>
      <p:sp>
        <p:nvSpPr>
          <p:cNvPr id="1178" name="Google Shape;1178;p10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Screenshot 2026-01-11 at 6.05.06 PM.png" id="1179" name="Google Shape;1179;p108"/>
          <p:cNvPicPr preferRelativeResize="0"/>
          <p:nvPr/>
        </p:nvPicPr>
        <p:blipFill rotWithShape="1">
          <a:blip r:embed="rId3">
            <a:alphaModFix/>
          </a:blip>
          <a:srcRect b="0" l="0" r="0" t="0"/>
          <a:stretch/>
        </p:blipFill>
        <p:spPr>
          <a:xfrm>
            <a:off x="596318" y="1762107"/>
            <a:ext cx="5970746" cy="4570767"/>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109"/>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p>
            <a:pPr indent="0" lvl="0" marL="0" rtl="0" algn="l">
              <a:lnSpc>
                <a:spcPct val="90000"/>
              </a:lnSpc>
              <a:spcBef>
                <a:spcPts val="0"/>
              </a:spcBef>
              <a:spcAft>
                <a:spcPts val="0"/>
              </a:spcAft>
              <a:buClr>
                <a:srgbClr val="000000"/>
              </a:buClr>
              <a:buSzPts val="6000"/>
              <a:buFont typeface="Play"/>
              <a:buNone/>
            </a:pPr>
            <a:r>
              <a:rPr lang="en-US" sz="6000"/>
              <a:t>Interaction that creates productive disagreement</a:t>
            </a:r>
            <a:endParaRPr/>
          </a:p>
        </p:txBody>
      </p:sp>
      <p:sp>
        <p:nvSpPr>
          <p:cNvPr id="1185" name="Google Shape;1185;p109"/>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757575"/>
              </a:buClr>
              <a:buSzPts val="2400"/>
              <a:buFont typeface="Arial"/>
              <a:buNone/>
            </a:pPr>
            <a:r>
              <a:t/>
            </a:r>
            <a:endParaRPr/>
          </a:p>
        </p:txBody>
      </p:sp>
      <p:sp>
        <p:nvSpPr>
          <p:cNvPr id="1186" name="Google Shape;1186;p10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1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LLMS are agreeable</a:t>
            </a:r>
            <a:endParaRPr/>
          </a:p>
        </p:txBody>
      </p:sp>
      <p:sp>
        <p:nvSpPr>
          <p:cNvPr id="1192" name="Google Shape;1192;p110"/>
          <p:cNvSpPr txBox="1"/>
          <p:nvPr>
            <p:ph idx="1" type="body"/>
          </p:nvPr>
        </p:nvSpPr>
        <p:spPr>
          <a:xfrm>
            <a:off x="5842000" y="1974233"/>
            <a:ext cx="5514777" cy="4248927"/>
          </a:xfrm>
          <a:prstGeom prst="rect">
            <a:avLst/>
          </a:prstGeom>
          <a:noFill/>
          <a:ln>
            <a:noFill/>
          </a:ln>
        </p:spPr>
        <p:txBody>
          <a:bodyPr anchorCtr="0" anchor="t" bIns="45700" lIns="45700" spcFirstLastPara="1" rIns="45700" wrap="square" tIns="45700">
            <a:normAutofit/>
          </a:bodyPr>
          <a:lstStyle/>
          <a:p>
            <a:pPr indent="-228600" lvl="0" marL="228600" rtl="0" algn="l">
              <a:lnSpc>
                <a:spcPct val="12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LLMs are trained to be helpful, which manifests as agreeable</a:t>
            </a:r>
            <a:endParaRPr/>
          </a:p>
          <a:p>
            <a:pPr indent="-228600" lvl="0" marL="228600" rtl="0" algn="l">
              <a:lnSpc>
                <a:spcPct val="12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Models adapt responses to align with user views</a:t>
            </a:r>
            <a:endParaRPr/>
          </a:p>
          <a:p>
            <a:pPr indent="-228600" lvl="0" marL="228600" rtl="0" algn="l">
              <a:lnSpc>
                <a:spcPct val="12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Users’ beliefs are reflected back, not critically examined.</a:t>
            </a:r>
            <a:endParaRPr/>
          </a:p>
        </p:txBody>
      </p:sp>
      <p:sp>
        <p:nvSpPr>
          <p:cNvPr id="1193" name="Google Shape;1193;p11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Screenshot 2026-01-11 at 7.54.35 PM.png" id="1194" name="Google Shape;1194;p110"/>
          <p:cNvPicPr preferRelativeResize="0"/>
          <p:nvPr/>
        </p:nvPicPr>
        <p:blipFill rotWithShape="1">
          <a:blip r:embed="rId3">
            <a:alphaModFix/>
          </a:blip>
          <a:srcRect b="0" l="0" r="0" t="0"/>
          <a:stretch/>
        </p:blipFill>
        <p:spPr>
          <a:xfrm>
            <a:off x="525930" y="2481079"/>
            <a:ext cx="5011558" cy="2955022"/>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11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AI For Productive Disagreement</a:t>
            </a:r>
            <a:endParaRPr/>
          </a:p>
        </p:txBody>
      </p:sp>
      <p:sp>
        <p:nvSpPr>
          <p:cNvPr id="1200" name="Google Shape;1200;p111"/>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120000"/>
              </a:lnSpc>
              <a:spcBef>
                <a:spcPts val="0"/>
              </a:spcBef>
              <a:spcAft>
                <a:spcPts val="0"/>
              </a:spcAft>
              <a:buClr>
                <a:srgbClr val="000000"/>
              </a:buClr>
              <a:buSzPts val="2800"/>
              <a:buChar char="•"/>
            </a:pPr>
            <a:r>
              <a:rPr lang="en-US"/>
              <a:t>Build an assistant that pushes back usefully.</a:t>
            </a:r>
            <a:endParaRPr/>
          </a:p>
          <a:p>
            <a:pPr indent="-228600" lvl="0" marL="228600" rtl="0" algn="l">
              <a:lnSpc>
                <a:spcPct val="120000"/>
              </a:lnSpc>
              <a:spcBef>
                <a:spcPts val="1000"/>
              </a:spcBef>
              <a:spcAft>
                <a:spcPts val="0"/>
              </a:spcAft>
              <a:buClr>
                <a:srgbClr val="000000"/>
              </a:buClr>
              <a:buSzPts val="2800"/>
              <a:buChar char="•"/>
            </a:pPr>
            <a:r>
              <a:rPr lang="en-US"/>
              <a:t>Prior work shows sycophancy is common but “devil’s advocate” often annoys or backfires.</a:t>
            </a:r>
            <a:endParaRPr/>
          </a:p>
          <a:p>
            <a:pPr indent="-228600" lvl="0" marL="228600" rtl="0" algn="l">
              <a:lnSpc>
                <a:spcPct val="120000"/>
              </a:lnSpc>
              <a:spcBef>
                <a:spcPts val="1000"/>
              </a:spcBef>
              <a:spcAft>
                <a:spcPts val="0"/>
              </a:spcAft>
              <a:buClr>
                <a:srgbClr val="000000"/>
              </a:buClr>
              <a:buSzPts val="2800"/>
              <a:buChar char="•"/>
            </a:pPr>
            <a:r>
              <a:rPr lang="en-US"/>
              <a:t>Find productive pushback in real dialogues, cases that lead to clearer reasons or updated views.</a:t>
            </a:r>
            <a:endParaRPr/>
          </a:p>
          <a:p>
            <a:pPr indent="-228600" lvl="0" marL="228600" rtl="0" algn="l">
              <a:lnSpc>
                <a:spcPct val="120000"/>
              </a:lnSpc>
              <a:spcBef>
                <a:spcPts val="1000"/>
              </a:spcBef>
              <a:spcAft>
                <a:spcPts val="0"/>
              </a:spcAft>
              <a:buClr>
                <a:srgbClr val="000000"/>
              </a:buClr>
              <a:buSzPts val="2800"/>
              <a:buChar char="•"/>
            </a:pPr>
            <a:r>
              <a:rPr lang="en-US"/>
              <a:t>Use that data to develop methods for developing such an assistant.</a:t>
            </a:r>
            <a:endParaRPr/>
          </a:p>
        </p:txBody>
      </p:sp>
      <p:sp>
        <p:nvSpPr>
          <p:cNvPr id="1201" name="Google Shape;1201;p11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112"/>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Thank you!</a:t>
            </a:r>
            <a:endParaRPr/>
          </a:p>
        </p:txBody>
      </p:sp>
      <p:sp>
        <p:nvSpPr>
          <p:cNvPr id="1207" name="Google Shape;1207;p112"/>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Questions, comments?</a:t>
            </a:r>
            <a:endParaRPr/>
          </a:p>
        </p:txBody>
      </p:sp>
      <p:sp>
        <p:nvSpPr>
          <p:cNvPr id="1208" name="Google Shape;1208;p11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11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lang="en-US"/>
              <a:t>Prior Work</a:t>
            </a:r>
            <a:endParaRPr/>
          </a:p>
        </p:txBody>
      </p:sp>
      <p:sp>
        <p:nvSpPr>
          <p:cNvPr id="1214" name="Google Shape;1214;p113"/>
          <p:cNvSpPr txBox="1"/>
          <p:nvPr>
            <p:ph idx="1" type="body"/>
          </p:nvPr>
        </p:nvSpPr>
        <p:spPr>
          <a:xfrm>
            <a:off x="838200" y="1825625"/>
            <a:ext cx="10515600" cy="4587925"/>
          </a:xfrm>
          <a:prstGeom prst="rect">
            <a:avLst/>
          </a:prstGeom>
          <a:noFill/>
          <a:ln>
            <a:noFill/>
          </a:ln>
        </p:spPr>
        <p:txBody>
          <a:bodyPr anchorCtr="0" anchor="t" bIns="45700" lIns="45700" spcFirstLastPara="1" rIns="45700" wrap="square" tIns="45700">
            <a:normAutofit/>
          </a:bodyPr>
          <a:lstStyle/>
          <a:p>
            <a:pPr indent="-157734" lvl="0" marL="157734" rtl="0" algn="l">
              <a:lnSpc>
                <a:spcPct val="90000"/>
              </a:lnSpc>
              <a:spcBef>
                <a:spcPts val="0"/>
              </a:spcBef>
              <a:spcAft>
                <a:spcPts val="0"/>
              </a:spcAft>
              <a:buClr>
                <a:srgbClr val="000000"/>
              </a:buClr>
              <a:buSzPts val="1932"/>
              <a:buChar char="•"/>
            </a:pPr>
            <a:r>
              <a:rPr lang="en-US" sz="1932"/>
              <a:t>LLMs are sycophantic by design</a:t>
            </a:r>
            <a:endParaRPr/>
          </a:p>
          <a:p>
            <a:pPr indent="-157734" lvl="1" marL="473201" rtl="0" algn="l">
              <a:lnSpc>
                <a:spcPct val="90000"/>
              </a:lnSpc>
              <a:spcBef>
                <a:spcPts val="600"/>
              </a:spcBef>
              <a:spcAft>
                <a:spcPts val="0"/>
              </a:spcAft>
              <a:buClr>
                <a:srgbClr val="000000"/>
              </a:buClr>
              <a:buSzPts val="1932"/>
              <a:buChar char="•"/>
            </a:pPr>
            <a:r>
              <a:rPr lang="en-US" sz="1932"/>
              <a:t>Trained on human preferences that favor agreement (Perez et al., 2022; Sharma et al., 2023)</a:t>
            </a:r>
            <a:endParaRPr/>
          </a:p>
          <a:p>
            <a:pPr indent="-157734" lvl="1" marL="473201" rtl="0" algn="l">
              <a:lnSpc>
                <a:spcPct val="90000"/>
              </a:lnSpc>
              <a:spcBef>
                <a:spcPts val="600"/>
              </a:spcBef>
              <a:spcAft>
                <a:spcPts val="0"/>
              </a:spcAft>
              <a:buClr>
                <a:srgbClr val="000000"/>
              </a:buClr>
              <a:buSzPts val="1932"/>
              <a:buChar char="•"/>
            </a:pPr>
            <a:r>
              <a:rPr lang="en-US" sz="1932"/>
              <a:t>Does not improve with scale (Wei et al., 2024)</a:t>
            </a:r>
            <a:endParaRPr/>
          </a:p>
          <a:p>
            <a:pPr indent="-157734" lvl="1" marL="473201" rtl="0" algn="l">
              <a:lnSpc>
                <a:spcPct val="90000"/>
              </a:lnSpc>
              <a:spcBef>
                <a:spcPts val="600"/>
              </a:spcBef>
              <a:spcAft>
                <a:spcPts val="0"/>
              </a:spcAft>
              <a:buClr>
                <a:srgbClr val="000000"/>
              </a:buClr>
              <a:buSzPts val="1932"/>
              <a:buChar char="•"/>
            </a:pPr>
            <a:r>
              <a:rPr lang="en-US" sz="1932"/>
              <a:t>Risk: confirmation bias as a service</a:t>
            </a:r>
            <a:endParaRPr/>
          </a:p>
          <a:p>
            <a:pPr indent="-157734" lvl="0" marL="157734" rtl="0" algn="l">
              <a:lnSpc>
                <a:spcPct val="90000"/>
              </a:lnSpc>
              <a:spcBef>
                <a:spcPts val="600"/>
              </a:spcBef>
              <a:spcAft>
                <a:spcPts val="0"/>
              </a:spcAft>
              <a:buClr>
                <a:srgbClr val="000000"/>
              </a:buClr>
              <a:buSzPts val="1932"/>
              <a:buChar char="•"/>
            </a:pPr>
            <a:r>
              <a:rPr lang="en-US" sz="1932"/>
              <a:t>Existing approaches to introduce disagreement</a:t>
            </a:r>
            <a:endParaRPr/>
          </a:p>
          <a:p>
            <a:pPr indent="-157734" lvl="1" marL="473201" rtl="0" algn="l">
              <a:lnSpc>
                <a:spcPct val="90000"/>
              </a:lnSpc>
              <a:spcBef>
                <a:spcPts val="600"/>
              </a:spcBef>
              <a:spcAft>
                <a:spcPts val="0"/>
              </a:spcAft>
              <a:buClr>
                <a:srgbClr val="000000"/>
              </a:buClr>
              <a:buSzPts val="1932"/>
              <a:buChar char="•"/>
            </a:pPr>
            <a:r>
              <a:rPr lang="en-US" sz="1932"/>
              <a:t>Devil's advocate systems struggle to persuade (Chiang et al., 2024; Nemeth, 1995)</a:t>
            </a:r>
            <a:endParaRPr/>
          </a:p>
          <a:p>
            <a:pPr indent="-157734" lvl="1" marL="473201" rtl="0" algn="l">
              <a:lnSpc>
                <a:spcPct val="90000"/>
              </a:lnSpc>
              <a:spcBef>
                <a:spcPts val="600"/>
              </a:spcBef>
              <a:spcAft>
                <a:spcPts val="0"/>
              </a:spcAft>
              <a:buClr>
                <a:srgbClr val="000000"/>
              </a:buClr>
              <a:buSzPts val="1932"/>
              <a:buChar char="•"/>
            </a:pPr>
            <a:r>
              <a:rPr lang="en-US" sz="1932"/>
              <a:t>Socratic AI limited to educational contexts (Chang et al., 2023; Wang et al., 2024)</a:t>
            </a:r>
            <a:endParaRPr/>
          </a:p>
          <a:p>
            <a:pPr indent="-157734" lvl="1" marL="473201" rtl="0" algn="l">
              <a:lnSpc>
                <a:spcPct val="90000"/>
              </a:lnSpc>
              <a:spcBef>
                <a:spcPts val="600"/>
              </a:spcBef>
              <a:spcAft>
                <a:spcPts val="0"/>
              </a:spcAft>
              <a:buClr>
                <a:srgbClr val="000000"/>
              </a:buClr>
              <a:buSzPts val="1932"/>
              <a:buChar char="•"/>
            </a:pPr>
            <a:r>
              <a:rPr lang="en-US" sz="1932"/>
              <a:t>Direct counterarguments can backfire via biased assimilation (Lord et al., 1979)</a:t>
            </a:r>
            <a:endParaRPr/>
          </a:p>
          <a:p>
            <a:pPr indent="-157734" lvl="0" marL="157734" rtl="0" algn="l">
              <a:lnSpc>
                <a:spcPct val="90000"/>
              </a:lnSpc>
              <a:spcBef>
                <a:spcPts val="600"/>
              </a:spcBef>
              <a:spcAft>
                <a:spcPts val="0"/>
              </a:spcAft>
              <a:buClr>
                <a:srgbClr val="000000"/>
              </a:buClr>
              <a:buSzPts val="1932"/>
              <a:buChar char="•"/>
            </a:pPr>
            <a:r>
              <a:rPr lang="en-US" sz="1932"/>
              <a:t>Evidence that belief change is possible</a:t>
            </a:r>
            <a:endParaRPr/>
          </a:p>
          <a:p>
            <a:pPr indent="-157734" lvl="1" marL="473201" rtl="0" algn="l">
              <a:lnSpc>
                <a:spcPct val="90000"/>
              </a:lnSpc>
              <a:spcBef>
                <a:spcPts val="600"/>
              </a:spcBef>
              <a:spcAft>
                <a:spcPts val="0"/>
              </a:spcAft>
              <a:buClr>
                <a:srgbClr val="000000"/>
              </a:buClr>
              <a:buSzPts val="1932"/>
              <a:buChar char="•"/>
            </a:pPr>
            <a:r>
              <a:rPr lang="en-US" sz="1932"/>
              <a:t>Tailored evidence reduced conspiracy beliefs 20% (Costello et al., 2024)</a:t>
            </a:r>
            <a:endParaRPr/>
          </a:p>
          <a:p>
            <a:pPr indent="-157734" lvl="1" marL="473201" rtl="0" algn="l">
              <a:lnSpc>
                <a:spcPct val="90000"/>
              </a:lnSpc>
              <a:spcBef>
                <a:spcPts val="600"/>
              </a:spcBef>
              <a:spcAft>
                <a:spcPts val="0"/>
              </a:spcAft>
              <a:buClr>
                <a:srgbClr val="000000"/>
              </a:buClr>
              <a:buSzPts val="1932"/>
              <a:buChar char="•"/>
            </a:pPr>
            <a:r>
              <a:rPr lang="en-US" sz="1932"/>
              <a:t>Self-persuasion more effective than direct persuasion (Briñol et al., 2012)</a:t>
            </a:r>
            <a:endParaRPr/>
          </a:p>
          <a:p>
            <a:pPr indent="-157734" lvl="1" marL="473201" rtl="0" algn="l">
              <a:lnSpc>
                <a:spcPct val="90000"/>
              </a:lnSpc>
              <a:spcBef>
                <a:spcPts val="600"/>
              </a:spcBef>
              <a:spcAft>
                <a:spcPts val="0"/>
              </a:spcAft>
              <a:buClr>
                <a:srgbClr val="000000"/>
              </a:buClr>
              <a:buSzPts val="1932"/>
              <a:buChar char="•"/>
            </a:pPr>
            <a:r>
              <a:rPr lang="en-US" sz="1932"/>
              <a:t>Motivational interviewing: elicitation over assertion (Miller &amp; Rollnick, 2012)</a:t>
            </a:r>
            <a:endParaRPr/>
          </a:p>
        </p:txBody>
      </p:sp>
      <p:sp>
        <p:nvSpPr>
          <p:cNvPr id="1215" name="Google Shape;1215;p11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1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LLMs lack perspective</a:t>
            </a:r>
            <a:endParaRPr/>
          </a:p>
        </p:txBody>
      </p:sp>
      <p:pic>
        <p:nvPicPr>
          <p:cNvPr descr="Content Placeholder 4" id="1221" name="Google Shape;1221;p114"/>
          <p:cNvPicPr preferRelativeResize="0"/>
          <p:nvPr/>
        </p:nvPicPr>
        <p:blipFill rotWithShape="1">
          <a:blip r:embed="rId3">
            <a:alphaModFix/>
          </a:blip>
          <a:srcRect b="0" l="0" r="0" t="0"/>
          <a:stretch/>
        </p:blipFill>
        <p:spPr>
          <a:xfrm>
            <a:off x="762000" y="3429000"/>
            <a:ext cx="5334000" cy="2882900"/>
          </a:xfrm>
          <a:prstGeom prst="rect">
            <a:avLst/>
          </a:prstGeom>
          <a:noFill/>
          <a:ln>
            <a:noFill/>
          </a:ln>
        </p:spPr>
      </p:pic>
      <p:pic>
        <p:nvPicPr>
          <p:cNvPr descr="Content Placeholder 4" id="1222" name="Google Shape;1222;p114"/>
          <p:cNvPicPr preferRelativeResize="0"/>
          <p:nvPr/>
        </p:nvPicPr>
        <p:blipFill rotWithShape="1">
          <a:blip r:embed="rId4">
            <a:alphaModFix/>
          </a:blip>
          <a:srcRect b="35684" l="1508" r="1667" t="15767"/>
          <a:stretch/>
        </p:blipFill>
        <p:spPr>
          <a:xfrm>
            <a:off x="6659263" y="2619756"/>
            <a:ext cx="5201291" cy="2483070"/>
          </a:xfrm>
          <a:prstGeom prst="rect">
            <a:avLst/>
          </a:prstGeom>
          <a:noFill/>
          <a:ln>
            <a:noFill/>
          </a:ln>
        </p:spPr>
      </p:pic>
      <p:pic>
        <p:nvPicPr>
          <p:cNvPr descr="Picture 10" id="1223" name="Google Shape;1223;p114"/>
          <p:cNvPicPr preferRelativeResize="0"/>
          <p:nvPr/>
        </p:nvPicPr>
        <p:blipFill rotWithShape="1">
          <a:blip r:embed="rId5">
            <a:alphaModFix/>
          </a:blip>
          <a:srcRect b="0" l="0" r="0" t="0"/>
          <a:stretch/>
        </p:blipFill>
        <p:spPr>
          <a:xfrm>
            <a:off x="171832" y="1956875"/>
            <a:ext cx="6169572" cy="1233915"/>
          </a:xfrm>
          <a:prstGeom prst="rect">
            <a:avLst/>
          </a:prstGeom>
          <a:noFill/>
          <a:ln>
            <a:noFill/>
          </a:ln>
        </p:spPr>
      </p:pic>
      <p:sp>
        <p:nvSpPr>
          <p:cNvPr id="1224" name="Google Shape;1224;p11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1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Conclusion</a:t>
            </a:r>
            <a:endParaRPr/>
          </a:p>
        </p:txBody>
      </p:sp>
      <p:sp>
        <p:nvSpPr>
          <p:cNvPr id="1230" name="Google Shape;1230;p115"/>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Using LLMs for sophisticated text analysis requires aligning models with the right perspective or framing that we, as the user or researcher, have in mind.</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How one accomplishes this will vary depending on one’s goal and difficulty of the task - but it is becoming increasingly feasible.</a:t>
            </a:r>
            <a:endParaRPr/>
          </a:p>
        </p:txBody>
      </p:sp>
      <p:sp>
        <p:nvSpPr>
          <p:cNvPr id="1231" name="Google Shape;1231;p11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1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A couple more tidbits</a:t>
            </a:r>
            <a:endParaRPr/>
          </a:p>
        </p:txBody>
      </p:sp>
      <p:sp>
        <p:nvSpPr>
          <p:cNvPr id="1237" name="Google Shape;1237;p116"/>
          <p:cNvSpPr txBox="1"/>
          <p:nvPr>
            <p:ph idx="1" type="body"/>
          </p:nvPr>
        </p:nvSpPr>
        <p:spPr>
          <a:xfrm>
            <a:off x="838200" y="1825625"/>
            <a:ext cx="10515600" cy="4443731"/>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Syllabus and GPT-4 summaries have the lowest lexical variation from opinions.</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If we want longer summaries that correlate with opinion length, fine-tuning is effective.</a:t>
            </a:r>
            <a:endParaRPr/>
          </a:p>
        </p:txBody>
      </p:sp>
      <p:sp>
        <p:nvSpPr>
          <p:cNvPr id="1238" name="Google Shape;1238;p11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11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Collecting Human Annotations</a:t>
            </a:r>
            <a:endParaRPr/>
          </a:p>
        </p:txBody>
      </p:sp>
      <p:pic>
        <p:nvPicPr>
          <p:cNvPr descr="Content Placeholder 4" id="1244" name="Google Shape;1244;p117"/>
          <p:cNvPicPr preferRelativeResize="0"/>
          <p:nvPr/>
        </p:nvPicPr>
        <p:blipFill rotWithShape="1">
          <a:blip r:embed="rId3">
            <a:alphaModFix/>
          </a:blip>
          <a:srcRect b="0" l="0" r="0" t="0"/>
          <a:stretch/>
        </p:blipFill>
        <p:spPr>
          <a:xfrm>
            <a:off x="152842" y="1690688"/>
            <a:ext cx="8529017" cy="4644885"/>
          </a:xfrm>
          <a:prstGeom prst="rect">
            <a:avLst/>
          </a:prstGeom>
          <a:noFill/>
          <a:ln>
            <a:noFill/>
          </a:ln>
        </p:spPr>
      </p:pic>
      <p:sp>
        <p:nvSpPr>
          <p:cNvPr id="1245" name="Google Shape;1245;p11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1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Collecting Human Annotations</a:t>
            </a:r>
            <a:endParaRPr/>
          </a:p>
        </p:txBody>
      </p:sp>
      <p:pic>
        <p:nvPicPr>
          <p:cNvPr descr="Content Placeholder 4" id="1251" name="Google Shape;1251;p118"/>
          <p:cNvPicPr preferRelativeResize="0"/>
          <p:nvPr/>
        </p:nvPicPr>
        <p:blipFill rotWithShape="1">
          <a:blip r:embed="rId3">
            <a:alphaModFix/>
          </a:blip>
          <a:srcRect b="0" l="0" r="0" t="0"/>
          <a:stretch/>
        </p:blipFill>
        <p:spPr>
          <a:xfrm>
            <a:off x="152842" y="1690688"/>
            <a:ext cx="8529017" cy="4644885"/>
          </a:xfrm>
          <a:prstGeom prst="rect">
            <a:avLst/>
          </a:prstGeom>
          <a:noFill/>
          <a:ln>
            <a:noFill/>
          </a:ln>
        </p:spPr>
      </p:pic>
      <p:pic>
        <p:nvPicPr>
          <p:cNvPr descr="Picture 5" id="1252" name="Google Shape;1252;p118"/>
          <p:cNvPicPr preferRelativeResize="0"/>
          <p:nvPr/>
        </p:nvPicPr>
        <p:blipFill rotWithShape="1">
          <a:blip r:embed="rId4">
            <a:alphaModFix/>
          </a:blip>
          <a:srcRect b="0" l="0" r="0" t="0"/>
          <a:stretch/>
        </p:blipFill>
        <p:spPr>
          <a:xfrm>
            <a:off x="8779125" y="1523710"/>
            <a:ext cx="3195541" cy="2389771"/>
          </a:xfrm>
          <a:prstGeom prst="rect">
            <a:avLst/>
          </a:prstGeom>
          <a:noFill/>
          <a:ln>
            <a:noFill/>
          </a:ln>
        </p:spPr>
      </p:pic>
      <p:pic>
        <p:nvPicPr>
          <p:cNvPr descr="Picture 6" id="1253" name="Google Shape;1253;p118"/>
          <p:cNvPicPr preferRelativeResize="0"/>
          <p:nvPr/>
        </p:nvPicPr>
        <p:blipFill rotWithShape="1">
          <a:blip r:embed="rId5">
            <a:alphaModFix/>
          </a:blip>
          <a:srcRect b="0" l="0" r="0" t="0"/>
          <a:stretch/>
        </p:blipFill>
        <p:spPr>
          <a:xfrm>
            <a:off x="8779125" y="4044158"/>
            <a:ext cx="3260033" cy="2389770"/>
          </a:xfrm>
          <a:prstGeom prst="rect">
            <a:avLst/>
          </a:prstGeom>
          <a:noFill/>
          <a:ln>
            <a:noFill/>
          </a:ln>
        </p:spPr>
      </p:pic>
      <p:sp>
        <p:nvSpPr>
          <p:cNvPr id="1254" name="Google Shape;1254;p11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58" name="Shape 1258"/>
        <p:cNvGrpSpPr/>
        <p:nvPr/>
      </p:nvGrpSpPr>
      <p:grpSpPr>
        <a:xfrm>
          <a:off x="0" y="0"/>
          <a:ext cx="0" cy="0"/>
          <a:chOff x="0" y="0"/>
          <a:chExt cx="0" cy="0"/>
        </a:xfrm>
      </p:grpSpPr>
      <p:sp>
        <p:nvSpPr>
          <p:cNvPr id="1259" name="Google Shape;1259;p11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The power of narratives</a:t>
            </a:r>
            <a:endParaRPr/>
          </a:p>
        </p:txBody>
      </p:sp>
      <p:sp>
        <p:nvSpPr>
          <p:cNvPr id="1260" name="Google Shape;1260;p119"/>
          <p:cNvSpPr txBox="1"/>
          <p:nvPr>
            <p:ph idx="1" type="body"/>
          </p:nvPr>
        </p:nvSpPr>
        <p:spPr>
          <a:xfrm>
            <a:off x="838200" y="1825625"/>
            <a:ext cx="10515600" cy="1490070"/>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Social scientist recognize the power of narratives (i.e., popular stories about economic, political, or social topics) to shape individual and collective behavior.</a:t>
            </a:r>
            <a:endParaRPr/>
          </a:p>
        </p:txBody>
      </p:sp>
      <p:pic>
        <p:nvPicPr>
          <p:cNvPr descr="Picture 9" id="1261" name="Google Shape;1261;p119"/>
          <p:cNvPicPr preferRelativeResize="0"/>
          <p:nvPr/>
        </p:nvPicPr>
        <p:blipFill rotWithShape="1">
          <a:blip r:embed="rId3">
            <a:alphaModFix/>
          </a:blip>
          <a:srcRect b="0" l="0" r="0" t="0"/>
          <a:stretch/>
        </p:blipFill>
        <p:spPr>
          <a:xfrm>
            <a:off x="4848140" y="3125324"/>
            <a:ext cx="1841542" cy="1841543"/>
          </a:xfrm>
          <a:prstGeom prst="rect">
            <a:avLst/>
          </a:prstGeom>
          <a:noFill/>
          <a:ln>
            <a:noFill/>
          </a:ln>
        </p:spPr>
      </p:pic>
      <p:pic>
        <p:nvPicPr>
          <p:cNvPr descr="Picture 16" id="1262" name="Google Shape;1262;p119"/>
          <p:cNvPicPr preferRelativeResize="0"/>
          <p:nvPr/>
        </p:nvPicPr>
        <p:blipFill rotWithShape="1">
          <a:blip r:embed="rId4">
            <a:alphaModFix/>
          </a:blip>
          <a:srcRect b="0" l="0" r="0" t="0"/>
          <a:stretch/>
        </p:blipFill>
        <p:spPr>
          <a:xfrm>
            <a:off x="7816460" y="2937599"/>
            <a:ext cx="2999609" cy="2216992"/>
          </a:xfrm>
          <a:prstGeom prst="rect">
            <a:avLst/>
          </a:prstGeom>
          <a:noFill/>
          <a:ln>
            <a:noFill/>
          </a:ln>
        </p:spPr>
      </p:pic>
      <p:pic>
        <p:nvPicPr>
          <p:cNvPr descr="Picture 2" id="1263" name="Google Shape;1263;p119"/>
          <p:cNvPicPr preferRelativeResize="0"/>
          <p:nvPr/>
        </p:nvPicPr>
        <p:blipFill rotWithShape="1">
          <a:blip r:embed="rId5">
            <a:alphaModFix/>
          </a:blip>
          <a:srcRect b="0" l="0" r="0" t="0"/>
          <a:stretch/>
        </p:blipFill>
        <p:spPr>
          <a:xfrm>
            <a:off x="1466354" y="2952099"/>
            <a:ext cx="2378363" cy="2378364"/>
          </a:xfrm>
          <a:prstGeom prst="rect">
            <a:avLst/>
          </a:prstGeom>
          <a:noFill/>
          <a:ln>
            <a:noFill/>
          </a:ln>
        </p:spPr>
      </p:pic>
      <p:sp>
        <p:nvSpPr>
          <p:cNvPr id="1264" name="Google Shape;1264;p119"/>
          <p:cNvSpPr txBox="1"/>
          <p:nvPr>
            <p:ph idx="12" type="sldNum"/>
          </p:nvPr>
        </p:nvSpPr>
        <p:spPr>
          <a:xfrm>
            <a:off x="11148010" y="6404292"/>
            <a:ext cx="205790"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8" name="Shape 1268"/>
        <p:cNvGrpSpPr/>
        <p:nvPr/>
      </p:nvGrpSpPr>
      <p:grpSpPr>
        <a:xfrm>
          <a:off x="0" y="0"/>
          <a:ext cx="0" cy="0"/>
          <a:chOff x="0" y="0"/>
          <a:chExt cx="0" cy="0"/>
        </a:xfrm>
      </p:grpSpPr>
      <p:sp>
        <p:nvSpPr>
          <p:cNvPr id="1269" name="Google Shape;1269;p12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The power of narratives</a:t>
            </a:r>
            <a:endParaRPr/>
          </a:p>
        </p:txBody>
      </p:sp>
      <p:sp>
        <p:nvSpPr>
          <p:cNvPr id="1270" name="Google Shape;1270;p120"/>
          <p:cNvSpPr txBox="1"/>
          <p:nvPr>
            <p:ph idx="1" type="body"/>
          </p:nvPr>
        </p:nvSpPr>
        <p:spPr>
          <a:xfrm>
            <a:off x="838200" y="1825625"/>
            <a:ext cx="10515600" cy="1490070"/>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Social scientist recognize the power of narratives (i.e., popular stories about economic, political, or social topics) to shape individual and collective behavior.</a:t>
            </a:r>
            <a:endParaRPr/>
          </a:p>
        </p:txBody>
      </p:sp>
      <p:pic>
        <p:nvPicPr>
          <p:cNvPr descr="Picture 2" id="1271" name="Google Shape;1271;p120"/>
          <p:cNvPicPr preferRelativeResize="0"/>
          <p:nvPr/>
        </p:nvPicPr>
        <p:blipFill rotWithShape="1">
          <a:blip r:embed="rId3">
            <a:alphaModFix/>
          </a:blip>
          <a:srcRect b="0" l="0" r="0" t="0"/>
          <a:stretch/>
        </p:blipFill>
        <p:spPr>
          <a:xfrm>
            <a:off x="1466354" y="2952099"/>
            <a:ext cx="2378363" cy="2378364"/>
          </a:xfrm>
          <a:prstGeom prst="rect">
            <a:avLst/>
          </a:prstGeom>
          <a:noFill/>
          <a:ln>
            <a:noFill/>
          </a:ln>
        </p:spPr>
      </p:pic>
      <p:pic>
        <p:nvPicPr>
          <p:cNvPr descr="Picture 9" id="1272" name="Google Shape;1272;p120"/>
          <p:cNvPicPr preferRelativeResize="0"/>
          <p:nvPr/>
        </p:nvPicPr>
        <p:blipFill rotWithShape="1">
          <a:blip r:embed="rId4">
            <a:alphaModFix/>
          </a:blip>
          <a:srcRect b="0" l="0" r="0" t="0"/>
          <a:stretch/>
        </p:blipFill>
        <p:spPr>
          <a:xfrm>
            <a:off x="4848140" y="3125324"/>
            <a:ext cx="1841542" cy="1841543"/>
          </a:xfrm>
          <a:prstGeom prst="rect">
            <a:avLst/>
          </a:prstGeom>
          <a:noFill/>
          <a:ln>
            <a:noFill/>
          </a:ln>
        </p:spPr>
      </p:pic>
      <p:pic>
        <p:nvPicPr>
          <p:cNvPr descr="Picture 16" id="1273" name="Google Shape;1273;p120"/>
          <p:cNvPicPr preferRelativeResize="0"/>
          <p:nvPr/>
        </p:nvPicPr>
        <p:blipFill rotWithShape="1">
          <a:blip r:embed="rId5">
            <a:alphaModFix/>
          </a:blip>
          <a:srcRect b="0" l="0" r="0" t="0"/>
          <a:stretch/>
        </p:blipFill>
        <p:spPr>
          <a:xfrm>
            <a:off x="7816460" y="2937599"/>
            <a:ext cx="2999609" cy="2216992"/>
          </a:xfrm>
          <a:prstGeom prst="rect">
            <a:avLst/>
          </a:prstGeom>
          <a:noFill/>
          <a:ln>
            <a:noFill/>
          </a:ln>
        </p:spPr>
      </p:pic>
      <p:sp>
        <p:nvSpPr>
          <p:cNvPr id="1274" name="Google Shape;1274;p120"/>
          <p:cNvSpPr txBox="1"/>
          <p:nvPr/>
        </p:nvSpPr>
        <p:spPr>
          <a:xfrm>
            <a:off x="883919" y="5203706"/>
            <a:ext cx="10424161" cy="1490070"/>
          </a:xfrm>
          <a:prstGeom prst="rect">
            <a:avLst/>
          </a:prstGeom>
          <a:noFill/>
          <a:ln>
            <a:noFill/>
          </a:ln>
        </p:spPr>
        <p:txBody>
          <a:bodyPr anchorCtr="0" anchor="t" bIns="45700" lIns="45700" spcFirstLastPara="1" rIns="45700" wrap="square" tIns="45700">
            <a:normAutofit/>
          </a:bodyPr>
          <a:lstStyle/>
          <a:p>
            <a:pPr indent="-228600" lvl="0" marL="228600" marR="0" rtl="0" algn="l">
              <a:lnSpc>
                <a:spcPct val="81000"/>
              </a:lnSpc>
              <a:spcBef>
                <a:spcPts val="0"/>
              </a:spcBef>
              <a:spcAft>
                <a:spcPts val="0"/>
              </a:spcAft>
              <a:buClr>
                <a:srgbClr val="000000"/>
              </a:buClr>
              <a:buSzPts val="2500"/>
              <a:buFont typeface="Arial"/>
              <a:buChar char="•"/>
            </a:pPr>
            <a:r>
              <a:rPr b="0" i="0" lang="en-US" sz="2500" u="none" cap="none" strike="noStrike">
                <a:solidFill>
                  <a:srgbClr val="000000"/>
                </a:solidFill>
                <a:latin typeface="Arial"/>
                <a:ea typeface="Arial"/>
                <a:cs typeface="Arial"/>
                <a:sym typeface="Arial"/>
              </a:rPr>
              <a:t>If we fail to consider and understand the properties of narratives, </a:t>
            </a:r>
            <a:r>
              <a:rPr b="1" i="0" lang="en-US" sz="2500" u="none" cap="none" strike="noStrike">
                <a:solidFill>
                  <a:srgbClr val="000000"/>
                </a:solidFill>
                <a:latin typeface="Arial"/>
                <a:ea typeface="Arial"/>
                <a:cs typeface="Arial"/>
                <a:sym typeface="Arial"/>
              </a:rPr>
              <a:t>“we remain blind to a very real, very palpable, very important mechanism for economic change, as well as a crucial element for economic forecasting” </a:t>
            </a:r>
            <a:r>
              <a:rPr b="0" i="0" lang="en-US" sz="2500" u="none" cap="none" strike="noStrike">
                <a:solidFill>
                  <a:srgbClr val="000000"/>
                </a:solidFill>
                <a:latin typeface="Arial"/>
                <a:ea typeface="Arial"/>
                <a:cs typeface="Arial"/>
                <a:sym typeface="Arial"/>
              </a:rPr>
              <a:t>(Shiller, 2017)</a:t>
            </a:r>
            <a:endParaRPr/>
          </a:p>
        </p:txBody>
      </p:sp>
      <p:sp>
        <p:nvSpPr>
          <p:cNvPr id="1275" name="Google Shape;1275;p120"/>
          <p:cNvSpPr txBox="1"/>
          <p:nvPr>
            <p:ph idx="12" type="sldNum"/>
          </p:nvPr>
        </p:nvSpPr>
        <p:spPr>
          <a:xfrm>
            <a:off x="11148010" y="6404292"/>
            <a:ext cx="205790"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79" name="Shape 1279"/>
        <p:cNvGrpSpPr/>
        <p:nvPr/>
      </p:nvGrpSpPr>
      <p:grpSpPr>
        <a:xfrm>
          <a:off x="0" y="0"/>
          <a:ext cx="0" cy="0"/>
          <a:chOff x="0" y="0"/>
          <a:chExt cx="0" cy="0"/>
        </a:xfrm>
      </p:grpSpPr>
      <p:sp>
        <p:nvSpPr>
          <p:cNvPr id="1280" name="Google Shape;1280;p12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[scratch, prior work] What is a narrative &amp; how do we measure it?</a:t>
            </a:r>
            <a:endParaRPr/>
          </a:p>
        </p:txBody>
      </p:sp>
      <p:sp>
        <p:nvSpPr>
          <p:cNvPr id="1281" name="Google Shape;1281;p121"/>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72000"/>
              </a:lnSpc>
              <a:spcBef>
                <a:spcPts val="0"/>
              </a:spcBef>
              <a:spcAft>
                <a:spcPts val="0"/>
              </a:spcAft>
              <a:buClr>
                <a:srgbClr val="000000"/>
              </a:buClr>
              <a:buSzPts val="2500"/>
              <a:buChar char="•"/>
            </a:pPr>
            <a:r>
              <a:rPr lang="en-US" sz="2500"/>
              <a:t>narratives are “beliefs about the economy that spread contagiously” (Flynn and Sastry, 2022)</a:t>
            </a:r>
            <a:endParaRPr/>
          </a:p>
          <a:p>
            <a:pPr indent="-228600" lvl="0" marL="228600" rtl="0" algn="l">
              <a:lnSpc>
                <a:spcPct val="72000"/>
              </a:lnSpc>
              <a:spcBef>
                <a:spcPts val="1000"/>
              </a:spcBef>
              <a:spcAft>
                <a:spcPts val="0"/>
              </a:spcAft>
              <a:buClr>
                <a:srgbClr val="000000"/>
              </a:buClr>
              <a:buSzPts val="2500"/>
              <a:buChar char="•"/>
            </a:pPr>
            <a:r>
              <a:rPr lang="en-US" sz="2500"/>
              <a:t>we define a moral narrative as any news, story, life experience or heuristic that has the potential to alter an agent’s beliefs about the tradeoff between private benefits and social costs (or the reverse) faced by a decision-maker, who could be himself, someone he observes, or someone he seeks to influence. (Benabou, 2018)</a:t>
            </a:r>
            <a:endParaRPr/>
          </a:p>
          <a:p>
            <a:pPr indent="-228600" lvl="0" marL="228600" rtl="0" algn="l">
              <a:lnSpc>
                <a:spcPct val="72000"/>
              </a:lnSpc>
              <a:spcBef>
                <a:spcPts val="1000"/>
              </a:spcBef>
              <a:spcAft>
                <a:spcPts val="0"/>
              </a:spcAft>
              <a:buClr>
                <a:srgbClr val="000000"/>
              </a:buClr>
              <a:buSzPts val="2500"/>
              <a:buChar char="•"/>
            </a:pPr>
            <a:r>
              <a:rPr lang="en-US" sz="2500"/>
              <a:t>Causal account (Akerloff &amp; Snower, 2016)</a:t>
            </a:r>
            <a:endParaRPr/>
          </a:p>
          <a:p>
            <a:pPr indent="-228600" lvl="0" marL="228600" rtl="0" algn="l">
              <a:lnSpc>
                <a:spcPct val="72000"/>
              </a:lnSpc>
              <a:spcBef>
                <a:spcPts val="1000"/>
              </a:spcBef>
              <a:spcAft>
                <a:spcPts val="0"/>
              </a:spcAft>
              <a:buClr>
                <a:srgbClr val="1A1818"/>
              </a:buClr>
              <a:buSzPts val="2500"/>
              <a:buChar char="•"/>
            </a:pPr>
            <a:r>
              <a:rPr lang="en-US" sz="2500">
                <a:solidFill>
                  <a:srgbClr val="1A1818"/>
                </a:solidFill>
              </a:rPr>
              <a:t>“Political narratives can be regarded as causal models that map actions to consequences” (Eliaz &amp; Spiegler, 2020)</a:t>
            </a:r>
            <a:endParaRPr/>
          </a:p>
          <a:p>
            <a:pPr indent="-228600" lvl="0" marL="228600" rtl="0" algn="l">
              <a:lnSpc>
                <a:spcPct val="72000"/>
              </a:lnSpc>
              <a:spcBef>
                <a:spcPts val="1000"/>
              </a:spcBef>
              <a:spcAft>
                <a:spcPts val="0"/>
              </a:spcAft>
              <a:buClr>
                <a:srgbClr val="1A1818"/>
              </a:buClr>
              <a:buSzPts val="2500"/>
              <a:buChar char="•"/>
            </a:pPr>
            <a:r>
              <a:rPr lang="en-US" sz="2500">
                <a:solidFill>
                  <a:srgbClr val="1A1818"/>
                </a:solidFill>
              </a:rPr>
              <a:t>Causal narratives - </a:t>
            </a:r>
            <a:r>
              <a:rPr lang="en-US">
                <a:solidFill>
                  <a:srgbClr val="000000"/>
                </a:solidFill>
                <a:latin typeface="Helvetica Neue"/>
                <a:ea typeface="Helvetica Neue"/>
                <a:cs typeface="Helvetica Neue"/>
                <a:sym typeface="Helvetica Neue"/>
              </a:rPr>
              <a:t>narratives that tell a causal story about the relationship between variables of interest (Kendall &amp; Charles, 2022)</a:t>
            </a:r>
            <a:endParaRPr/>
          </a:p>
        </p:txBody>
      </p:sp>
      <p:sp>
        <p:nvSpPr>
          <p:cNvPr id="1282" name="Google Shape;1282;p121"/>
          <p:cNvSpPr txBox="1"/>
          <p:nvPr>
            <p:ph idx="12" type="sldNum"/>
          </p:nvPr>
        </p:nvSpPr>
        <p:spPr>
          <a:xfrm>
            <a:off x="11148010" y="6404292"/>
            <a:ext cx="205790"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6" name="Shape 1286"/>
        <p:cNvGrpSpPr/>
        <p:nvPr/>
      </p:nvGrpSpPr>
      <p:grpSpPr>
        <a:xfrm>
          <a:off x="0" y="0"/>
          <a:ext cx="0" cy="0"/>
          <a:chOff x="0" y="0"/>
          <a:chExt cx="0" cy="0"/>
        </a:xfrm>
      </p:grpSpPr>
      <p:sp>
        <p:nvSpPr>
          <p:cNvPr id="1287" name="Google Shape;1287;p122"/>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The power of narratives</a:t>
            </a:r>
            <a:endParaRPr/>
          </a:p>
        </p:txBody>
      </p:sp>
      <p:sp>
        <p:nvSpPr>
          <p:cNvPr id="1288" name="Google Shape;1288;p122"/>
          <p:cNvSpPr txBox="1"/>
          <p:nvPr>
            <p:ph idx="1" type="body"/>
          </p:nvPr>
        </p:nvSpPr>
        <p:spPr>
          <a:xfrm>
            <a:off x="838200" y="1825625"/>
            <a:ext cx="10515600" cy="1490070"/>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Social scientist recognize the power of narratives (i.e., popular stories about economic, political, or social topics) to shape individual and collective behavior.</a:t>
            </a:r>
            <a:endParaRPr/>
          </a:p>
        </p:txBody>
      </p:sp>
      <p:sp>
        <p:nvSpPr>
          <p:cNvPr id="1289" name="Google Shape;1289;p122"/>
          <p:cNvSpPr txBox="1"/>
          <p:nvPr>
            <p:ph idx="12" type="sldNum"/>
          </p:nvPr>
        </p:nvSpPr>
        <p:spPr>
          <a:xfrm>
            <a:off x="11148010" y="6404292"/>
            <a:ext cx="205790"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3" name="Shape 1293"/>
        <p:cNvGrpSpPr/>
        <p:nvPr/>
      </p:nvGrpSpPr>
      <p:grpSpPr>
        <a:xfrm>
          <a:off x="0" y="0"/>
          <a:ext cx="0" cy="0"/>
          <a:chOff x="0" y="0"/>
          <a:chExt cx="0" cy="0"/>
        </a:xfrm>
      </p:grpSpPr>
      <p:sp>
        <p:nvSpPr>
          <p:cNvPr id="1294" name="Google Shape;1294;p12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Do we know what we’re looking for?	</a:t>
            </a:r>
            <a:endParaRPr/>
          </a:p>
        </p:txBody>
      </p:sp>
      <p:sp>
        <p:nvSpPr>
          <p:cNvPr id="1295" name="Google Shape;1295;p123"/>
          <p:cNvSpPr txBox="1"/>
          <p:nvPr>
            <p:ph idx="1" type="body"/>
          </p:nvPr>
        </p:nvSpPr>
        <p:spPr>
          <a:xfrm>
            <a:off x="6989378" y="4109096"/>
            <a:ext cx="4364422" cy="2747964"/>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Yes!</a:t>
            </a:r>
            <a:endParaRPr/>
          </a:p>
          <a:p>
            <a:pPr indent="-228600" lvl="1" marL="685800" rtl="0" algn="l">
              <a:lnSpc>
                <a:spcPct val="90000"/>
              </a:lnSpc>
              <a:spcBef>
                <a:spcPts val="500"/>
              </a:spcBef>
              <a:spcAft>
                <a:spcPts val="0"/>
              </a:spcAft>
              <a:buClr>
                <a:srgbClr val="000000"/>
              </a:buClr>
              <a:buSzPts val="2400"/>
              <a:buChar char="•"/>
            </a:pPr>
            <a:r>
              <a:rPr lang="en-US" sz="2400"/>
              <a:t>Prioritize interpretability and motivating hypothesis.</a:t>
            </a:r>
            <a:endParaRPr/>
          </a:p>
          <a:p>
            <a:pPr indent="-228600" lvl="1" marL="685800" rtl="0" algn="l">
              <a:lnSpc>
                <a:spcPct val="90000"/>
              </a:lnSpc>
              <a:spcBef>
                <a:spcPts val="500"/>
              </a:spcBef>
              <a:spcAft>
                <a:spcPts val="0"/>
              </a:spcAft>
              <a:buClr>
                <a:srgbClr val="000000"/>
              </a:buClr>
              <a:buSzPts val="2400"/>
              <a:buChar char="•"/>
            </a:pPr>
            <a:r>
              <a:rPr lang="en-US" sz="2400"/>
              <a:t>Higher precision (more signal)</a:t>
            </a:r>
            <a:endParaRPr/>
          </a:p>
          <a:p>
            <a:pPr indent="-228600" lvl="1" marL="685800" rtl="0" algn="l">
              <a:lnSpc>
                <a:spcPct val="90000"/>
              </a:lnSpc>
              <a:spcBef>
                <a:spcPts val="500"/>
              </a:spcBef>
              <a:spcAft>
                <a:spcPts val="0"/>
              </a:spcAft>
              <a:buClr>
                <a:srgbClr val="000000"/>
              </a:buClr>
              <a:buSzPts val="2400"/>
              <a:buChar char="•"/>
            </a:pPr>
            <a:r>
              <a:rPr lang="en-US" sz="2400"/>
              <a:t>Lower recall </a:t>
            </a:r>
            <a:endParaRPr/>
          </a:p>
        </p:txBody>
      </p:sp>
      <p:sp>
        <p:nvSpPr>
          <p:cNvPr id="1296" name="Google Shape;1296;p123"/>
          <p:cNvSpPr txBox="1"/>
          <p:nvPr>
            <p:ph idx="12" type="sldNum"/>
          </p:nvPr>
        </p:nvSpPr>
        <p:spPr>
          <a:xfrm>
            <a:off x="11148010" y="6404292"/>
            <a:ext cx="205790"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
        <p:nvSpPr>
          <p:cNvPr id="1297" name="Google Shape;1297;p123"/>
          <p:cNvSpPr txBox="1"/>
          <p:nvPr/>
        </p:nvSpPr>
        <p:spPr>
          <a:xfrm>
            <a:off x="883920" y="4110035"/>
            <a:ext cx="4272981" cy="2747965"/>
          </a:xfrm>
          <a:prstGeom prst="rect">
            <a:avLst/>
          </a:prstGeom>
          <a:noFill/>
          <a:ln>
            <a:noFill/>
          </a:ln>
        </p:spPr>
        <p:txBody>
          <a:bodyPr anchorCtr="0" anchor="t" bIns="45700" lIns="45700" spcFirstLastPara="1" rIns="45700" wrap="square" tIns="45700">
            <a:normAutofit/>
          </a:bodyPr>
          <a:lstStyle/>
          <a:p>
            <a:pPr indent="-228600" lvl="0" marL="228600" marR="0" rtl="0" algn="l">
              <a:lnSpc>
                <a:spcPct val="72000"/>
              </a:lnSpc>
              <a:spcBef>
                <a:spcPts val="0"/>
              </a:spcBef>
              <a:spcAft>
                <a:spcPts val="0"/>
              </a:spcAft>
              <a:buClr>
                <a:srgbClr val="000000"/>
              </a:buClr>
              <a:buSzPts val="2500"/>
              <a:buFont typeface="Arial"/>
              <a:buChar char="•"/>
            </a:pPr>
            <a:r>
              <a:rPr b="0" i="0" lang="en-US" sz="2500" u="none" cap="none" strike="noStrike">
                <a:solidFill>
                  <a:srgbClr val="000000"/>
                </a:solidFill>
                <a:latin typeface="Arial"/>
                <a:ea typeface="Arial"/>
                <a:cs typeface="Arial"/>
                <a:sym typeface="Arial"/>
              </a:rPr>
              <a:t>No</a:t>
            </a:r>
            <a:endParaRPr/>
          </a:p>
          <a:p>
            <a:pPr indent="-228600" lvl="1" marL="685800" marR="0" rtl="0" algn="l">
              <a:lnSpc>
                <a:spcPct val="72000"/>
              </a:lnSpc>
              <a:spcBef>
                <a:spcPts val="50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“Discover” narratives from the text</a:t>
            </a:r>
            <a:endParaRPr/>
          </a:p>
          <a:p>
            <a:pPr indent="-228600" lvl="1" marL="685800" marR="0" rtl="0" algn="l">
              <a:lnSpc>
                <a:spcPct val="72000"/>
              </a:lnSpc>
              <a:spcBef>
                <a:spcPts val="50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More easily generalizable</a:t>
            </a:r>
            <a:endParaRPr/>
          </a:p>
          <a:p>
            <a:pPr indent="-228600" lvl="1" marL="685800" marR="0" rtl="0" algn="l">
              <a:lnSpc>
                <a:spcPct val="72000"/>
              </a:lnSpc>
              <a:spcBef>
                <a:spcPts val="50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Noisier but might find something surprising</a:t>
            </a:r>
            <a:endParaRPr/>
          </a:p>
          <a:p>
            <a:pPr indent="-228600" lvl="1" marL="685800" marR="0" rtl="0" algn="l">
              <a:lnSpc>
                <a:spcPct val="72000"/>
              </a:lnSpc>
              <a:spcBef>
                <a:spcPts val="50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Without evaluation, impossible to efficiently optimize method.</a:t>
            </a:r>
            <a:endParaRPr/>
          </a:p>
        </p:txBody>
      </p:sp>
      <p:pic>
        <p:nvPicPr>
          <p:cNvPr descr="Picture 14" id="1298" name="Google Shape;1298;p123"/>
          <p:cNvPicPr preferRelativeResize="0"/>
          <p:nvPr/>
        </p:nvPicPr>
        <p:blipFill rotWithShape="1">
          <a:blip r:embed="rId3">
            <a:alphaModFix/>
          </a:blip>
          <a:srcRect b="0" l="0" r="0" t="0"/>
          <a:stretch/>
        </p:blipFill>
        <p:spPr>
          <a:xfrm>
            <a:off x="1637103" y="1389524"/>
            <a:ext cx="2766612" cy="2716879"/>
          </a:xfrm>
          <a:prstGeom prst="rect">
            <a:avLst/>
          </a:prstGeom>
          <a:noFill/>
          <a:ln>
            <a:noFill/>
          </a:ln>
        </p:spPr>
      </p:pic>
      <p:pic>
        <p:nvPicPr>
          <p:cNvPr descr="Picture 15" id="1299" name="Google Shape;1299;p123"/>
          <p:cNvPicPr preferRelativeResize="0"/>
          <p:nvPr/>
        </p:nvPicPr>
        <p:blipFill rotWithShape="1">
          <a:blip r:embed="rId4">
            <a:alphaModFix/>
          </a:blip>
          <a:srcRect b="0" l="0" r="0" t="0"/>
          <a:stretch/>
        </p:blipFill>
        <p:spPr>
          <a:xfrm>
            <a:off x="5808279" y="2068284"/>
            <a:ext cx="1099457" cy="1099459"/>
          </a:xfrm>
          <a:prstGeom prst="rect">
            <a:avLst/>
          </a:prstGeom>
          <a:noFill/>
          <a:ln>
            <a:noFill/>
          </a:ln>
        </p:spPr>
      </p:pic>
      <p:sp>
        <p:nvSpPr>
          <p:cNvPr id="1300" name="Google Shape;1300;p123"/>
          <p:cNvSpPr/>
          <p:nvPr/>
        </p:nvSpPr>
        <p:spPr>
          <a:xfrm>
            <a:off x="7201555" y="2414129"/>
            <a:ext cx="810330" cy="402773"/>
          </a:xfrm>
          <a:prstGeom prst="rightArrow">
            <a:avLst>
              <a:gd fmla="val 50000" name="adj1"/>
              <a:gd fmla="val 50000" name="adj2"/>
            </a:avLst>
          </a:prstGeom>
          <a:noFill/>
          <a:ln cap="flat" cmpd="sng" w="3810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Picture 6" id="1301" name="Google Shape;1301;p123"/>
          <p:cNvPicPr preferRelativeResize="0"/>
          <p:nvPr/>
        </p:nvPicPr>
        <p:blipFill rotWithShape="1">
          <a:blip r:embed="rId5">
            <a:alphaModFix/>
          </a:blip>
          <a:srcRect b="0" l="0" r="0" t="0"/>
          <a:stretch/>
        </p:blipFill>
        <p:spPr>
          <a:xfrm>
            <a:off x="8293689" y="1869612"/>
            <a:ext cx="1325564" cy="1325564"/>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5" name="Shape 1305"/>
        <p:cNvGrpSpPr/>
        <p:nvPr/>
      </p:nvGrpSpPr>
      <p:grpSpPr>
        <a:xfrm>
          <a:off x="0" y="0"/>
          <a:ext cx="0" cy="0"/>
          <a:chOff x="0" y="0"/>
          <a:chExt cx="0" cy="0"/>
        </a:xfrm>
      </p:grpSpPr>
      <p:sp>
        <p:nvSpPr>
          <p:cNvPr id="1306" name="Google Shape;1306;p12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First attempts</a:t>
            </a:r>
            <a:endParaRPr/>
          </a:p>
        </p:txBody>
      </p:sp>
      <p:sp>
        <p:nvSpPr>
          <p:cNvPr id="1307" name="Google Shape;1307;p124"/>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GPT4 is such a powerful tool, maybe if I just prompt it right, it’ll just work</a:t>
            </a:r>
            <a:endParaRPr/>
          </a:p>
          <a:p>
            <a:pPr indent="-228600" lvl="1" marL="685800" rtl="0" algn="l">
              <a:lnSpc>
                <a:spcPct val="90000"/>
              </a:lnSpc>
              <a:spcBef>
                <a:spcPts val="500"/>
              </a:spcBef>
              <a:spcAft>
                <a:spcPts val="0"/>
              </a:spcAft>
              <a:buClr>
                <a:srgbClr val="000000"/>
              </a:buClr>
              <a:buSzPts val="2400"/>
              <a:buChar char="•"/>
            </a:pPr>
            <a:r>
              <a:rPr lang="en-US" sz="2400"/>
              <a:t>Maybe that works for obvious examples (give example)</a:t>
            </a:r>
            <a:endParaRPr/>
          </a:p>
          <a:p>
            <a:pPr indent="-228600" lvl="1" marL="685800" rtl="0" algn="l">
              <a:lnSpc>
                <a:spcPct val="90000"/>
              </a:lnSpc>
              <a:spcBef>
                <a:spcPts val="500"/>
              </a:spcBef>
              <a:spcAft>
                <a:spcPts val="0"/>
              </a:spcAft>
              <a:buClr>
                <a:srgbClr val="000000"/>
              </a:buClr>
              <a:buSzPts val="2400"/>
              <a:buChar char="•"/>
            </a:pPr>
            <a:r>
              <a:rPr lang="en-US" sz="2400"/>
              <a:t>But maybe you use more complex examples that ambiguous (give examples of each)</a:t>
            </a:r>
            <a:endParaRPr/>
          </a:p>
          <a:p>
            <a:pPr indent="-228600" lvl="1" marL="685800" rtl="0" algn="l">
              <a:lnSpc>
                <a:spcPct val="90000"/>
              </a:lnSpc>
              <a:spcBef>
                <a:spcPts val="500"/>
              </a:spcBef>
              <a:spcAft>
                <a:spcPts val="0"/>
              </a:spcAft>
              <a:buClr>
                <a:srgbClr val="000000"/>
              </a:buClr>
              <a:buSzPts val="2400"/>
              <a:buChar char="•"/>
            </a:pPr>
            <a:r>
              <a:rPr lang="en-US" sz="2400"/>
              <a:t>Why cant model do this right? How we provide this prior knowledge about what makes a narrative or not?</a:t>
            </a:r>
            <a:endParaRPr/>
          </a:p>
          <a:p>
            <a:pPr indent="-228600" lvl="2" marL="1143000" rtl="0" algn="l">
              <a:lnSpc>
                <a:spcPct val="90000"/>
              </a:lnSpc>
              <a:spcBef>
                <a:spcPts val="500"/>
              </a:spcBef>
              <a:spcAft>
                <a:spcPts val="0"/>
              </a:spcAft>
              <a:buClr>
                <a:srgbClr val="000000"/>
              </a:buClr>
              <a:buSzPts val="2000"/>
              <a:buChar char="•"/>
            </a:pPr>
            <a:r>
              <a:rPr lang="en-US" sz="2000"/>
              <a:t>Behavior cloning (SFT)</a:t>
            </a:r>
            <a:endParaRPr/>
          </a:p>
          <a:p>
            <a:pPr indent="-228600" lvl="1" marL="685800" rtl="0" algn="l">
              <a:lnSpc>
                <a:spcPct val="90000"/>
              </a:lnSpc>
              <a:spcBef>
                <a:spcPts val="500"/>
              </a:spcBef>
              <a:spcAft>
                <a:spcPts val="0"/>
              </a:spcAft>
              <a:buClr>
                <a:srgbClr val="000000"/>
              </a:buClr>
              <a:buSzPts val="2400"/>
              <a:buChar char="•"/>
            </a:pPr>
            <a:r>
              <a:rPr lang="en-US" sz="2400"/>
              <a:t>Ideas: show what process is like for a human determining a narrative</a:t>
            </a:r>
            <a:endParaRPr/>
          </a:p>
        </p:txBody>
      </p:sp>
      <p:sp>
        <p:nvSpPr>
          <p:cNvPr id="1308" name="Google Shape;1308;p124"/>
          <p:cNvSpPr txBox="1"/>
          <p:nvPr>
            <p:ph idx="12" type="sldNum"/>
          </p:nvPr>
        </p:nvSpPr>
        <p:spPr>
          <a:xfrm>
            <a:off x="11148010" y="6404292"/>
            <a:ext cx="205790"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2" name="Shape 1312"/>
        <p:cNvGrpSpPr/>
        <p:nvPr/>
      </p:nvGrpSpPr>
      <p:grpSpPr>
        <a:xfrm>
          <a:off x="0" y="0"/>
          <a:ext cx="0" cy="0"/>
          <a:chOff x="0" y="0"/>
          <a:chExt cx="0" cy="0"/>
        </a:xfrm>
      </p:grpSpPr>
      <p:sp>
        <p:nvSpPr>
          <p:cNvPr id="1313" name="Google Shape;1313;p12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Peter hase talk</a:t>
            </a:r>
            <a:endParaRPr/>
          </a:p>
        </p:txBody>
      </p:sp>
      <p:sp>
        <p:nvSpPr>
          <p:cNvPr id="1314" name="Google Shape;1314;p125"/>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72000"/>
              </a:lnSpc>
              <a:spcBef>
                <a:spcPts val="0"/>
              </a:spcBef>
              <a:spcAft>
                <a:spcPts val="0"/>
              </a:spcAft>
              <a:buClr>
                <a:srgbClr val="000000"/>
              </a:buClr>
              <a:buSzPts val="1900"/>
              <a:buChar char="•"/>
            </a:pPr>
            <a:r>
              <a:rPr lang="en-US" sz="1900"/>
              <a:t>Start with research goal</a:t>
            </a:r>
            <a:endParaRPr/>
          </a:p>
          <a:p>
            <a:pPr indent="-228600" lvl="0" marL="228600" rtl="0" algn="l">
              <a:lnSpc>
                <a:spcPct val="72000"/>
              </a:lnSpc>
              <a:spcBef>
                <a:spcPts val="1000"/>
              </a:spcBef>
              <a:spcAft>
                <a:spcPts val="0"/>
              </a:spcAft>
              <a:buClr>
                <a:srgbClr val="000000"/>
              </a:buClr>
              <a:buSzPts val="1900"/>
              <a:buChar char="•"/>
            </a:pPr>
            <a:r>
              <a:rPr lang="en-US" sz="1900"/>
              <a:t>Explain why their goal “why AI safety”</a:t>
            </a:r>
            <a:endParaRPr/>
          </a:p>
          <a:p>
            <a:pPr indent="-228600" lvl="1" marL="685800" rtl="0" algn="l">
              <a:lnSpc>
                <a:spcPct val="72000"/>
              </a:lnSpc>
              <a:spcBef>
                <a:spcPts val="500"/>
              </a:spcBef>
              <a:spcAft>
                <a:spcPts val="0"/>
              </a:spcAft>
              <a:buClr>
                <a:srgbClr val="000000"/>
              </a:buClr>
              <a:buSzPts val="1600"/>
              <a:buChar char="•"/>
            </a:pPr>
            <a:r>
              <a:rPr lang="en-US" sz="1600"/>
              <a:t>Explain a bit more</a:t>
            </a:r>
            <a:endParaRPr/>
          </a:p>
          <a:p>
            <a:pPr indent="-228600" lvl="0" marL="228600" rtl="0" algn="l">
              <a:lnSpc>
                <a:spcPct val="72000"/>
              </a:lnSpc>
              <a:spcBef>
                <a:spcPts val="1000"/>
              </a:spcBef>
              <a:spcAft>
                <a:spcPts val="0"/>
              </a:spcAft>
              <a:buClr>
                <a:srgbClr val="000000"/>
              </a:buClr>
              <a:buSzPts val="1900"/>
              <a:buChar char="•"/>
            </a:pPr>
            <a:r>
              <a:rPr lang="en-US" sz="1900"/>
              <a:t>“This talk” slide</a:t>
            </a:r>
            <a:endParaRPr/>
          </a:p>
          <a:p>
            <a:pPr indent="-228600" lvl="0" marL="228600" rtl="0" algn="l">
              <a:lnSpc>
                <a:spcPct val="72000"/>
              </a:lnSpc>
              <a:spcBef>
                <a:spcPts val="1000"/>
              </a:spcBef>
              <a:spcAft>
                <a:spcPts val="0"/>
              </a:spcAft>
              <a:buClr>
                <a:srgbClr val="000000"/>
              </a:buClr>
              <a:buSzPts val="1900"/>
              <a:buChar char="•"/>
            </a:pPr>
            <a:r>
              <a:rPr lang="en-US" sz="1900"/>
              <a:t>From interpretability</a:t>
            </a:r>
            <a:r>
              <a:rPr lang="en-US">
                <a:latin typeface="Noto Sans Symbols"/>
                <a:ea typeface="Noto Sans Symbols"/>
                <a:cs typeface="Noto Sans Symbols"/>
                <a:sym typeface="Noto Sans Symbols"/>
              </a:rPr>
              <a:t>🡪 </a:t>
            </a:r>
            <a:r>
              <a:rPr lang="en-US" sz="1900"/>
              <a:t>control</a:t>
            </a:r>
            <a:endParaRPr/>
          </a:p>
          <a:p>
            <a:pPr indent="-228600" lvl="0" marL="228600" rtl="0" algn="l">
              <a:lnSpc>
                <a:spcPct val="72000"/>
              </a:lnSpc>
              <a:spcBef>
                <a:spcPts val="1000"/>
              </a:spcBef>
              <a:spcAft>
                <a:spcPts val="0"/>
              </a:spcAft>
              <a:buClr>
                <a:srgbClr val="000000"/>
              </a:buClr>
              <a:buSzPts val="1900"/>
              <a:buChar char="•"/>
            </a:pPr>
            <a:r>
              <a:rPr lang="en-US" sz="1900"/>
              <a:t>Break up talk by talk and how it traces his research agenda (interpretability to controllability)</a:t>
            </a:r>
            <a:endParaRPr/>
          </a:p>
          <a:p>
            <a:pPr indent="-228600" lvl="0" marL="228600" rtl="0" algn="l">
              <a:lnSpc>
                <a:spcPct val="72000"/>
              </a:lnSpc>
              <a:spcBef>
                <a:spcPts val="1000"/>
              </a:spcBef>
              <a:spcAft>
                <a:spcPts val="0"/>
              </a:spcAft>
              <a:buClr>
                <a:srgbClr val="000000"/>
              </a:buClr>
              <a:buSzPts val="1900"/>
              <a:buChar char="•"/>
            </a:pPr>
            <a:r>
              <a:rPr lang="en-US" sz="1900"/>
              <a:t>Motivate with examples</a:t>
            </a:r>
            <a:endParaRPr/>
          </a:p>
          <a:p>
            <a:pPr indent="-228600" lvl="0" marL="228600" rtl="0" algn="l">
              <a:lnSpc>
                <a:spcPct val="72000"/>
              </a:lnSpc>
              <a:spcBef>
                <a:spcPts val="1000"/>
              </a:spcBef>
              <a:spcAft>
                <a:spcPts val="0"/>
              </a:spcAft>
              <a:buClr>
                <a:srgbClr val="000000"/>
              </a:buClr>
              <a:buSzPts val="1900"/>
              <a:buChar char="•"/>
            </a:pPr>
            <a:r>
              <a:rPr lang="en-US" sz="1900"/>
              <a:t>Retrieve explanations at test time</a:t>
            </a:r>
            <a:endParaRPr/>
          </a:p>
          <a:p>
            <a:pPr indent="-228600" lvl="1" marL="685800" rtl="0" algn="l">
              <a:lnSpc>
                <a:spcPct val="72000"/>
              </a:lnSpc>
              <a:spcBef>
                <a:spcPts val="500"/>
              </a:spcBef>
              <a:spcAft>
                <a:spcPts val="0"/>
              </a:spcAft>
              <a:buClr>
                <a:srgbClr val="000000"/>
              </a:buClr>
              <a:buSzPts val="1600"/>
              <a:buChar char="•"/>
            </a:pPr>
            <a:r>
              <a:rPr lang="en-US" sz="1600"/>
              <a:t>Simple high level explanation </a:t>
            </a:r>
            <a:endParaRPr/>
          </a:p>
          <a:p>
            <a:pPr indent="-228600" lvl="1" marL="685800" rtl="0" algn="l">
              <a:lnSpc>
                <a:spcPct val="72000"/>
              </a:lnSpc>
              <a:spcBef>
                <a:spcPts val="500"/>
              </a:spcBef>
              <a:spcAft>
                <a:spcPts val="0"/>
              </a:spcAft>
              <a:buClr>
                <a:srgbClr val="000000"/>
              </a:buClr>
              <a:buSzPts val="1600"/>
              <a:buChar char="•"/>
            </a:pPr>
            <a:r>
              <a:rPr lang="en-US" sz="1600"/>
              <a:t>Then immediately show results with a clear question that the plot answers</a:t>
            </a:r>
            <a:endParaRPr/>
          </a:p>
          <a:p>
            <a:pPr indent="-228600" lvl="0" marL="228600" rtl="0" algn="l">
              <a:lnSpc>
                <a:spcPct val="72000"/>
              </a:lnSpc>
              <a:spcBef>
                <a:spcPts val="1000"/>
              </a:spcBef>
              <a:spcAft>
                <a:spcPts val="0"/>
              </a:spcAft>
              <a:buClr>
                <a:srgbClr val="000000"/>
              </a:buClr>
              <a:buSzPts val="1900"/>
              <a:buChar char="•"/>
            </a:pPr>
            <a:r>
              <a:rPr lang="en-US" sz="1900"/>
              <a:t>For transition – what question is left unanswered and then how the next slide addresses this. Framing</a:t>
            </a:r>
            <a:endParaRPr/>
          </a:p>
          <a:p>
            <a:pPr indent="-228600" lvl="0" marL="228600" rtl="0" algn="l">
              <a:lnSpc>
                <a:spcPct val="72000"/>
              </a:lnSpc>
              <a:spcBef>
                <a:spcPts val="1000"/>
              </a:spcBef>
              <a:spcAft>
                <a:spcPts val="0"/>
              </a:spcAft>
              <a:buClr>
                <a:srgbClr val="000000"/>
              </a:buClr>
              <a:buSzPts val="1900"/>
              <a:buChar char="•"/>
            </a:pPr>
            <a:r>
              <a:rPr lang="en-US" sz="1900"/>
              <a:t>“make data” -&gt; train -&gt; etc  </a:t>
            </a:r>
            <a:endParaRPr/>
          </a:p>
        </p:txBody>
      </p:sp>
      <p:sp>
        <p:nvSpPr>
          <p:cNvPr id="1315" name="Google Shape;1315;p125"/>
          <p:cNvSpPr txBox="1"/>
          <p:nvPr>
            <p:ph idx="12" type="sldNum"/>
          </p:nvPr>
        </p:nvSpPr>
        <p:spPr>
          <a:xfrm>
            <a:off x="11148010" y="6404292"/>
            <a:ext cx="205790"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126"/>
          <p:cNvSpPr txBox="1"/>
          <p:nvPr>
            <p:ph type="title"/>
          </p:nvPr>
        </p:nvSpPr>
        <p:spPr>
          <a:xfrm>
            <a:off x="838198" y="365125"/>
            <a:ext cx="10651437"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A brief review of LLM-based inference</a:t>
            </a:r>
            <a:endParaRPr/>
          </a:p>
        </p:txBody>
      </p:sp>
      <p:sp>
        <p:nvSpPr>
          <p:cNvPr id="1321" name="Google Shape;1321;p126"/>
          <p:cNvSpPr/>
          <p:nvPr/>
        </p:nvSpPr>
        <p:spPr>
          <a:xfrm>
            <a:off x="4596970" y="3656141"/>
            <a:ext cx="1924218" cy="2814763"/>
          </a:xfrm>
          <a:prstGeom prst="roundRect">
            <a:avLst>
              <a:gd fmla="val 7989" name="adj"/>
            </a:avLst>
          </a:prstGeom>
          <a:noFill/>
          <a:ln cap="flat" cmpd="sng" w="19050">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22" name="Google Shape;1322;p126"/>
          <p:cNvGrpSpPr/>
          <p:nvPr/>
        </p:nvGrpSpPr>
        <p:grpSpPr>
          <a:xfrm>
            <a:off x="4685760" y="3760835"/>
            <a:ext cx="1747963" cy="389726"/>
            <a:chOff x="0" y="0"/>
            <a:chExt cx="1747961" cy="389725"/>
          </a:xfrm>
        </p:grpSpPr>
        <p:sp>
          <p:nvSpPr>
            <p:cNvPr id="1323" name="Google Shape;1323;p126"/>
            <p:cNvSpPr/>
            <p:nvPr/>
          </p:nvSpPr>
          <p:spPr>
            <a:xfrm>
              <a:off x="0" y="0"/>
              <a:ext cx="1747961" cy="389725"/>
            </a:xfrm>
            <a:prstGeom prst="roundRect">
              <a:avLst>
                <a:gd fmla="val 24311" name="adj"/>
              </a:avLst>
            </a:prstGeom>
            <a:solidFill>
              <a:srgbClr val="F6C6AD"/>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4" name="Google Shape;1324;p126"/>
            <p:cNvSpPr txBox="1"/>
            <p:nvPr/>
          </p:nvSpPr>
          <p:spPr>
            <a:xfrm>
              <a:off x="73470" y="9442"/>
              <a:ext cx="1601021" cy="370841"/>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Instructions</a:t>
              </a:r>
              <a:endParaRPr/>
            </a:p>
          </p:txBody>
        </p:sp>
      </p:grpSp>
      <p:grpSp>
        <p:nvGrpSpPr>
          <p:cNvPr id="1325" name="Google Shape;1325;p126"/>
          <p:cNvGrpSpPr/>
          <p:nvPr/>
        </p:nvGrpSpPr>
        <p:grpSpPr>
          <a:xfrm>
            <a:off x="4685098" y="4255251"/>
            <a:ext cx="1747963" cy="389726"/>
            <a:chOff x="0" y="0"/>
            <a:chExt cx="1747961" cy="389725"/>
          </a:xfrm>
        </p:grpSpPr>
        <p:sp>
          <p:nvSpPr>
            <p:cNvPr id="1326" name="Google Shape;1326;p126"/>
            <p:cNvSpPr/>
            <p:nvPr/>
          </p:nvSpPr>
          <p:spPr>
            <a:xfrm>
              <a:off x="0" y="0"/>
              <a:ext cx="1747961" cy="389725"/>
            </a:xfrm>
            <a:prstGeom prst="roundRect">
              <a:avLst>
                <a:gd fmla="val 24311" name="adj"/>
              </a:avLst>
            </a:prstGeom>
            <a:solidFill>
              <a:srgbClr val="A6CAEC"/>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7" name="Google Shape;1327;p126"/>
            <p:cNvSpPr txBox="1"/>
            <p:nvPr/>
          </p:nvSpPr>
          <p:spPr>
            <a:xfrm>
              <a:off x="73470" y="9442"/>
              <a:ext cx="1601021" cy="370841"/>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Example 1</a:t>
              </a:r>
              <a:endParaRPr/>
            </a:p>
          </p:txBody>
        </p:sp>
      </p:grpSp>
      <p:grpSp>
        <p:nvGrpSpPr>
          <p:cNvPr id="1328" name="Google Shape;1328;p126"/>
          <p:cNvGrpSpPr/>
          <p:nvPr/>
        </p:nvGrpSpPr>
        <p:grpSpPr>
          <a:xfrm>
            <a:off x="4685098" y="4749669"/>
            <a:ext cx="1747963" cy="389726"/>
            <a:chOff x="0" y="0"/>
            <a:chExt cx="1747961" cy="389725"/>
          </a:xfrm>
        </p:grpSpPr>
        <p:sp>
          <p:nvSpPr>
            <p:cNvPr id="1329" name="Google Shape;1329;p126"/>
            <p:cNvSpPr/>
            <p:nvPr/>
          </p:nvSpPr>
          <p:spPr>
            <a:xfrm>
              <a:off x="0" y="0"/>
              <a:ext cx="1747961" cy="389725"/>
            </a:xfrm>
            <a:prstGeom prst="roundRect">
              <a:avLst>
                <a:gd fmla="val 24311" name="adj"/>
              </a:avLst>
            </a:prstGeom>
            <a:solidFill>
              <a:srgbClr val="A6CAEC"/>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0" name="Google Shape;1330;p126"/>
            <p:cNvSpPr txBox="1"/>
            <p:nvPr/>
          </p:nvSpPr>
          <p:spPr>
            <a:xfrm>
              <a:off x="73470" y="9442"/>
              <a:ext cx="1601021" cy="370841"/>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Example 2</a:t>
              </a:r>
              <a:endParaRPr/>
            </a:p>
          </p:txBody>
        </p:sp>
      </p:grpSp>
      <p:grpSp>
        <p:nvGrpSpPr>
          <p:cNvPr id="1331" name="Google Shape;1331;p126"/>
          <p:cNvGrpSpPr/>
          <p:nvPr/>
        </p:nvGrpSpPr>
        <p:grpSpPr>
          <a:xfrm>
            <a:off x="4685098" y="5244086"/>
            <a:ext cx="1747963" cy="389726"/>
            <a:chOff x="0" y="0"/>
            <a:chExt cx="1747961" cy="389725"/>
          </a:xfrm>
        </p:grpSpPr>
        <p:sp>
          <p:nvSpPr>
            <p:cNvPr id="1332" name="Google Shape;1332;p126"/>
            <p:cNvSpPr/>
            <p:nvPr/>
          </p:nvSpPr>
          <p:spPr>
            <a:xfrm>
              <a:off x="0" y="0"/>
              <a:ext cx="1747961" cy="389725"/>
            </a:xfrm>
            <a:prstGeom prst="roundRect">
              <a:avLst>
                <a:gd fmla="val 24311" name="adj"/>
              </a:avLst>
            </a:prstGeom>
            <a:solidFill>
              <a:srgbClr val="A6CAEC"/>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3" name="Google Shape;1333;p126"/>
            <p:cNvSpPr txBox="1"/>
            <p:nvPr/>
          </p:nvSpPr>
          <p:spPr>
            <a:xfrm>
              <a:off x="73470" y="9442"/>
              <a:ext cx="1601021" cy="370841"/>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Example N</a:t>
              </a:r>
              <a:endParaRPr/>
            </a:p>
          </p:txBody>
        </p:sp>
      </p:grpSp>
      <p:grpSp>
        <p:nvGrpSpPr>
          <p:cNvPr id="1334" name="Google Shape;1334;p126"/>
          <p:cNvGrpSpPr/>
          <p:nvPr/>
        </p:nvGrpSpPr>
        <p:grpSpPr>
          <a:xfrm>
            <a:off x="4685098" y="5765936"/>
            <a:ext cx="1747963" cy="570032"/>
            <a:chOff x="0" y="0"/>
            <a:chExt cx="1747961" cy="570030"/>
          </a:xfrm>
        </p:grpSpPr>
        <p:sp>
          <p:nvSpPr>
            <p:cNvPr id="1335" name="Google Shape;1335;p126"/>
            <p:cNvSpPr/>
            <p:nvPr/>
          </p:nvSpPr>
          <p:spPr>
            <a:xfrm>
              <a:off x="0" y="0"/>
              <a:ext cx="1747961" cy="570030"/>
            </a:xfrm>
            <a:prstGeom prst="roundRect">
              <a:avLst>
                <a:gd fmla="val 24311" name="adj"/>
              </a:avLst>
            </a:prstGeom>
            <a:solidFill>
              <a:srgbClr val="BFBFB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6" name="Google Shape;1336;p126"/>
            <p:cNvSpPr txBox="1"/>
            <p:nvPr/>
          </p:nvSpPr>
          <p:spPr>
            <a:xfrm>
              <a:off x="86309" y="99594"/>
              <a:ext cx="1575344" cy="370841"/>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Sentence</a:t>
              </a:r>
              <a:endParaRPr/>
            </a:p>
          </p:txBody>
        </p:sp>
      </p:grpSp>
      <p:sp>
        <p:nvSpPr>
          <p:cNvPr id="1337" name="Google Shape;1337;p126"/>
          <p:cNvSpPr txBox="1"/>
          <p:nvPr/>
        </p:nvSpPr>
        <p:spPr>
          <a:xfrm>
            <a:off x="5116000" y="3202651"/>
            <a:ext cx="847549"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Prompt</a:t>
            </a:r>
            <a:endParaRPr/>
          </a:p>
        </p:txBody>
      </p:sp>
      <p:sp>
        <p:nvSpPr>
          <p:cNvPr id="1338" name="Google Shape;1338;p126"/>
          <p:cNvSpPr/>
          <p:nvPr/>
        </p:nvSpPr>
        <p:spPr>
          <a:xfrm>
            <a:off x="969348" y="3660842"/>
            <a:ext cx="1924218" cy="1325564"/>
          </a:xfrm>
          <a:prstGeom prst="roundRect">
            <a:avLst>
              <a:gd fmla="val 7989" name="adj"/>
            </a:avLst>
          </a:prstGeom>
          <a:noFill/>
          <a:ln cap="flat" cmpd="sng" w="19050">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39" name="Google Shape;1339;p126"/>
          <p:cNvGrpSpPr/>
          <p:nvPr/>
        </p:nvGrpSpPr>
        <p:grpSpPr>
          <a:xfrm>
            <a:off x="1058138" y="3765536"/>
            <a:ext cx="1747963" cy="389726"/>
            <a:chOff x="0" y="0"/>
            <a:chExt cx="1747961" cy="389725"/>
          </a:xfrm>
        </p:grpSpPr>
        <p:sp>
          <p:nvSpPr>
            <p:cNvPr id="1340" name="Google Shape;1340;p126"/>
            <p:cNvSpPr/>
            <p:nvPr/>
          </p:nvSpPr>
          <p:spPr>
            <a:xfrm>
              <a:off x="0" y="0"/>
              <a:ext cx="1747961" cy="389725"/>
            </a:xfrm>
            <a:prstGeom prst="roundRect">
              <a:avLst>
                <a:gd fmla="val 24311" name="adj"/>
              </a:avLst>
            </a:prstGeom>
            <a:solidFill>
              <a:srgbClr val="F6C6AD"/>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1" name="Google Shape;1341;p126"/>
            <p:cNvSpPr txBox="1"/>
            <p:nvPr/>
          </p:nvSpPr>
          <p:spPr>
            <a:xfrm>
              <a:off x="73470" y="9442"/>
              <a:ext cx="1601021" cy="370841"/>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Instructions</a:t>
              </a:r>
              <a:endParaRPr/>
            </a:p>
          </p:txBody>
        </p:sp>
      </p:grpSp>
      <p:grpSp>
        <p:nvGrpSpPr>
          <p:cNvPr id="1342" name="Google Shape;1342;p126"/>
          <p:cNvGrpSpPr/>
          <p:nvPr/>
        </p:nvGrpSpPr>
        <p:grpSpPr>
          <a:xfrm>
            <a:off x="1051180" y="4281044"/>
            <a:ext cx="1747963" cy="570032"/>
            <a:chOff x="0" y="0"/>
            <a:chExt cx="1747961" cy="570030"/>
          </a:xfrm>
        </p:grpSpPr>
        <p:sp>
          <p:nvSpPr>
            <p:cNvPr id="1343" name="Google Shape;1343;p126"/>
            <p:cNvSpPr/>
            <p:nvPr/>
          </p:nvSpPr>
          <p:spPr>
            <a:xfrm>
              <a:off x="0" y="0"/>
              <a:ext cx="1747961" cy="570030"/>
            </a:xfrm>
            <a:prstGeom prst="roundRect">
              <a:avLst>
                <a:gd fmla="val 24311" name="adj"/>
              </a:avLst>
            </a:prstGeom>
            <a:solidFill>
              <a:srgbClr val="BFBFB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4" name="Google Shape;1344;p126"/>
            <p:cNvSpPr txBox="1"/>
            <p:nvPr/>
          </p:nvSpPr>
          <p:spPr>
            <a:xfrm>
              <a:off x="86309" y="99594"/>
              <a:ext cx="1575344" cy="370841"/>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Sentence</a:t>
              </a:r>
              <a:endParaRPr/>
            </a:p>
          </p:txBody>
        </p:sp>
      </p:grpSp>
      <p:sp>
        <p:nvSpPr>
          <p:cNvPr id="1345" name="Google Shape;1345;p126"/>
          <p:cNvSpPr txBox="1"/>
          <p:nvPr/>
        </p:nvSpPr>
        <p:spPr>
          <a:xfrm>
            <a:off x="1508343" y="3243804"/>
            <a:ext cx="847550"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Prompt</a:t>
            </a:r>
            <a:endParaRPr/>
          </a:p>
        </p:txBody>
      </p:sp>
      <p:sp>
        <p:nvSpPr>
          <p:cNvPr id="1346" name="Google Shape;1346;p126"/>
          <p:cNvSpPr txBox="1"/>
          <p:nvPr/>
        </p:nvSpPr>
        <p:spPr>
          <a:xfrm>
            <a:off x="1237108" y="1841667"/>
            <a:ext cx="1438548"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Zero-shot</a:t>
            </a:r>
            <a:endParaRPr/>
          </a:p>
        </p:txBody>
      </p:sp>
      <p:sp>
        <p:nvSpPr>
          <p:cNvPr id="1347" name="Google Shape;1347;p126"/>
          <p:cNvSpPr txBox="1"/>
          <p:nvPr/>
        </p:nvSpPr>
        <p:spPr>
          <a:xfrm>
            <a:off x="4181337" y="1651699"/>
            <a:ext cx="2716875" cy="828041"/>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In-context Learning / Few-shot</a:t>
            </a:r>
            <a:endParaRPr/>
          </a:p>
        </p:txBody>
      </p:sp>
      <p:sp>
        <p:nvSpPr>
          <p:cNvPr id="1348" name="Google Shape;1348;p126"/>
          <p:cNvSpPr txBox="1"/>
          <p:nvPr/>
        </p:nvSpPr>
        <p:spPr>
          <a:xfrm>
            <a:off x="8235562" y="1841667"/>
            <a:ext cx="2121924"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Fine-Tuning</a:t>
            </a:r>
            <a:endParaRPr/>
          </a:p>
        </p:txBody>
      </p:sp>
      <p:grpSp>
        <p:nvGrpSpPr>
          <p:cNvPr id="1349" name="Google Shape;1349;p126"/>
          <p:cNvGrpSpPr/>
          <p:nvPr/>
        </p:nvGrpSpPr>
        <p:grpSpPr>
          <a:xfrm>
            <a:off x="7717024" y="2518311"/>
            <a:ext cx="1015139" cy="579968"/>
            <a:chOff x="0" y="0"/>
            <a:chExt cx="1015137" cy="579967"/>
          </a:xfrm>
        </p:grpSpPr>
        <p:sp>
          <p:nvSpPr>
            <p:cNvPr id="1350" name="Google Shape;1350;p126"/>
            <p:cNvSpPr/>
            <p:nvPr/>
          </p:nvSpPr>
          <p:spPr>
            <a:xfrm>
              <a:off x="0" y="0"/>
              <a:ext cx="1015137" cy="579967"/>
            </a:xfrm>
            <a:prstGeom prst="roundRect">
              <a:avLst>
                <a:gd fmla="val 24311" name="adj"/>
              </a:avLst>
            </a:prstGeom>
            <a:solidFill>
              <a:srgbClr val="F2CFE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1" name="Google Shape;1351;p126"/>
            <p:cNvSpPr txBox="1"/>
            <p:nvPr/>
          </p:nvSpPr>
          <p:spPr>
            <a:xfrm>
              <a:off x="87015" y="104563"/>
              <a:ext cx="841107" cy="370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LLM</a:t>
              </a:r>
              <a:endParaRPr/>
            </a:p>
          </p:txBody>
        </p:sp>
      </p:grpSp>
      <p:cxnSp>
        <p:nvCxnSpPr>
          <p:cNvPr id="1352" name="Google Shape;1352;p126"/>
          <p:cNvCxnSpPr/>
          <p:nvPr/>
        </p:nvCxnSpPr>
        <p:spPr>
          <a:xfrm>
            <a:off x="9937499" y="3441771"/>
            <a:ext cx="1158" cy="477087"/>
          </a:xfrm>
          <a:prstGeom prst="straightConnector1">
            <a:avLst/>
          </a:prstGeom>
          <a:noFill/>
          <a:ln cap="flat" cmpd="sng" w="19050">
            <a:solidFill>
              <a:srgbClr val="000000"/>
            </a:solidFill>
            <a:prstDash val="solid"/>
            <a:miter lim="8000"/>
            <a:headEnd len="sm" w="sm" type="none"/>
            <a:tailEnd len="med" w="med" type="triangle"/>
          </a:ln>
        </p:spPr>
      </p:cxnSp>
      <p:cxnSp>
        <p:nvCxnSpPr>
          <p:cNvPr id="1353" name="Google Shape;1353;p126"/>
          <p:cNvCxnSpPr/>
          <p:nvPr/>
        </p:nvCxnSpPr>
        <p:spPr>
          <a:xfrm>
            <a:off x="8827803" y="2809872"/>
            <a:ext cx="241528" cy="1"/>
          </a:xfrm>
          <a:prstGeom prst="straightConnector1">
            <a:avLst/>
          </a:prstGeom>
          <a:noFill/>
          <a:ln cap="flat" cmpd="sng" w="19050">
            <a:solidFill>
              <a:srgbClr val="000000"/>
            </a:solidFill>
            <a:prstDash val="solid"/>
            <a:miter lim="8000"/>
            <a:headEnd len="sm" w="sm" type="none"/>
            <a:tailEnd len="sm" w="sm" type="none"/>
          </a:ln>
        </p:spPr>
      </p:cxnSp>
      <p:grpSp>
        <p:nvGrpSpPr>
          <p:cNvPr id="1354" name="Google Shape;1354;p126"/>
          <p:cNvGrpSpPr/>
          <p:nvPr/>
        </p:nvGrpSpPr>
        <p:grpSpPr>
          <a:xfrm>
            <a:off x="9128158" y="2543777"/>
            <a:ext cx="1211528" cy="178082"/>
            <a:chOff x="0" y="0"/>
            <a:chExt cx="1211526" cy="178080"/>
          </a:xfrm>
        </p:grpSpPr>
        <p:sp>
          <p:nvSpPr>
            <p:cNvPr id="1355" name="Google Shape;1355;p126"/>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6" name="Google Shape;1356;p126"/>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7" name="Google Shape;1357;p126"/>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58" name="Google Shape;1358;p126"/>
          <p:cNvGrpSpPr/>
          <p:nvPr/>
        </p:nvGrpSpPr>
        <p:grpSpPr>
          <a:xfrm>
            <a:off x="9194533" y="2607716"/>
            <a:ext cx="1211528" cy="182336"/>
            <a:chOff x="0" y="-1"/>
            <a:chExt cx="1211526" cy="182334"/>
          </a:xfrm>
        </p:grpSpPr>
        <p:sp>
          <p:nvSpPr>
            <p:cNvPr id="1359" name="Google Shape;1359;p126"/>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0" name="Google Shape;1360;p126"/>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1" name="Google Shape;1361;p126"/>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62" name="Google Shape;1362;p126"/>
          <p:cNvGrpSpPr/>
          <p:nvPr/>
        </p:nvGrpSpPr>
        <p:grpSpPr>
          <a:xfrm>
            <a:off x="9284923" y="2699263"/>
            <a:ext cx="1207555" cy="185943"/>
            <a:chOff x="-1" y="0"/>
            <a:chExt cx="1207554" cy="185941"/>
          </a:xfrm>
        </p:grpSpPr>
        <p:sp>
          <p:nvSpPr>
            <p:cNvPr id="1363" name="Google Shape;1363;p126"/>
            <p:cNvSpPr/>
            <p:nvPr/>
          </p:nvSpPr>
          <p:spPr>
            <a:xfrm>
              <a:off x="-1" y="0"/>
              <a:ext cx="478703"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4" name="Google Shape;1364;p126"/>
            <p:cNvSpPr/>
            <p:nvPr/>
          </p:nvSpPr>
          <p:spPr>
            <a:xfrm rot="-5400000">
              <a:off x="561237" y="14092"/>
              <a:ext cx="70289" cy="165618"/>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5" name="Google Shape;1365;p126"/>
            <p:cNvSpPr/>
            <p:nvPr/>
          </p:nvSpPr>
          <p:spPr>
            <a:xfrm>
              <a:off x="728849" y="7861"/>
              <a:ext cx="478704"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66" name="Google Shape;1366;p126"/>
          <p:cNvGrpSpPr/>
          <p:nvPr/>
        </p:nvGrpSpPr>
        <p:grpSpPr>
          <a:xfrm>
            <a:off x="9382204" y="2796495"/>
            <a:ext cx="1211528" cy="178082"/>
            <a:chOff x="0" y="0"/>
            <a:chExt cx="1211526" cy="178080"/>
          </a:xfrm>
        </p:grpSpPr>
        <p:sp>
          <p:nvSpPr>
            <p:cNvPr id="1367" name="Google Shape;1367;p126"/>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8" name="Google Shape;1368;p126"/>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9" name="Google Shape;1369;p126"/>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70" name="Google Shape;1370;p126"/>
          <p:cNvGrpSpPr/>
          <p:nvPr/>
        </p:nvGrpSpPr>
        <p:grpSpPr>
          <a:xfrm>
            <a:off x="9246482" y="4034651"/>
            <a:ext cx="1438549" cy="650242"/>
            <a:chOff x="0" y="-1"/>
            <a:chExt cx="1438547" cy="650241"/>
          </a:xfrm>
        </p:grpSpPr>
        <p:sp>
          <p:nvSpPr>
            <p:cNvPr id="1371" name="Google Shape;1371;p126"/>
            <p:cNvSpPr/>
            <p:nvPr/>
          </p:nvSpPr>
          <p:spPr>
            <a:xfrm>
              <a:off x="0" y="35137"/>
              <a:ext cx="1438547" cy="579967"/>
            </a:xfrm>
            <a:prstGeom prst="roundRect">
              <a:avLst>
                <a:gd fmla="val 24311" name="adj"/>
              </a:avLst>
            </a:prstGeom>
            <a:solidFill>
              <a:srgbClr val="D86ECC"/>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2" name="Google Shape;1372;p126"/>
            <p:cNvSpPr txBox="1"/>
            <p:nvPr/>
          </p:nvSpPr>
          <p:spPr>
            <a:xfrm>
              <a:off x="87015" y="-1"/>
              <a:ext cx="1264517" cy="650241"/>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Fine-Tuned LLM</a:t>
              </a:r>
              <a:endParaRPr/>
            </a:p>
          </p:txBody>
        </p:sp>
      </p:grpSp>
      <p:sp>
        <p:nvSpPr>
          <p:cNvPr id="1373" name="Google Shape;1373;p126"/>
          <p:cNvSpPr txBox="1"/>
          <p:nvPr/>
        </p:nvSpPr>
        <p:spPr>
          <a:xfrm>
            <a:off x="9218970" y="3041013"/>
            <a:ext cx="1420340"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Labeled data</a:t>
            </a:r>
            <a:endParaRPr/>
          </a:p>
        </p:txBody>
      </p:sp>
      <p:sp>
        <p:nvSpPr>
          <p:cNvPr id="1374" name="Google Shape;1374;p126"/>
          <p:cNvSpPr/>
          <p:nvPr/>
        </p:nvSpPr>
        <p:spPr>
          <a:xfrm>
            <a:off x="9091418" y="5425825"/>
            <a:ext cx="1924217" cy="836214"/>
          </a:xfrm>
          <a:prstGeom prst="roundRect">
            <a:avLst>
              <a:gd fmla="val 7989" name="adj"/>
            </a:avLst>
          </a:prstGeom>
          <a:noFill/>
          <a:ln cap="flat" cmpd="sng" w="19050">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75" name="Google Shape;1375;p126"/>
          <p:cNvGrpSpPr/>
          <p:nvPr/>
        </p:nvGrpSpPr>
        <p:grpSpPr>
          <a:xfrm>
            <a:off x="9173250" y="5556677"/>
            <a:ext cx="1747963" cy="570032"/>
            <a:chOff x="0" y="0"/>
            <a:chExt cx="1747961" cy="570030"/>
          </a:xfrm>
        </p:grpSpPr>
        <p:sp>
          <p:nvSpPr>
            <p:cNvPr id="1376" name="Google Shape;1376;p126"/>
            <p:cNvSpPr/>
            <p:nvPr/>
          </p:nvSpPr>
          <p:spPr>
            <a:xfrm>
              <a:off x="0" y="0"/>
              <a:ext cx="1747961" cy="570030"/>
            </a:xfrm>
            <a:prstGeom prst="roundRect">
              <a:avLst>
                <a:gd fmla="val 24311" name="adj"/>
              </a:avLst>
            </a:prstGeom>
            <a:solidFill>
              <a:srgbClr val="BFBFB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7" name="Google Shape;1377;p126"/>
            <p:cNvSpPr txBox="1"/>
            <p:nvPr/>
          </p:nvSpPr>
          <p:spPr>
            <a:xfrm>
              <a:off x="86309" y="99594"/>
              <a:ext cx="1575344" cy="370841"/>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Sentence</a:t>
              </a:r>
              <a:endParaRPr/>
            </a:p>
          </p:txBody>
        </p:sp>
      </p:grpSp>
      <p:sp>
        <p:nvSpPr>
          <p:cNvPr id="1378" name="Google Shape;1378;p126"/>
          <p:cNvSpPr txBox="1"/>
          <p:nvPr/>
        </p:nvSpPr>
        <p:spPr>
          <a:xfrm>
            <a:off x="9578197" y="4984946"/>
            <a:ext cx="1321245"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Prompt</a:t>
            </a:r>
            <a:endParaRPr/>
          </a:p>
        </p:txBody>
      </p:sp>
      <p:grpSp>
        <p:nvGrpSpPr>
          <p:cNvPr id="1379" name="Google Shape;1379;p126"/>
          <p:cNvGrpSpPr/>
          <p:nvPr/>
        </p:nvGrpSpPr>
        <p:grpSpPr>
          <a:xfrm>
            <a:off x="5032206" y="2526365"/>
            <a:ext cx="1015138" cy="579968"/>
            <a:chOff x="0" y="0"/>
            <a:chExt cx="1015137" cy="579967"/>
          </a:xfrm>
        </p:grpSpPr>
        <p:sp>
          <p:nvSpPr>
            <p:cNvPr id="1380" name="Google Shape;1380;p126"/>
            <p:cNvSpPr/>
            <p:nvPr/>
          </p:nvSpPr>
          <p:spPr>
            <a:xfrm>
              <a:off x="0" y="0"/>
              <a:ext cx="1015137" cy="579967"/>
            </a:xfrm>
            <a:prstGeom prst="roundRect">
              <a:avLst>
                <a:gd fmla="val 24311" name="adj"/>
              </a:avLst>
            </a:prstGeom>
            <a:solidFill>
              <a:srgbClr val="F2CFE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1" name="Google Shape;1381;p126"/>
            <p:cNvSpPr txBox="1"/>
            <p:nvPr/>
          </p:nvSpPr>
          <p:spPr>
            <a:xfrm>
              <a:off x="87015" y="104563"/>
              <a:ext cx="841107" cy="370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LLM</a:t>
              </a:r>
              <a:endParaRPr/>
            </a:p>
          </p:txBody>
        </p:sp>
      </p:grpSp>
      <p:grpSp>
        <p:nvGrpSpPr>
          <p:cNvPr id="1382" name="Google Shape;1382;p126"/>
          <p:cNvGrpSpPr/>
          <p:nvPr/>
        </p:nvGrpSpPr>
        <p:grpSpPr>
          <a:xfrm>
            <a:off x="1424549" y="2518311"/>
            <a:ext cx="1015139" cy="579968"/>
            <a:chOff x="0" y="0"/>
            <a:chExt cx="1015137" cy="579967"/>
          </a:xfrm>
        </p:grpSpPr>
        <p:sp>
          <p:nvSpPr>
            <p:cNvPr id="1383" name="Google Shape;1383;p126"/>
            <p:cNvSpPr/>
            <p:nvPr/>
          </p:nvSpPr>
          <p:spPr>
            <a:xfrm>
              <a:off x="0" y="0"/>
              <a:ext cx="1015137" cy="579967"/>
            </a:xfrm>
            <a:prstGeom prst="roundRect">
              <a:avLst>
                <a:gd fmla="val 24311" name="adj"/>
              </a:avLst>
            </a:prstGeom>
            <a:solidFill>
              <a:srgbClr val="F2CFEE"/>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4" name="Google Shape;1384;p126"/>
            <p:cNvSpPr txBox="1"/>
            <p:nvPr/>
          </p:nvSpPr>
          <p:spPr>
            <a:xfrm>
              <a:off x="87015" y="104563"/>
              <a:ext cx="841107" cy="370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LLM</a:t>
              </a:r>
              <a:endParaRPr/>
            </a:p>
          </p:txBody>
        </p:sp>
      </p:grpSp>
      <p:sp>
        <p:nvSpPr>
          <p:cNvPr id="1385" name="Google Shape;1385;p12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p12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Smaller fine-tuned models outperform large models &amp; better reflect human judgement</a:t>
            </a:r>
            <a:endParaRPr/>
          </a:p>
        </p:txBody>
      </p:sp>
      <p:pic>
        <p:nvPicPr>
          <p:cNvPr descr="Picture 6" id="1391" name="Google Shape;1391;p127"/>
          <p:cNvPicPr preferRelativeResize="0"/>
          <p:nvPr/>
        </p:nvPicPr>
        <p:blipFill rotWithShape="1">
          <a:blip r:embed="rId3">
            <a:alphaModFix/>
          </a:blip>
          <a:srcRect b="0" l="0" r="0" t="0"/>
          <a:stretch/>
        </p:blipFill>
        <p:spPr>
          <a:xfrm>
            <a:off x="2635692" y="2357863"/>
            <a:ext cx="6786606" cy="3137292"/>
          </a:xfrm>
          <a:prstGeom prst="rect">
            <a:avLst/>
          </a:prstGeom>
          <a:noFill/>
          <a:ln>
            <a:noFill/>
          </a:ln>
        </p:spPr>
      </p:pic>
      <p:sp>
        <p:nvSpPr>
          <p:cNvPr id="1392" name="Google Shape;1392;p127"/>
          <p:cNvSpPr/>
          <p:nvPr/>
        </p:nvSpPr>
        <p:spPr>
          <a:xfrm>
            <a:off x="4592844" y="5131675"/>
            <a:ext cx="1232515" cy="268016"/>
          </a:xfrm>
          <a:prstGeom prst="roundRect">
            <a:avLst>
              <a:gd fmla="val 16667" name="adj"/>
            </a:avLst>
          </a:prstGeom>
          <a:noFill/>
          <a:ln cap="flat" cmpd="sng" w="38100">
            <a:solidFill>
              <a:srgbClr val="F4B183"/>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494248"/>
              </a:buClr>
              <a:buSzPts val="1800"/>
              <a:buFont typeface="Roboto"/>
              <a:buNone/>
            </a:pPr>
            <a:r>
              <a:t/>
            </a:r>
            <a:endParaRPr b="0" i="0" sz="1800" u="none" cap="none" strike="noStrike">
              <a:solidFill>
                <a:srgbClr val="000000"/>
              </a:solidFill>
              <a:latin typeface="Arial"/>
              <a:ea typeface="Arial"/>
              <a:cs typeface="Arial"/>
              <a:sym typeface="Arial"/>
            </a:endParaRPr>
          </a:p>
        </p:txBody>
      </p:sp>
      <p:sp>
        <p:nvSpPr>
          <p:cNvPr id="1393" name="Google Shape;1393;p127"/>
          <p:cNvSpPr/>
          <p:nvPr/>
        </p:nvSpPr>
        <p:spPr>
          <a:xfrm>
            <a:off x="5336452" y="4070129"/>
            <a:ext cx="1308715" cy="268016"/>
          </a:xfrm>
          <a:prstGeom prst="roundRect">
            <a:avLst>
              <a:gd fmla="val 16667" name="adj"/>
            </a:avLst>
          </a:prstGeom>
          <a:noFill/>
          <a:ln cap="flat" cmpd="sng" w="38100">
            <a:solidFill>
              <a:srgbClr val="F4B183"/>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494248"/>
              </a:buClr>
              <a:buSzPts val="1800"/>
              <a:buFont typeface="Roboto"/>
              <a:buNone/>
            </a:pPr>
            <a:r>
              <a:t/>
            </a:r>
            <a:endParaRPr b="0" i="0" sz="1800" u="none" cap="none" strike="noStrike">
              <a:solidFill>
                <a:srgbClr val="000000"/>
              </a:solidFill>
              <a:latin typeface="Arial"/>
              <a:ea typeface="Arial"/>
              <a:cs typeface="Arial"/>
              <a:sym typeface="Arial"/>
            </a:endParaRPr>
          </a:p>
        </p:txBody>
      </p:sp>
      <p:sp>
        <p:nvSpPr>
          <p:cNvPr id="1394" name="Google Shape;1394;p127"/>
          <p:cNvSpPr txBox="1"/>
          <p:nvPr/>
        </p:nvSpPr>
        <p:spPr>
          <a:xfrm>
            <a:off x="838198" y="5629492"/>
            <a:ext cx="10631928" cy="974091"/>
          </a:xfrm>
          <a:prstGeom prst="rect">
            <a:avLst/>
          </a:prstGeom>
          <a:noFill/>
          <a:ln cap="flat" cmpd="sng" w="19050">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494248"/>
              </a:buClr>
              <a:buSzPts val="2800"/>
              <a:buFont typeface="Arial"/>
              <a:buNone/>
            </a:pPr>
            <a:r>
              <a:rPr b="0" i="0" lang="en-US" sz="2800" u="none" cap="none" strike="noStrike">
                <a:solidFill>
                  <a:srgbClr val="494248"/>
                </a:solidFill>
                <a:latin typeface="Arial"/>
                <a:ea typeface="Arial"/>
                <a:cs typeface="Arial"/>
                <a:sym typeface="Arial"/>
              </a:rPr>
              <a:t>Llama, a larger model than Phi-2, continues to learn with additional data (Hist. + Contemp.)</a:t>
            </a:r>
            <a:endParaRPr/>
          </a:p>
        </p:txBody>
      </p:sp>
      <p:sp>
        <p:nvSpPr>
          <p:cNvPr id="1395" name="Google Shape;1395;p127"/>
          <p:cNvSpPr/>
          <p:nvPr/>
        </p:nvSpPr>
        <p:spPr>
          <a:xfrm>
            <a:off x="4538979" y="3567388"/>
            <a:ext cx="1308715" cy="1832302"/>
          </a:xfrm>
          <a:prstGeom prst="roundRect">
            <a:avLst>
              <a:gd fmla="val 7030" name="adj"/>
            </a:avLst>
          </a:prstGeom>
          <a:noFill/>
          <a:ln cap="flat" cmpd="sng" w="38100">
            <a:solidFill>
              <a:srgbClr val="F4B183"/>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494248"/>
              </a:buClr>
              <a:buSzPts val="1800"/>
              <a:buFont typeface="Roboto"/>
              <a:buNone/>
            </a:pPr>
            <a:r>
              <a:t/>
            </a:r>
            <a:endParaRPr b="0" i="0" sz="1800" u="none" cap="none" strike="noStrike">
              <a:solidFill>
                <a:srgbClr val="000000"/>
              </a:solidFill>
              <a:latin typeface="Arial"/>
              <a:ea typeface="Arial"/>
              <a:cs typeface="Arial"/>
              <a:sym typeface="Arial"/>
            </a:endParaRPr>
          </a:p>
        </p:txBody>
      </p:sp>
      <p:sp>
        <p:nvSpPr>
          <p:cNvPr id="1396" name="Google Shape;1396;p12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9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9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12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Causes of inflation</a:t>
            </a:r>
            <a:endParaRPr/>
          </a:p>
        </p:txBody>
      </p:sp>
      <p:pic>
        <p:nvPicPr>
          <p:cNvPr descr="Picture 8" id="1402" name="Google Shape;1402;p128"/>
          <p:cNvPicPr preferRelativeResize="0"/>
          <p:nvPr/>
        </p:nvPicPr>
        <p:blipFill rotWithShape="1">
          <a:blip r:embed="rId3">
            <a:alphaModFix/>
          </a:blip>
          <a:srcRect b="0" l="0" r="0" t="9226"/>
          <a:stretch/>
        </p:blipFill>
        <p:spPr>
          <a:xfrm>
            <a:off x="1819905" y="1805152"/>
            <a:ext cx="8342791" cy="4343400"/>
          </a:xfrm>
          <a:prstGeom prst="rect">
            <a:avLst/>
          </a:prstGeom>
          <a:noFill/>
          <a:ln>
            <a:noFill/>
          </a:ln>
        </p:spPr>
      </p:pic>
      <p:sp>
        <p:nvSpPr>
          <p:cNvPr id="1403" name="Google Shape;1403;p12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2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Effects of inflation</a:t>
            </a:r>
            <a:endParaRPr/>
          </a:p>
        </p:txBody>
      </p:sp>
      <p:pic>
        <p:nvPicPr>
          <p:cNvPr descr="Picture 2" id="1409" name="Google Shape;1409;p129"/>
          <p:cNvPicPr preferRelativeResize="0"/>
          <p:nvPr/>
        </p:nvPicPr>
        <p:blipFill rotWithShape="1">
          <a:blip r:embed="rId3">
            <a:alphaModFix/>
          </a:blip>
          <a:srcRect b="0" l="0" r="0" t="10182"/>
          <a:stretch/>
        </p:blipFill>
        <p:spPr>
          <a:xfrm>
            <a:off x="1850350" y="1813034"/>
            <a:ext cx="8491299" cy="4369538"/>
          </a:xfrm>
          <a:prstGeom prst="rect">
            <a:avLst/>
          </a:prstGeom>
          <a:noFill/>
          <a:ln>
            <a:noFill/>
          </a:ln>
        </p:spPr>
      </p:pic>
      <p:sp>
        <p:nvSpPr>
          <p:cNvPr id="1410" name="Google Shape;1410;p12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3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CaseSumm: A large-scale SCOTUS Dataset</a:t>
            </a:r>
            <a:endParaRPr/>
          </a:p>
        </p:txBody>
      </p:sp>
      <p:grpSp>
        <p:nvGrpSpPr>
          <p:cNvPr id="1416" name="Google Shape;1416;p130"/>
          <p:cNvGrpSpPr/>
          <p:nvPr/>
        </p:nvGrpSpPr>
        <p:grpSpPr>
          <a:xfrm>
            <a:off x="6529012" y="1802460"/>
            <a:ext cx="4871790" cy="1944906"/>
            <a:chOff x="0" y="0"/>
            <a:chExt cx="4871788" cy="1944905"/>
          </a:xfrm>
        </p:grpSpPr>
        <p:pic>
          <p:nvPicPr>
            <p:cNvPr descr="Picture 8" id="1417" name="Google Shape;1417;p130"/>
            <p:cNvPicPr preferRelativeResize="0"/>
            <p:nvPr/>
          </p:nvPicPr>
          <p:blipFill rotWithShape="1">
            <a:blip r:embed="rId3">
              <a:alphaModFix/>
            </a:blip>
            <a:srcRect b="56973" l="0" r="0" t="0"/>
            <a:stretch/>
          </p:blipFill>
          <p:spPr>
            <a:xfrm>
              <a:off x="0" y="0"/>
              <a:ext cx="4871788" cy="1944905"/>
            </a:xfrm>
            <a:prstGeom prst="rect">
              <a:avLst/>
            </a:prstGeom>
            <a:noFill/>
            <a:ln>
              <a:noFill/>
            </a:ln>
          </p:spPr>
        </p:pic>
        <p:sp>
          <p:nvSpPr>
            <p:cNvPr id="1418" name="Google Shape;1418;p130"/>
            <p:cNvSpPr/>
            <p:nvPr/>
          </p:nvSpPr>
          <p:spPr>
            <a:xfrm>
              <a:off x="1679274" y="432381"/>
              <a:ext cx="1547179" cy="318278"/>
            </a:xfrm>
            <a:prstGeom prst="rect">
              <a:avLst/>
            </a:prstGeom>
            <a:noFill/>
            <a:ln cap="flat" cmpd="sng" w="28575">
              <a:solidFill>
                <a:srgbClr val="FF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419" name="Google Shape;1419;p130"/>
          <p:cNvGrpSpPr/>
          <p:nvPr/>
        </p:nvGrpSpPr>
        <p:grpSpPr>
          <a:xfrm>
            <a:off x="854557" y="1675357"/>
            <a:ext cx="5233777" cy="2937670"/>
            <a:chOff x="0" y="0"/>
            <a:chExt cx="5233775" cy="2937668"/>
          </a:xfrm>
        </p:grpSpPr>
        <p:pic>
          <p:nvPicPr>
            <p:cNvPr descr="Picture 4" id="1420" name="Google Shape;1420;p130"/>
            <p:cNvPicPr preferRelativeResize="0"/>
            <p:nvPr/>
          </p:nvPicPr>
          <p:blipFill rotWithShape="1">
            <a:blip r:embed="rId4">
              <a:alphaModFix/>
            </a:blip>
            <a:srcRect b="64836" l="0" r="0" t="0"/>
            <a:stretch/>
          </p:blipFill>
          <p:spPr>
            <a:xfrm>
              <a:off x="0" y="0"/>
              <a:ext cx="5233775" cy="2937668"/>
            </a:xfrm>
            <a:prstGeom prst="rect">
              <a:avLst/>
            </a:prstGeom>
            <a:noFill/>
            <a:ln>
              <a:noFill/>
            </a:ln>
          </p:spPr>
        </p:pic>
        <p:sp>
          <p:nvSpPr>
            <p:cNvPr id="1421" name="Google Shape;1421;p130"/>
            <p:cNvSpPr/>
            <p:nvPr/>
          </p:nvSpPr>
          <p:spPr>
            <a:xfrm>
              <a:off x="2125982" y="529825"/>
              <a:ext cx="853430" cy="310340"/>
            </a:xfrm>
            <a:prstGeom prst="rect">
              <a:avLst/>
            </a:prstGeom>
            <a:noFill/>
            <a:ln cap="flat" cmpd="sng" w="28575">
              <a:solidFill>
                <a:srgbClr val="FF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422" name="Google Shape;1422;p130"/>
          <p:cNvSpPr/>
          <p:nvPr/>
        </p:nvSpPr>
        <p:spPr>
          <a:xfrm>
            <a:off x="752731" y="1810566"/>
            <a:ext cx="5233776" cy="2843052"/>
          </a:xfrm>
          <a:prstGeom prst="rect">
            <a:avLst/>
          </a:prstGeom>
          <a:noFill/>
          <a:ln cap="flat" cmpd="sng" w="19050">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3" name="Google Shape;1423;p130"/>
          <p:cNvSpPr/>
          <p:nvPr/>
        </p:nvSpPr>
        <p:spPr>
          <a:xfrm>
            <a:off x="6266870" y="1820022"/>
            <a:ext cx="5442758" cy="2057133"/>
          </a:xfrm>
          <a:prstGeom prst="rect">
            <a:avLst/>
          </a:prstGeom>
          <a:noFill/>
          <a:ln cap="flat" cmpd="sng" w="19050">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4" name="Google Shape;1424;p13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4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p13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200+ years of coverage, long documents</a:t>
            </a:r>
            <a:endParaRPr/>
          </a:p>
        </p:txBody>
      </p:sp>
      <p:pic>
        <p:nvPicPr>
          <p:cNvPr descr="Picture 4" id="1430" name="Google Shape;1430;p131"/>
          <p:cNvPicPr preferRelativeResize="0"/>
          <p:nvPr/>
        </p:nvPicPr>
        <p:blipFill rotWithShape="1">
          <a:blip r:embed="rId3">
            <a:alphaModFix/>
          </a:blip>
          <a:srcRect b="0" l="0" r="0" t="0"/>
          <a:stretch/>
        </p:blipFill>
        <p:spPr>
          <a:xfrm>
            <a:off x="757468" y="2409488"/>
            <a:ext cx="10502105" cy="3191212"/>
          </a:xfrm>
          <a:prstGeom prst="rect">
            <a:avLst/>
          </a:prstGeom>
          <a:noFill/>
          <a:ln>
            <a:noFill/>
          </a:ln>
        </p:spPr>
      </p:pic>
      <p:sp>
        <p:nvSpPr>
          <p:cNvPr id="1431" name="Google Shape;1431;p13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132"/>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Traditional metrics favor Fine-Tuning</a:t>
            </a:r>
            <a:endParaRPr/>
          </a:p>
        </p:txBody>
      </p:sp>
      <p:pic>
        <p:nvPicPr>
          <p:cNvPr descr="Picture 5" id="1437" name="Google Shape;1437;p132"/>
          <p:cNvPicPr preferRelativeResize="0"/>
          <p:nvPr/>
        </p:nvPicPr>
        <p:blipFill rotWithShape="1">
          <a:blip r:embed="rId3">
            <a:alphaModFix/>
          </a:blip>
          <a:srcRect b="0" l="0" r="0" t="0"/>
          <a:stretch/>
        </p:blipFill>
        <p:spPr>
          <a:xfrm>
            <a:off x="1903563" y="1690688"/>
            <a:ext cx="8218058" cy="2209593"/>
          </a:xfrm>
          <a:prstGeom prst="rect">
            <a:avLst/>
          </a:prstGeom>
          <a:noFill/>
          <a:ln>
            <a:noFill/>
          </a:ln>
        </p:spPr>
      </p:pic>
      <p:pic>
        <p:nvPicPr>
          <p:cNvPr descr="Picture 8" id="1438" name="Google Shape;1438;p132"/>
          <p:cNvPicPr preferRelativeResize="0"/>
          <p:nvPr/>
        </p:nvPicPr>
        <p:blipFill rotWithShape="1">
          <a:blip r:embed="rId4">
            <a:alphaModFix/>
          </a:blip>
          <a:srcRect b="0" l="0" r="0" t="0"/>
          <a:stretch/>
        </p:blipFill>
        <p:spPr>
          <a:xfrm>
            <a:off x="1342039" y="4282914"/>
            <a:ext cx="9172814" cy="1885859"/>
          </a:xfrm>
          <a:prstGeom prst="rect">
            <a:avLst/>
          </a:prstGeom>
          <a:noFill/>
          <a:ln>
            <a:noFill/>
          </a:ln>
        </p:spPr>
      </p:pic>
      <p:sp>
        <p:nvSpPr>
          <p:cNvPr id="1439" name="Google Shape;1439;p13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3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Coverage vs. Readability</a:t>
            </a:r>
            <a:endParaRPr/>
          </a:p>
        </p:txBody>
      </p:sp>
      <p:pic>
        <p:nvPicPr>
          <p:cNvPr descr="Content Placeholder 4" id="1445" name="Google Shape;1445;p133"/>
          <p:cNvPicPr preferRelativeResize="0"/>
          <p:nvPr/>
        </p:nvPicPr>
        <p:blipFill rotWithShape="1">
          <a:blip r:embed="rId3">
            <a:alphaModFix/>
          </a:blip>
          <a:srcRect b="0" l="0" r="0" t="0"/>
          <a:stretch/>
        </p:blipFill>
        <p:spPr>
          <a:xfrm>
            <a:off x="6849034" y="2561663"/>
            <a:ext cx="3828989" cy="2412676"/>
          </a:xfrm>
          <a:prstGeom prst="rect">
            <a:avLst/>
          </a:prstGeom>
          <a:noFill/>
          <a:ln>
            <a:noFill/>
          </a:ln>
        </p:spPr>
      </p:pic>
      <p:pic>
        <p:nvPicPr>
          <p:cNvPr descr="Picture 6" id="1446" name="Google Shape;1446;p133"/>
          <p:cNvPicPr preferRelativeResize="0"/>
          <p:nvPr/>
        </p:nvPicPr>
        <p:blipFill rotWithShape="1">
          <a:blip r:embed="rId4">
            <a:alphaModFix/>
          </a:blip>
          <a:srcRect b="0" l="0" r="0" t="0"/>
          <a:stretch/>
        </p:blipFill>
        <p:spPr>
          <a:xfrm>
            <a:off x="2041195" y="2088925"/>
            <a:ext cx="3941023" cy="3692937"/>
          </a:xfrm>
          <a:prstGeom prst="rect">
            <a:avLst/>
          </a:prstGeom>
          <a:noFill/>
          <a:ln>
            <a:noFill/>
          </a:ln>
        </p:spPr>
      </p:pic>
      <p:sp>
        <p:nvSpPr>
          <p:cNvPr id="1447" name="Google Shape;1447;p13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13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Screenshot 2025-03-10 at 9.28.53 AM.png" id="1453" name="Google Shape;1453;p134"/>
          <p:cNvPicPr preferRelativeResize="0"/>
          <p:nvPr/>
        </p:nvPicPr>
        <p:blipFill rotWithShape="1">
          <a:blip r:embed="rId3">
            <a:alphaModFix/>
          </a:blip>
          <a:srcRect b="10593" l="0" r="0" t="0"/>
          <a:stretch/>
        </p:blipFill>
        <p:spPr>
          <a:xfrm>
            <a:off x="2692360" y="1487333"/>
            <a:ext cx="5746441" cy="5181967"/>
          </a:xfrm>
          <a:prstGeom prst="rect">
            <a:avLst/>
          </a:prstGeom>
          <a:noFill/>
          <a:ln>
            <a:noFill/>
          </a:ln>
        </p:spPr>
      </p:pic>
      <p:sp>
        <p:nvSpPr>
          <p:cNvPr id="1454" name="Google Shape;1454;p134"/>
          <p:cNvSpPr txBox="1"/>
          <p:nvPr>
            <p:ph idx="4294967295"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Llama confusion matrix</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3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Smaller fine-tuned models </a:t>
            </a:r>
            <a:r>
              <a:rPr b="1" lang="en-US"/>
              <a:t>reflect human disagreements</a:t>
            </a:r>
            <a:r>
              <a:rPr lang="en-US" sz="4180"/>
              <a:t>, GPT-4 does not</a:t>
            </a:r>
            <a:endParaRPr/>
          </a:p>
        </p:txBody>
      </p:sp>
      <p:sp>
        <p:nvSpPr>
          <p:cNvPr id="1460" name="Google Shape;1460;p13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descr="Picture 6" id="1461" name="Google Shape;1461;p135"/>
          <p:cNvPicPr preferRelativeResize="0"/>
          <p:nvPr/>
        </p:nvPicPr>
        <p:blipFill rotWithShape="1">
          <a:blip r:embed="rId3">
            <a:alphaModFix/>
          </a:blip>
          <a:srcRect b="0" l="0" r="49357" t="0"/>
          <a:stretch/>
        </p:blipFill>
        <p:spPr>
          <a:xfrm>
            <a:off x="5892800" y="1735614"/>
            <a:ext cx="4914900" cy="4852512"/>
          </a:xfrm>
          <a:prstGeom prst="rect">
            <a:avLst/>
          </a:prstGeom>
          <a:noFill/>
          <a:ln>
            <a:noFill/>
          </a:ln>
        </p:spPr>
      </p:pic>
      <p:pic>
        <p:nvPicPr>
          <p:cNvPr descr="Picture 7" id="1462" name="Google Shape;1462;p135"/>
          <p:cNvPicPr preferRelativeResize="0"/>
          <p:nvPr/>
        </p:nvPicPr>
        <p:blipFill rotWithShape="1">
          <a:blip r:embed="rId3">
            <a:alphaModFix/>
          </a:blip>
          <a:srcRect b="0" l="50642" r="0" t="0"/>
          <a:stretch/>
        </p:blipFill>
        <p:spPr>
          <a:xfrm>
            <a:off x="838200" y="1796767"/>
            <a:ext cx="4775200" cy="4837396"/>
          </a:xfrm>
          <a:prstGeom prst="rect">
            <a:avLst/>
          </a:prstGeom>
          <a:noFill/>
          <a:ln>
            <a:noFill/>
          </a:ln>
        </p:spPr>
      </p:pic>
      <p:grpSp>
        <p:nvGrpSpPr>
          <p:cNvPr id="1463" name="Google Shape;1463;p135"/>
          <p:cNvGrpSpPr/>
          <p:nvPr/>
        </p:nvGrpSpPr>
        <p:grpSpPr>
          <a:xfrm>
            <a:off x="1728470" y="3888673"/>
            <a:ext cx="3833466" cy="1522263"/>
            <a:chOff x="0" y="0"/>
            <a:chExt cx="3833465" cy="1522262"/>
          </a:xfrm>
        </p:grpSpPr>
        <p:sp>
          <p:nvSpPr>
            <p:cNvPr id="1464" name="Google Shape;1464;p135"/>
            <p:cNvSpPr/>
            <p:nvPr/>
          </p:nvSpPr>
          <p:spPr>
            <a:xfrm>
              <a:off x="0" y="0"/>
              <a:ext cx="1273811"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none → social</a:t>
              </a:r>
              <a:endParaRPr/>
            </a:p>
          </p:txBody>
        </p:sp>
        <p:sp>
          <p:nvSpPr>
            <p:cNvPr id="1465" name="Google Shape;1465;p135"/>
            <p:cNvSpPr/>
            <p:nvPr/>
          </p:nvSpPr>
          <p:spPr>
            <a:xfrm>
              <a:off x="0" y="482600"/>
              <a:ext cx="1273811"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none → govt</a:t>
              </a:r>
              <a:endParaRPr/>
            </a:p>
          </p:txBody>
        </p:sp>
        <p:sp>
          <p:nvSpPr>
            <p:cNvPr id="1466" name="Google Shape;1466;p135"/>
            <p:cNvSpPr/>
            <p:nvPr/>
          </p:nvSpPr>
          <p:spPr>
            <a:xfrm>
              <a:off x="1689100" y="1105778"/>
              <a:ext cx="1273811"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none → wage</a:t>
              </a:r>
              <a:endParaRPr/>
            </a:p>
          </p:txBody>
        </p:sp>
        <p:sp>
          <p:nvSpPr>
            <p:cNvPr id="1467" name="Google Shape;1467;p135"/>
            <p:cNvSpPr/>
            <p:nvPr/>
          </p:nvSpPr>
          <p:spPr>
            <a:xfrm>
              <a:off x="1147762" y="1369874"/>
              <a:ext cx="1332244"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none → supply</a:t>
              </a:r>
              <a:endParaRPr/>
            </a:p>
          </p:txBody>
        </p:sp>
        <p:sp>
          <p:nvSpPr>
            <p:cNvPr id="1468" name="Google Shape;1468;p135"/>
            <p:cNvSpPr/>
            <p:nvPr/>
          </p:nvSpPr>
          <p:spPr>
            <a:xfrm>
              <a:off x="174625" y="1517230"/>
              <a:ext cx="1273811"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none → wage</a:t>
              </a:r>
              <a:endParaRPr/>
            </a:p>
          </p:txBody>
        </p:sp>
        <p:sp>
          <p:nvSpPr>
            <p:cNvPr id="1469" name="Google Shape;1469;p135"/>
            <p:cNvSpPr/>
            <p:nvPr/>
          </p:nvSpPr>
          <p:spPr>
            <a:xfrm>
              <a:off x="2565400" y="1522261"/>
              <a:ext cx="1268065"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none → other</a:t>
              </a:r>
              <a:endParaRPr/>
            </a:p>
          </p:txBody>
        </p:sp>
      </p:grpSp>
      <p:grpSp>
        <p:nvGrpSpPr>
          <p:cNvPr id="1470" name="Google Shape;1470;p135"/>
          <p:cNvGrpSpPr/>
          <p:nvPr/>
        </p:nvGrpSpPr>
        <p:grpSpPr>
          <a:xfrm>
            <a:off x="7094219" y="1884947"/>
            <a:ext cx="3813426" cy="3800677"/>
            <a:chOff x="0" y="0"/>
            <a:chExt cx="3813424" cy="3800675"/>
          </a:xfrm>
        </p:grpSpPr>
        <p:sp>
          <p:nvSpPr>
            <p:cNvPr id="1471" name="Google Shape;1471;p135"/>
            <p:cNvSpPr txBox="1"/>
            <p:nvPr/>
          </p:nvSpPr>
          <p:spPr>
            <a:xfrm>
              <a:off x="2571750" y="1006952"/>
              <a:ext cx="1241674" cy="31072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fiscal → fiscal</a:t>
              </a:r>
              <a:endParaRPr/>
            </a:p>
          </p:txBody>
        </p:sp>
        <p:sp>
          <p:nvSpPr>
            <p:cNvPr id="1472" name="Google Shape;1472;p135"/>
            <p:cNvSpPr txBox="1"/>
            <p:nvPr/>
          </p:nvSpPr>
          <p:spPr>
            <a:xfrm>
              <a:off x="0" y="1584802"/>
              <a:ext cx="1140461" cy="31072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fiscal → govt</a:t>
              </a:r>
              <a:endParaRPr/>
            </a:p>
          </p:txBody>
        </p:sp>
        <p:sp>
          <p:nvSpPr>
            <p:cNvPr id="1473" name="Google Shape;1473;p135"/>
            <p:cNvSpPr txBox="1"/>
            <p:nvPr/>
          </p:nvSpPr>
          <p:spPr>
            <a:xfrm>
              <a:off x="1803400" y="2722799"/>
              <a:ext cx="1140461" cy="31072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govt → fiscal</a:t>
              </a:r>
              <a:endParaRPr/>
            </a:p>
          </p:txBody>
        </p:sp>
        <p:sp>
          <p:nvSpPr>
            <p:cNvPr id="1474" name="Google Shape;1474;p135"/>
            <p:cNvSpPr txBox="1"/>
            <p:nvPr/>
          </p:nvSpPr>
          <p:spPr>
            <a:xfrm>
              <a:off x="1460500" y="3274048"/>
              <a:ext cx="1388111" cy="526627"/>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none → purchase</a:t>
              </a:r>
              <a:endParaRPr/>
            </a:p>
          </p:txBody>
        </p:sp>
        <p:sp>
          <p:nvSpPr>
            <p:cNvPr id="1475" name="Google Shape;1475;p135"/>
            <p:cNvSpPr txBox="1"/>
            <p:nvPr/>
          </p:nvSpPr>
          <p:spPr>
            <a:xfrm>
              <a:off x="2438400" y="0"/>
              <a:ext cx="1273811" cy="31072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none → none</a:t>
              </a:r>
              <a:endParaRPr/>
            </a:p>
          </p:txBody>
        </p:sp>
      </p:grpSp>
      <p:grpSp>
        <p:nvGrpSpPr>
          <p:cNvPr id="1476" name="Google Shape;1476;p135"/>
          <p:cNvGrpSpPr/>
          <p:nvPr/>
        </p:nvGrpSpPr>
        <p:grpSpPr>
          <a:xfrm>
            <a:off x="3222308" y="1827609"/>
            <a:ext cx="2415223" cy="2327596"/>
            <a:chOff x="0" y="0"/>
            <a:chExt cx="2415222" cy="2327595"/>
          </a:xfrm>
        </p:grpSpPr>
        <p:sp>
          <p:nvSpPr>
            <p:cNvPr id="1477" name="Google Shape;1477;p135"/>
            <p:cNvSpPr txBox="1"/>
            <p:nvPr/>
          </p:nvSpPr>
          <p:spPr>
            <a:xfrm>
              <a:off x="817561" y="172756"/>
              <a:ext cx="1273810" cy="31072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none → none</a:t>
              </a:r>
              <a:endParaRPr/>
            </a:p>
          </p:txBody>
        </p:sp>
        <p:sp>
          <p:nvSpPr>
            <p:cNvPr id="1478" name="Google Shape;1478;p135"/>
            <p:cNvSpPr txBox="1"/>
            <p:nvPr/>
          </p:nvSpPr>
          <p:spPr>
            <a:xfrm>
              <a:off x="0" y="940065"/>
              <a:ext cx="1215355" cy="310727"/>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fiscal → fiscal</a:t>
              </a:r>
              <a:endParaRPr/>
            </a:p>
          </p:txBody>
        </p:sp>
        <p:sp>
          <p:nvSpPr>
            <p:cNvPr id="1479" name="Google Shape;1479;p135"/>
            <p:cNvSpPr txBox="1"/>
            <p:nvPr/>
          </p:nvSpPr>
          <p:spPr>
            <a:xfrm>
              <a:off x="817562" y="0"/>
              <a:ext cx="1597660" cy="31072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808080"/>
                </a:buClr>
                <a:buSzPts val="1400"/>
                <a:buFont typeface="Arial"/>
                <a:buNone/>
              </a:pPr>
              <a:r>
                <a:rPr b="0" i="0" lang="en-US" sz="1400" u="none" cap="none" strike="noStrike">
                  <a:solidFill>
                    <a:srgbClr val="808080"/>
                  </a:solidFill>
                  <a:latin typeface="Arial"/>
                  <a:ea typeface="Arial"/>
                  <a:cs typeface="Arial"/>
                  <a:sym typeface="Arial"/>
                </a:rPr>
                <a:t>(gold → pred)</a:t>
              </a:r>
              <a:endParaRPr/>
            </a:p>
          </p:txBody>
        </p:sp>
        <p:sp>
          <p:nvSpPr>
            <p:cNvPr id="1480" name="Google Shape;1480;p135"/>
            <p:cNvSpPr txBox="1"/>
            <p:nvPr/>
          </p:nvSpPr>
          <p:spPr>
            <a:xfrm>
              <a:off x="423861" y="2016868"/>
              <a:ext cx="1273811" cy="310727"/>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social → cost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84" name="Shape 1484"/>
        <p:cNvGrpSpPr/>
        <p:nvPr/>
      </p:nvGrpSpPr>
      <p:grpSpPr>
        <a:xfrm>
          <a:off x="0" y="0"/>
          <a:ext cx="0" cy="0"/>
          <a:chOff x="0" y="0"/>
          <a:chExt cx="0" cy="0"/>
        </a:xfrm>
      </p:grpSpPr>
      <p:sp>
        <p:nvSpPr>
          <p:cNvPr id="1485" name="Google Shape;1485;p136"/>
          <p:cNvSpPr txBox="1"/>
          <p:nvPr>
            <p:ph type="title"/>
          </p:nvPr>
        </p:nvSpPr>
        <p:spPr>
          <a:xfrm>
            <a:off x="838199" y="365125"/>
            <a:ext cx="10515601" cy="1860401"/>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But many interesting questions require coherently resolving ambiguity</a:t>
            </a:r>
            <a:endParaRPr/>
          </a:p>
        </p:txBody>
      </p:sp>
      <p:sp>
        <p:nvSpPr>
          <p:cNvPr id="1486" name="Google Shape;1486;p136"/>
          <p:cNvSpPr txBox="1"/>
          <p:nvPr>
            <p:ph idx="1" type="body"/>
          </p:nvPr>
        </p:nvSpPr>
        <p:spPr>
          <a:xfrm>
            <a:off x="838200" y="2325890"/>
            <a:ext cx="10515600" cy="3851074"/>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Now, we can try to un-ravel the simplifying assumptions we made about many tasks and try to use LLMs to tackle challenging questions that require constructing coherent perspectives and framings</a:t>
            </a:r>
            <a:endParaRPr/>
          </a:p>
        </p:txBody>
      </p:sp>
      <p:sp>
        <p:nvSpPr>
          <p:cNvPr id="1487" name="Google Shape;1487;p136"/>
          <p:cNvSpPr txBox="1"/>
          <p:nvPr>
            <p:ph idx="12" type="sldNum"/>
          </p:nvPr>
        </p:nvSpPr>
        <p:spPr>
          <a:xfrm>
            <a:off x="11148010" y="6404292"/>
            <a:ext cx="205790"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13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Narratives are ubiquitous and powerful</a:t>
            </a:r>
            <a:endParaRPr/>
          </a:p>
        </p:txBody>
      </p:sp>
      <p:sp>
        <p:nvSpPr>
          <p:cNvPr id="1493" name="Google Shape;1493;p137"/>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Narratives are </a:t>
            </a:r>
            <a:r>
              <a:rPr b="1" lang="en-US"/>
              <a:t>stories</a:t>
            </a:r>
            <a:r>
              <a:rPr b="0" i="0" lang="en-US" sz="2800" u="none" cap="none" strike="noStrike">
                <a:solidFill>
                  <a:srgbClr val="000000"/>
                </a:solidFill>
                <a:latin typeface="Arial"/>
                <a:ea typeface="Arial"/>
                <a:cs typeface="Arial"/>
                <a:sym typeface="Arial"/>
              </a:rPr>
              <a:t> people tell themselves, and each other, </a:t>
            </a:r>
            <a:r>
              <a:rPr b="1" lang="en-US"/>
              <a:t>to</a:t>
            </a:r>
            <a:r>
              <a:rPr b="0" i="0" lang="en-US" sz="2800" u="none" cap="none" strike="noStrike">
                <a:solidFill>
                  <a:srgbClr val="000000"/>
                </a:solidFill>
                <a:latin typeface="Arial"/>
                <a:ea typeface="Arial"/>
                <a:cs typeface="Arial"/>
                <a:sym typeface="Arial"/>
              </a:rPr>
              <a:t> </a:t>
            </a:r>
            <a:r>
              <a:rPr b="1" lang="en-US"/>
              <a:t>make sense of human experience </a:t>
            </a:r>
            <a:r>
              <a:rPr b="0" i="0" lang="en-US" sz="2800" u="none" cap="none" strike="noStrike">
                <a:solidFill>
                  <a:srgbClr val="000000"/>
                </a:solidFill>
                <a:latin typeface="Arial"/>
                <a:ea typeface="Arial"/>
                <a:cs typeface="Arial"/>
                <a:sym typeface="Arial"/>
              </a:rPr>
              <a:t>- that is, to organize, explain, justify, predict and sometimes influence its course.</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Narratives are instruments of mind in the construction of reality [Bruner 1991, Benabou et al. 2018]</a:t>
            </a:r>
            <a:endParaRPr/>
          </a:p>
        </p:txBody>
      </p:sp>
      <p:sp>
        <p:nvSpPr>
          <p:cNvPr id="1494" name="Google Shape;1494;p13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
        <p:nvSpPr>
          <p:cNvPr id="1495" name="Google Shape;1495;p137"/>
          <p:cNvSpPr txBox="1"/>
          <p:nvPr/>
        </p:nvSpPr>
        <p:spPr>
          <a:xfrm>
            <a:off x="1306109" y="4737325"/>
            <a:ext cx="9455572" cy="1056641"/>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1" lang="en-US" sz="3200" u="none" cap="none" strike="noStrike">
                <a:solidFill>
                  <a:srgbClr val="000000"/>
                </a:solidFill>
                <a:latin typeface="Arial"/>
                <a:ea typeface="Arial"/>
                <a:cs typeface="Arial"/>
                <a:sym typeface="Arial"/>
              </a:rPr>
              <a:t>Jane is tired, so she won’t make it to the show tonight.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13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Simple n-grams </a:t>
            </a:r>
            <a:r>
              <a:rPr b="1" lang="en-US"/>
              <a:t>do not correlate </a:t>
            </a:r>
            <a:r>
              <a:rPr lang="en-US" sz="4180"/>
              <a:t>well with narratives</a:t>
            </a:r>
            <a:endParaRPr/>
          </a:p>
        </p:txBody>
      </p:sp>
      <p:sp>
        <p:nvSpPr>
          <p:cNvPr id="1501" name="Google Shape;1501;p13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Picture 7" id="1502" name="Google Shape;1502;p138"/>
          <p:cNvPicPr preferRelativeResize="0"/>
          <p:nvPr/>
        </p:nvPicPr>
        <p:blipFill rotWithShape="1">
          <a:blip r:embed="rId3">
            <a:alphaModFix/>
          </a:blip>
          <a:srcRect b="3059" l="1751" r="0" t="6202"/>
          <a:stretch/>
        </p:blipFill>
        <p:spPr>
          <a:xfrm>
            <a:off x="2209799" y="2019772"/>
            <a:ext cx="7636229" cy="4701704"/>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13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Output format</a:t>
            </a:r>
            <a:endParaRPr/>
          </a:p>
        </p:txBody>
      </p:sp>
      <p:sp>
        <p:nvSpPr>
          <p:cNvPr id="1508" name="Google Shape;1508;p13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Screenshot 2025-03-10 at 11.15.03 AM.png" id="1509" name="Google Shape;1509;p139"/>
          <p:cNvPicPr preferRelativeResize="0"/>
          <p:nvPr/>
        </p:nvPicPr>
        <p:blipFill rotWithShape="1">
          <a:blip r:embed="rId3">
            <a:alphaModFix/>
          </a:blip>
          <a:srcRect b="0" l="0" r="0" t="0"/>
          <a:stretch/>
        </p:blipFill>
        <p:spPr>
          <a:xfrm>
            <a:off x="851672" y="1949450"/>
            <a:ext cx="10210801" cy="29591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14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Annotated ~2.5k sentences for training and evaluation </a:t>
            </a:r>
            <a:endParaRPr/>
          </a:p>
        </p:txBody>
      </p:sp>
      <p:sp>
        <p:nvSpPr>
          <p:cNvPr id="1515" name="Google Shape;1515;p14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pasted-movie.png" id="1516" name="Google Shape;1516;p140"/>
          <p:cNvPicPr preferRelativeResize="0"/>
          <p:nvPr/>
        </p:nvPicPr>
        <p:blipFill rotWithShape="1">
          <a:blip r:embed="rId3">
            <a:alphaModFix/>
          </a:blip>
          <a:srcRect b="0" l="0" r="0" t="0"/>
          <a:stretch/>
        </p:blipFill>
        <p:spPr>
          <a:xfrm>
            <a:off x="863600" y="1821163"/>
            <a:ext cx="10238340" cy="4452655"/>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14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t/>
            </a:r>
            <a:endParaRPr/>
          </a:p>
        </p:txBody>
      </p:sp>
      <p:sp>
        <p:nvSpPr>
          <p:cNvPr id="1522" name="Google Shape;1522;p14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cxnSp>
        <p:nvCxnSpPr>
          <p:cNvPr id="1523" name="Google Shape;1523;p141"/>
          <p:cNvCxnSpPr/>
          <p:nvPr/>
        </p:nvCxnSpPr>
        <p:spPr>
          <a:xfrm flipH="1" rot="10800000">
            <a:off x="5684520" y="2204720"/>
            <a:ext cx="1" cy="2448560"/>
          </a:xfrm>
          <a:prstGeom prst="straightConnector1">
            <a:avLst/>
          </a:prstGeom>
          <a:noFill/>
          <a:ln cap="flat" cmpd="sng" w="19050">
            <a:solidFill>
              <a:schemeClr val="accent1"/>
            </a:solidFill>
            <a:prstDash val="solid"/>
            <a:miter lim="8000"/>
            <a:headEnd len="sm" w="sm" type="none"/>
            <a:tailEnd len="sm" w="sm" type="none"/>
          </a:ln>
        </p:spPr>
      </p:cxnSp>
      <p:cxnSp>
        <p:nvCxnSpPr>
          <p:cNvPr id="1524" name="Google Shape;1524;p141"/>
          <p:cNvCxnSpPr/>
          <p:nvPr/>
        </p:nvCxnSpPr>
        <p:spPr>
          <a:xfrm>
            <a:off x="3407318" y="3459122"/>
            <a:ext cx="4710794" cy="1"/>
          </a:xfrm>
          <a:prstGeom prst="straightConnector1">
            <a:avLst/>
          </a:prstGeom>
          <a:noFill/>
          <a:ln cap="flat" cmpd="sng" w="19050">
            <a:solidFill>
              <a:schemeClr val="accent1"/>
            </a:solidFill>
            <a:prstDash val="solid"/>
            <a:miter lim="8000"/>
            <a:headEnd len="sm" w="sm" type="none"/>
            <a:tailEnd len="sm" w="sm" type="none"/>
          </a:ln>
        </p:spPr>
      </p:cxnSp>
      <p:sp>
        <p:nvSpPr>
          <p:cNvPr id="1525" name="Google Shape;1525;p141"/>
          <p:cNvSpPr txBox="1"/>
          <p:nvPr/>
        </p:nvSpPr>
        <p:spPr>
          <a:xfrm>
            <a:off x="2989505" y="2070100"/>
            <a:ext cx="2302072" cy="37084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Short, multi-reference</a:t>
            </a:r>
            <a:endParaRPr/>
          </a:p>
        </p:txBody>
      </p:sp>
      <p:sp>
        <p:nvSpPr>
          <p:cNvPr id="1526" name="Google Shape;1526;p141"/>
          <p:cNvSpPr txBox="1"/>
          <p:nvPr/>
        </p:nvSpPr>
        <p:spPr>
          <a:xfrm>
            <a:off x="6040092" y="2070100"/>
            <a:ext cx="2264232" cy="37084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Long, multi-reference</a:t>
            </a:r>
            <a:endParaRPr/>
          </a:p>
        </p:txBody>
      </p:sp>
      <p:sp>
        <p:nvSpPr>
          <p:cNvPr id="1527" name="Google Shape;1527;p141"/>
          <p:cNvSpPr txBox="1"/>
          <p:nvPr/>
        </p:nvSpPr>
        <p:spPr>
          <a:xfrm>
            <a:off x="3131745" y="4691922"/>
            <a:ext cx="2416707"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Short, single-reference</a:t>
            </a:r>
            <a:endParaRPr/>
          </a:p>
        </p:txBody>
      </p:sp>
      <p:sp>
        <p:nvSpPr>
          <p:cNvPr id="1528" name="Google Shape;1528;p141"/>
          <p:cNvSpPr txBox="1"/>
          <p:nvPr/>
        </p:nvSpPr>
        <p:spPr>
          <a:xfrm>
            <a:off x="5982774" y="4691922"/>
            <a:ext cx="2378867"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Long, single-reference</a:t>
            </a:r>
            <a:endParaRPr/>
          </a:p>
        </p:txBody>
      </p:sp>
      <p:pic>
        <p:nvPicPr>
          <p:cNvPr descr="Image" id="1529" name="Google Shape;1529;p141"/>
          <p:cNvPicPr preferRelativeResize="0"/>
          <p:nvPr/>
        </p:nvPicPr>
        <p:blipFill rotWithShape="1">
          <a:blip r:embed="rId3">
            <a:alphaModFix/>
          </a:blip>
          <a:srcRect b="23259" l="18525" r="52764" t="53027"/>
          <a:stretch/>
        </p:blipFill>
        <p:spPr>
          <a:xfrm>
            <a:off x="3307995" y="3506820"/>
            <a:ext cx="2264355" cy="1246834"/>
          </a:xfrm>
          <a:prstGeom prst="rect">
            <a:avLst/>
          </a:prstGeom>
          <a:noFill/>
          <a:ln>
            <a:noFill/>
          </a:ln>
        </p:spPr>
      </p:pic>
      <p:sp>
        <p:nvSpPr>
          <p:cNvPr id="1530" name="Google Shape;1530;p141"/>
          <p:cNvSpPr/>
          <p:nvPr/>
        </p:nvSpPr>
        <p:spPr>
          <a:xfrm>
            <a:off x="7036607" y="2748336"/>
            <a:ext cx="271200" cy="257927"/>
          </a:xfrm>
          <a:prstGeom prst="star5">
            <a:avLst>
              <a:gd fmla="val 19100" name="adj"/>
              <a:gd fmla="val 105146" name="hf"/>
              <a:gd fmla="val 110557" name="vf"/>
            </a:avLst>
          </a:prstGeom>
          <a:solidFill>
            <a:srgbClr val="FF26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1" name="Google Shape;1531;p141"/>
          <p:cNvSpPr txBox="1"/>
          <p:nvPr>
            <p:ph idx="1" type="body"/>
          </p:nvPr>
        </p:nvSpPr>
        <p:spPr>
          <a:xfrm>
            <a:off x="838200" y="5592105"/>
            <a:ext cx="10515600" cy="830491"/>
          </a:xfrm>
          <a:prstGeom prst="rect">
            <a:avLst/>
          </a:prstGeom>
          <a:noFill/>
          <a:ln>
            <a:noFill/>
          </a:ln>
        </p:spPr>
        <p:txBody>
          <a:bodyPr anchorCtr="0" anchor="t" bIns="45700" lIns="45700" spcFirstLastPara="1" rIns="45700" wrap="square" tIns="45700">
            <a:normAutofit/>
          </a:bodyPr>
          <a:lstStyle/>
          <a:p>
            <a:pPr indent="-228600" lvl="0" marL="228600" rtl="0" algn="l">
              <a:lnSpc>
                <a:spcPct val="96000"/>
              </a:lnSpc>
              <a:spcBef>
                <a:spcPts val="0"/>
              </a:spcBef>
              <a:spcAft>
                <a:spcPts val="0"/>
              </a:spcAft>
              <a:buClr>
                <a:srgbClr val="000000"/>
              </a:buClr>
              <a:buSzPts val="2300"/>
              <a:buChar char="•"/>
            </a:pPr>
            <a:r>
              <a:rPr lang="en-US" sz="2300"/>
              <a:t>Simple n-grams do not correlate well with these narratives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142"/>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Ongoing Work</a:t>
            </a:r>
            <a:endParaRPr/>
          </a:p>
        </p:txBody>
      </p:sp>
      <p:sp>
        <p:nvSpPr>
          <p:cNvPr id="1537" name="Google Shape;1537;p142"/>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81000"/>
              </a:lnSpc>
              <a:spcBef>
                <a:spcPts val="0"/>
              </a:spcBef>
              <a:spcAft>
                <a:spcPts val="0"/>
              </a:spcAft>
              <a:buClr>
                <a:srgbClr val="000000"/>
              </a:buClr>
              <a:buSzPts val="2500"/>
              <a:buChar char="•"/>
            </a:pPr>
            <a:r>
              <a:rPr lang="en-US" sz="2500"/>
              <a:t>Contagion modeling – capture notion of spread, like a disease. Tricky.</a:t>
            </a:r>
            <a:endParaRPr/>
          </a:p>
          <a:p>
            <a:pPr indent="-50800" lvl="0" marL="228600" rtl="0" algn="l">
              <a:lnSpc>
                <a:spcPct val="81000"/>
              </a:lnSpc>
              <a:spcBef>
                <a:spcPts val="1000"/>
              </a:spcBef>
              <a:spcAft>
                <a:spcPts val="0"/>
              </a:spcAft>
              <a:buClr>
                <a:srgbClr val="000000"/>
              </a:buClr>
              <a:buSzPts val="2800"/>
              <a:buNone/>
            </a:pPr>
            <a:r>
              <a:t/>
            </a:r>
            <a:endParaRPr/>
          </a:p>
          <a:p>
            <a:pPr indent="-50800" lvl="0" marL="228600" rtl="0" algn="l">
              <a:lnSpc>
                <a:spcPct val="81000"/>
              </a:lnSpc>
              <a:spcBef>
                <a:spcPts val="1000"/>
              </a:spcBef>
              <a:spcAft>
                <a:spcPts val="0"/>
              </a:spcAft>
              <a:buClr>
                <a:srgbClr val="000000"/>
              </a:buClr>
              <a:buSzPts val="2800"/>
              <a:buNone/>
            </a:pPr>
            <a:r>
              <a:t/>
            </a:r>
            <a:endParaRPr/>
          </a:p>
          <a:p>
            <a:pPr indent="-228600" lvl="0" marL="228600" rtl="0" algn="l">
              <a:lnSpc>
                <a:spcPct val="81000"/>
              </a:lnSpc>
              <a:spcBef>
                <a:spcPts val="1000"/>
              </a:spcBef>
              <a:spcAft>
                <a:spcPts val="0"/>
              </a:spcAft>
              <a:buClr>
                <a:srgbClr val="000000"/>
              </a:buClr>
              <a:buSzPts val="2500"/>
              <a:buChar char="•"/>
            </a:pPr>
            <a:r>
              <a:rPr lang="en-US" sz="2500"/>
              <a:t> Media econ and macro-econ perspective</a:t>
            </a:r>
            <a:endParaRPr/>
          </a:p>
          <a:p>
            <a:pPr indent="-228600" lvl="1" marL="685800" rtl="0" algn="l">
              <a:lnSpc>
                <a:spcPct val="81000"/>
              </a:lnSpc>
              <a:spcBef>
                <a:spcPts val="500"/>
              </a:spcBef>
              <a:spcAft>
                <a:spcPts val="0"/>
              </a:spcAft>
              <a:buClr>
                <a:srgbClr val="000000"/>
              </a:buClr>
              <a:buSzPts val="2200"/>
              <a:buChar char="•"/>
            </a:pPr>
            <a:r>
              <a:rPr lang="en-US" sz="2200"/>
              <a:t>How do newspapers choose competing narratives and how does it affect beliefs</a:t>
            </a:r>
            <a:endParaRPr/>
          </a:p>
          <a:p>
            <a:pPr indent="-228600" lvl="0" marL="228600" rtl="0" algn="l">
              <a:lnSpc>
                <a:spcPct val="81000"/>
              </a:lnSpc>
              <a:spcBef>
                <a:spcPts val="1000"/>
              </a:spcBef>
              <a:spcAft>
                <a:spcPts val="0"/>
              </a:spcAft>
              <a:buClr>
                <a:srgbClr val="000000"/>
              </a:buClr>
              <a:buSzPts val="2500"/>
              <a:buChar char="•"/>
            </a:pPr>
            <a:r>
              <a:rPr lang="en-US" sz="2500"/>
              <a:t>Reduced form → structural model</a:t>
            </a:r>
            <a:endParaRPr/>
          </a:p>
          <a:p>
            <a:pPr indent="-50800" lvl="0" marL="228600" rtl="0" algn="l">
              <a:lnSpc>
                <a:spcPct val="81000"/>
              </a:lnSpc>
              <a:spcBef>
                <a:spcPts val="1000"/>
              </a:spcBef>
              <a:spcAft>
                <a:spcPts val="0"/>
              </a:spcAft>
              <a:buClr>
                <a:srgbClr val="000000"/>
              </a:buClr>
              <a:buSzPts val="2800"/>
              <a:buNone/>
            </a:pPr>
            <a:r>
              <a:t/>
            </a:r>
            <a:endParaRPr/>
          </a:p>
          <a:p>
            <a:pPr indent="-228600" lvl="0" marL="228600" rtl="0" algn="l">
              <a:lnSpc>
                <a:spcPct val="81000"/>
              </a:lnSpc>
              <a:spcBef>
                <a:spcPts val="1000"/>
              </a:spcBef>
              <a:spcAft>
                <a:spcPts val="0"/>
              </a:spcAft>
              <a:buClr>
                <a:srgbClr val="000000"/>
              </a:buClr>
              <a:buSzPts val="2500"/>
              <a:buChar char="•"/>
            </a:pPr>
            <a:r>
              <a:rPr lang="en-US" sz="2500"/>
              <a:t>Automated narrative discovery</a:t>
            </a:r>
            <a:endParaRPr/>
          </a:p>
          <a:p>
            <a:pPr indent="-228600" lvl="1" marL="685800" rtl="0" algn="l">
              <a:lnSpc>
                <a:spcPct val="81000"/>
              </a:lnSpc>
              <a:spcBef>
                <a:spcPts val="500"/>
              </a:spcBef>
              <a:spcAft>
                <a:spcPts val="0"/>
              </a:spcAft>
              <a:buClr>
                <a:srgbClr val="000000"/>
              </a:buClr>
              <a:buSzPts val="2200"/>
              <a:buChar char="•"/>
            </a:pPr>
            <a:r>
              <a:rPr lang="en-US" sz="2200"/>
              <a:t>Doesn’t require defining an ontology – easily extend to new target events</a:t>
            </a:r>
            <a:endParaRPr/>
          </a:p>
          <a:p>
            <a:pPr indent="-228600" lvl="1" marL="685800" rtl="0" algn="l">
              <a:lnSpc>
                <a:spcPct val="81000"/>
              </a:lnSpc>
              <a:spcBef>
                <a:spcPts val="500"/>
              </a:spcBef>
              <a:spcAft>
                <a:spcPts val="0"/>
              </a:spcAft>
              <a:buClr>
                <a:srgbClr val="000000"/>
              </a:buClr>
              <a:buSzPts val="2200"/>
              <a:buChar char="•"/>
            </a:pPr>
            <a:r>
              <a:rPr lang="en-US" sz="2200"/>
              <a:t>Uncover unexpected or uncommon narratives</a:t>
            </a:r>
            <a:endParaRPr/>
          </a:p>
        </p:txBody>
      </p:sp>
      <p:sp>
        <p:nvSpPr>
          <p:cNvPr id="1538" name="Google Shape;1538;p14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Picture 4" id="1539" name="Google Shape;1539;p142"/>
          <p:cNvPicPr preferRelativeResize="0"/>
          <p:nvPr/>
        </p:nvPicPr>
        <p:blipFill rotWithShape="1">
          <a:blip r:embed="rId3">
            <a:alphaModFix/>
          </a:blip>
          <a:srcRect b="0" l="0" r="0" t="0"/>
          <a:stretch/>
        </p:blipFill>
        <p:spPr>
          <a:xfrm>
            <a:off x="1930718" y="2416050"/>
            <a:ext cx="7772401" cy="40064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3" name="Shape 1543"/>
        <p:cNvGrpSpPr/>
        <p:nvPr/>
      </p:nvGrpSpPr>
      <p:grpSpPr>
        <a:xfrm>
          <a:off x="0" y="0"/>
          <a:ext cx="0" cy="0"/>
          <a:chOff x="0" y="0"/>
          <a:chExt cx="0" cy="0"/>
        </a:xfrm>
      </p:grpSpPr>
      <p:sp>
        <p:nvSpPr>
          <p:cNvPr id="1544" name="Google Shape;1544;p14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Roadmap for this talk</a:t>
            </a:r>
            <a:endParaRPr/>
          </a:p>
        </p:txBody>
      </p:sp>
      <p:sp>
        <p:nvSpPr>
          <p:cNvPr id="1545" name="Google Shape;1545;p143"/>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000000"/>
              </a:buClr>
              <a:buSzPts val="2772"/>
              <a:buNone/>
            </a:pPr>
            <a:r>
              <a:rPr lang="en-US" sz="2772"/>
              <a:t>- Applying LLMs in two different settings with natural ambiguity:</a:t>
            </a:r>
            <a:endParaRPr/>
          </a:p>
          <a:p>
            <a:pPr indent="-48513" lvl="0" marL="226313" rtl="0" algn="l">
              <a:lnSpc>
                <a:spcPct val="90000"/>
              </a:lnSpc>
              <a:spcBef>
                <a:spcPts val="900"/>
              </a:spcBef>
              <a:spcAft>
                <a:spcPts val="0"/>
              </a:spcAft>
              <a:buClr>
                <a:srgbClr val="000000"/>
              </a:buClr>
              <a:buSzPts val="2800"/>
              <a:buNone/>
            </a:pPr>
            <a:r>
              <a:t/>
            </a:r>
            <a:endParaRPr/>
          </a:p>
          <a:p>
            <a:pPr indent="-509206" lvl="0" marL="509206" rtl="0" algn="l">
              <a:lnSpc>
                <a:spcPct val="90000"/>
              </a:lnSpc>
              <a:spcBef>
                <a:spcPts val="900"/>
              </a:spcBef>
              <a:spcAft>
                <a:spcPts val="0"/>
              </a:spcAft>
              <a:buClr>
                <a:srgbClr val="000000"/>
              </a:buClr>
              <a:buSzPts val="2772"/>
              <a:buFont typeface="Arial"/>
              <a:buAutoNum type="arabicPeriod"/>
            </a:pPr>
            <a:r>
              <a:rPr lang="en-US" sz="2772"/>
              <a:t>When you know what you’re looking for:</a:t>
            </a:r>
            <a:endParaRPr/>
          </a:p>
          <a:p>
            <a:pPr indent="452627" lvl="1" marL="0" rtl="0" algn="l">
              <a:lnSpc>
                <a:spcPct val="90000"/>
              </a:lnSpc>
              <a:spcBef>
                <a:spcPts val="400"/>
              </a:spcBef>
              <a:spcAft>
                <a:spcPts val="0"/>
              </a:spcAft>
              <a:buClr>
                <a:srgbClr val="000000"/>
              </a:buClr>
              <a:buSzPts val="2376"/>
              <a:buNone/>
            </a:pPr>
            <a:r>
              <a:rPr lang="en-US" sz="2376"/>
              <a:t>- Causal Micro-Narratives </a:t>
            </a:r>
            <a:r>
              <a:rPr lang="en-US" sz="1782"/>
              <a:t>[Heddaya et al. 2024]</a:t>
            </a:r>
            <a:endParaRPr/>
          </a:p>
          <a:p>
            <a:pPr indent="-509206" lvl="0" marL="509206" rtl="0" algn="l">
              <a:lnSpc>
                <a:spcPct val="90000"/>
              </a:lnSpc>
              <a:spcBef>
                <a:spcPts val="900"/>
              </a:spcBef>
              <a:spcAft>
                <a:spcPts val="0"/>
              </a:spcAft>
              <a:buClr>
                <a:srgbClr val="000000"/>
              </a:buClr>
              <a:buSzPts val="2772"/>
              <a:buFont typeface="Arial"/>
              <a:buAutoNum type="arabicPeriod"/>
            </a:pPr>
            <a:r>
              <a:rPr lang="en-US" sz="2772"/>
              <a:t>When you don’t know what you’re looking for: </a:t>
            </a:r>
            <a:endParaRPr/>
          </a:p>
          <a:p>
            <a:pPr indent="-226313" lvl="1" marL="678941" rtl="0" algn="l">
              <a:lnSpc>
                <a:spcPct val="90000"/>
              </a:lnSpc>
              <a:spcBef>
                <a:spcPts val="400"/>
              </a:spcBef>
              <a:spcAft>
                <a:spcPts val="0"/>
              </a:spcAft>
              <a:buClr>
                <a:srgbClr val="000000"/>
              </a:buClr>
              <a:buSzPts val="2376"/>
              <a:buFont typeface="Arial"/>
              <a:buChar char="-"/>
            </a:pPr>
            <a:r>
              <a:rPr lang="en-US" sz="2376" cap="small"/>
              <a:t>CaseSumm</a:t>
            </a:r>
            <a:r>
              <a:rPr lang="en-US" cap="none"/>
              <a:t>: Long-Context Summarization from U.S. SCOTUS Opinions </a:t>
            </a:r>
            <a:r>
              <a:rPr lang="en-US" sz="1782" cap="none"/>
              <a:t>[Heddaya et al. 2025]</a:t>
            </a:r>
            <a:endParaRPr/>
          </a:p>
          <a:p>
            <a:pPr indent="452627" lvl="1" marL="0" rtl="0" algn="l">
              <a:lnSpc>
                <a:spcPct val="90000"/>
              </a:lnSpc>
              <a:spcBef>
                <a:spcPts val="400"/>
              </a:spcBef>
              <a:spcAft>
                <a:spcPts val="0"/>
              </a:spcAft>
              <a:buClr>
                <a:srgbClr val="000000"/>
              </a:buClr>
              <a:buSzPts val="1782"/>
              <a:buNone/>
            </a:pPr>
            <a:r>
              <a:t/>
            </a:r>
            <a:endParaRPr sz="1782" cap="none"/>
          </a:p>
          <a:p>
            <a:pPr indent="452627" lvl="1" marL="0" rtl="0" algn="l">
              <a:lnSpc>
                <a:spcPct val="90000"/>
              </a:lnSpc>
              <a:spcBef>
                <a:spcPts val="400"/>
              </a:spcBef>
              <a:spcAft>
                <a:spcPts val="0"/>
              </a:spcAft>
              <a:buClr>
                <a:srgbClr val="000000"/>
              </a:buClr>
              <a:buSzPts val="1782"/>
              <a:buNone/>
            </a:pPr>
            <a:r>
              <a:t/>
            </a:r>
            <a:endParaRPr sz="1782" cap="none"/>
          </a:p>
          <a:p>
            <a:pPr indent="0" lvl="0" marL="0" rtl="0" algn="l">
              <a:lnSpc>
                <a:spcPct val="90000"/>
              </a:lnSpc>
              <a:spcBef>
                <a:spcPts val="900"/>
              </a:spcBef>
              <a:spcAft>
                <a:spcPts val="0"/>
              </a:spcAft>
              <a:buClr>
                <a:srgbClr val="000000"/>
              </a:buClr>
              <a:buSzPts val="2772"/>
              <a:buNone/>
            </a:pPr>
            <a:r>
              <a:rPr lang="en-US" sz="2772"/>
              <a:t>- Ongoing and future work</a:t>
            </a:r>
            <a:endParaRPr/>
          </a:p>
        </p:txBody>
      </p:sp>
      <p:sp>
        <p:nvSpPr>
          <p:cNvPr id="1546" name="Google Shape;1546;p14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14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Research Questions</a:t>
            </a:r>
            <a:endParaRPr/>
          </a:p>
        </p:txBody>
      </p:sp>
      <p:sp>
        <p:nvSpPr>
          <p:cNvPr id="1552" name="Google Shape;1552;p144"/>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514350" lvl="0" marL="514350" rtl="0" algn="l">
              <a:lnSpc>
                <a:spcPct val="90000"/>
              </a:lnSpc>
              <a:spcBef>
                <a:spcPts val="0"/>
              </a:spcBef>
              <a:spcAft>
                <a:spcPts val="0"/>
              </a:spcAft>
              <a:buClr>
                <a:srgbClr val="000000"/>
              </a:buClr>
              <a:buSzPts val="2800"/>
              <a:buFont typeface="Arial"/>
              <a:buAutoNum type="arabicPeriod"/>
            </a:pPr>
            <a:r>
              <a:rPr b="0" i="0" lang="en-US" sz="2800" u="none" cap="none" strike="noStrike">
                <a:solidFill>
                  <a:srgbClr val="000000"/>
                </a:solidFill>
                <a:latin typeface="Arial"/>
                <a:ea typeface="Arial"/>
                <a:cs typeface="Arial"/>
                <a:sym typeface="Arial"/>
              </a:rPr>
              <a:t>Do inflation narratives </a:t>
            </a:r>
            <a:r>
              <a:rPr b="1" lang="en-US"/>
              <a:t>predict economic variables</a:t>
            </a:r>
            <a:r>
              <a:rPr b="0" i="0" lang="en-US" sz="2800" u="none" cap="none" strike="noStrike">
                <a:solidFill>
                  <a:srgbClr val="000000"/>
                </a:solidFill>
                <a:latin typeface="Arial"/>
                <a:ea typeface="Arial"/>
                <a:cs typeface="Arial"/>
                <a:sym typeface="Arial"/>
              </a:rPr>
              <a:t> of interest, even controlling for commonly used predictors?</a:t>
            </a:r>
            <a:endParaRPr/>
          </a:p>
          <a:p>
            <a:pPr indent="-514350" lvl="0" marL="514350" rtl="0" algn="l">
              <a:lnSpc>
                <a:spcPct val="90000"/>
              </a:lnSpc>
              <a:spcBef>
                <a:spcPts val="1000"/>
              </a:spcBef>
              <a:spcAft>
                <a:spcPts val="0"/>
              </a:spcAft>
              <a:buClr>
                <a:srgbClr val="000000"/>
              </a:buClr>
              <a:buSzPts val="2800"/>
              <a:buFont typeface="Arial"/>
              <a:buAutoNum type="arabicPeriod"/>
            </a:pPr>
            <a:r>
              <a:rPr b="0" i="0" lang="en-US" sz="2800" u="none" cap="none" strike="noStrike">
                <a:solidFill>
                  <a:srgbClr val="000000"/>
                </a:solidFill>
                <a:latin typeface="Arial"/>
                <a:ea typeface="Arial"/>
                <a:cs typeface="Arial"/>
                <a:sym typeface="Arial"/>
              </a:rPr>
              <a:t>Are inflation narratives “</a:t>
            </a:r>
            <a:r>
              <a:rPr b="1" lang="en-US"/>
              <a:t>contagious</a:t>
            </a:r>
            <a:r>
              <a:rPr b="0" i="0" lang="en-US" sz="2800" u="none" cap="none" strike="noStrike">
                <a:solidFill>
                  <a:srgbClr val="000000"/>
                </a:solidFill>
                <a:latin typeface="Arial"/>
                <a:ea typeface="Arial"/>
                <a:cs typeface="Arial"/>
                <a:sym typeface="Arial"/>
              </a:rPr>
              <a:t>” in the sense of spreading from one location to another? If yes, what are the properties of the contagion and have these properties changed over time?</a:t>
            </a:r>
            <a:endParaRPr/>
          </a:p>
          <a:p>
            <a:pPr indent="-514350" lvl="0" marL="514350" rtl="0" algn="l">
              <a:lnSpc>
                <a:spcPct val="90000"/>
              </a:lnSpc>
              <a:spcBef>
                <a:spcPts val="1000"/>
              </a:spcBef>
              <a:spcAft>
                <a:spcPts val="0"/>
              </a:spcAft>
              <a:buClr>
                <a:srgbClr val="000000"/>
              </a:buClr>
              <a:buSzPts val="2800"/>
              <a:buFont typeface="Arial"/>
              <a:buAutoNum type="arabicPeriod"/>
            </a:pPr>
            <a:r>
              <a:rPr b="0" i="0" lang="en-US" sz="2800" u="none" cap="none" strike="noStrike">
                <a:solidFill>
                  <a:srgbClr val="000000"/>
                </a:solidFill>
                <a:latin typeface="Arial"/>
                <a:ea typeface="Arial"/>
                <a:cs typeface="Arial"/>
                <a:sym typeface="Arial"/>
              </a:rPr>
              <a:t>Methods: Can we </a:t>
            </a:r>
            <a:r>
              <a:rPr b="1" lang="en-US"/>
              <a:t>discover</a:t>
            </a:r>
            <a:r>
              <a:rPr b="0" i="0" lang="en-US" sz="2800" u="none" cap="none" strike="noStrike">
                <a:solidFill>
                  <a:srgbClr val="000000"/>
                </a:solidFill>
                <a:latin typeface="Arial"/>
                <a:ea typeface="Arial"/>
                <a:cs typeface="Arial"/>
                <a:sym typeface="Arial"/>
              </a:rPr>
              <a:t> and/or </a:t>
            </a:r>
            <a:r>
              <a:rPr b="1" lang="en-US"/>
              <a:t>classify</a:t>
            </a:r>
            <a:r>
              <a:rPr b="0" i="0" lang="en-US" sz="2800" u="none" cap="none" strike="noStrike">
                <a:solidFill>
                  <a:srgbClr val="000000"/>
                </a:solidFill>
                <a:latin typeface="Arial"/>
                <a:ea typeface="Arial"/>
                <a:cs typeface="Arial"/>
                <a:sym typeface="Arial"/>
              </a:rPr>
              <a:t> narratives in large scale unstructured text?</a:t>
            </a:r>
            <a:endParaRPr/>
          </a:p>
        </p:txBody>
      </p:sp>
      <p:sp>
        <p:nvSpPr>
          <p:cNvPr id="1553" name="Google Shape;1553;p14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7" name="Shape 1557"/>
        <p:cNvGrpSpPr/>
        <p:nvPr/>
      </p:nvGrpSpPr>
      <p:grpSpPr>
        <a:xfrm>
          <a:off x="0" y="0"/>
          <a:ext cx="0" cy="0"/>
          <a:chOff x="0" y="0"/>
          <a:chExt cx="0" cy="0"/>
        </a:xfrm>
      </p:grpSpPr>
      <p:sp>
        <p:nvSpPr>
          <p:cNvPr id="1558" name="Google Shape;1558;p14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0" i="0" lang="en-US" sz="4180" u="none" cap="none" strike="noStrike">
                <a:solidFill>
                  <a:srgbClr val="000000"/>
                </a:solidFill>
                <a:latin typeface="Play"/>
                <a:ea typeface="Play"/>
                <a:cs typeface="Play"/>
                <a:sym typeface="Play"/>
              </a:rPr>
              <a:t>Prior work captures important aspects of narratives but measuring them is hard </a:t>
            </a:r>
            <a:endParaRPr/>
          </a:p>
        </p:txBody>
      </p:sp>
      <p:sp>
        <p:nvSpPr>
          <p:cNvPr id="1559" name="Google Shape;1559;p14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1560" name="Google Shape;1560;p145"/>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1742" lvl="0" marL="221742" rtl="0" algn="l">
              <a:lnSpc>
                <a:spcPct val="81000"/>
              </a:lnSpc>
              <a:spcBef>
                <a:spcPts val="0"/>
              </a:spcBef>
              <a:spcAft>
                <a:spcPts val="0"/>
              </a:spcAft>
              <a:buClr>
                <a:srgbClr val="000000"/>
              </a:buClr>
              <a:buSzPts val="2700"/>
              <a:buChar char="•"/>
            </a:pPr>
            <a:r>
              <a:rPr lang="en-US"/>
              <a:t>Narratives map a causal relationship</a:t>
            </a:r>
            <a:endParaRPr/>
          </a:p>
          <a:p>
            <a:pPr indent="-221742" lvl="1" marL="665226" rtl="0" algn="l">
              <a:lnSpc>
                <a:spcPct val="81000"/>
              </a:lnSpc>
              <a:spcBef>
                <a:spcPts val="400"/>
              </a:spcBef>
              <a:spcAft>
                <a:spcPts val="0"/>
              </a:spcAft>
              <a:buClr>
                <a:srgbClr val="000000"/>
              </a:buClr>
              <a:buSzPts val="2300"/>
              <a:buChar char="•"/>
            </a:pPr>
            <a:r>
              <a:rPr lang="en-US"/>
              <a:t>DAG mapping actions to consequences [Eliaz &amp; Spiegler 2020]</a:t>
            </a:r>
            <a:endParaRPr/>
          </a:p>
          <a:p>
            <a:pPr indent="-221742" lvl="1" marL="665226" rtl="0" algn="l">
              <a:lnSpc>
                <a:spcPct val="81000"/>
              </a:lnSpc>
              <a:spcBef>
                <a:spcPts val="400"/>
              </a:spcBef>
              <a:spcAft>
                <a:spcPts val="0"/>
              </a:spcAft>
              <a:buClr>
                <a:srgbClr val="000000"/>
              </a:buClr>
              <a:buSzPts val="2300"/>
              <a:buChar char="•"/>
            </a:pPr>
            <a:r>
              <a:rPr lang="en-US"/>
              <a:t>Case study of Soviet economy [Akerloff &amp; Snower 2020]</a:t>
            </a:r>
            <a:endParaRPr/>
          </a:p>
          <a:p>
            <a:pPr indent="-221742" lvl="1" marL="665226" rtl="0" algn="l">
              <a:lnSpc>
                <a:spcPct val="81000"/>
              </a:lnSpc>
              <a:spcBef>
                <a:spcPts val="400"/>
              </a:spcBef>
              <a:spcAft>
                <a:spcPts val="0"/>
              </a:spcAft>
              <a:buClr>
                <a:srgbClr val="000000"/>
              </a:buClr>
              <a:buSzPts val="2300"/>
              <a:buChar char="•"/>
            </a:pPr>
            <a:r>
              <a:rPr lang="en-US"/>
              <a:t>Controlled experiments to measure effect [Kendall &amp; Charles 2022, Morag &amp; Loewenstein 2023]</a:t>
            </a:r>
            <a:endParaRPr/>
          </a:p>
          <a:p>
            <a:pPr indent="-221742" lvl="0" marL="221742" rtl="0" algn="l">
              <a:lnSpc>
                <a:spcPct val="81000"/>
              </a:lnSpc>
              <a:spcBef>
                <a:spcPts val="900"/>
              </a:spcBef>
              <a:spcAft>
                <a:spcPts val="0"/>
              </a:spcAft>
              <a:buClr>
                <a:srgbClr val="000000"/>
              </a:buClr>
              <a:buSzPts val="2700"/>
              <a:buChar char="•"/>
            </a:pPr>
            <a:r>
              <a:rPr lang="en-US"/>
              <a:t>Narratives shape beliefs</a:t>
            </a:r>
            <a:endParaRPr/>
          </a:p>
          <a:p>
            <a:pPr indent="-221742" lvl="1" marL="665226" rtl="0" algn="l">
              <a:lnSpc>
                <a:spcPct val="81000"/>
              </a:lnSpc>
              <a:spcBef>
                <a:spcPts val="400"/>
              </a:spcBef>
              <a:spcAft>
                <a:spcPts val="0"/>
              </a:spcAft>
              <a:buClr>
                <a:srgbClr val="000000"/>
              </a:buClr>
              <a:buSzPts val="2300"/>
              <a:buChar char="•"/>
            </a:pPr>
            <a:r>
              <a:rPr lang="en-US"/>
              <a:t>Theoretical framework + structural model [Benabou et al. 2018]</a:t>
            </a:r>
            <a:endParaRPr/>
          </a:p>
          <a:p>
            <a:pPr indent="-221742" lvl="1" marL="665226" rtl="0" algn="l">
              <a:lnSpc>
                <a:spcPct val="81000"/>
              </a:lnSpc>
              <a:spcBef>
                <a:spcPts val="400"/>
              </a:spcBef>
              <a:spcAft>
                <a:spcPts val="0"/>
              </a:spcAft>
              <a:buClr>
                <a:srgbClr val="000000"/>
              </a:buClr>
              <a:buSzPts val="2300"/>
              <a:buChar char="•"/>
            </a:pPr>
            <a:r>
              <a:rPr lang="en-US"/>
              <a:t>Beliefs about the economy that spread contagiously [Flynn &amp; Sastry 2022]</a:t>
            </a:r>
            <a:endParaRPr/>
          </a:p>
          <a:p>
            <a:pPr indent="-221742" lvl="2" marL="1108710" rtl="0" algn="l">
              <a:lnSpc>
                <a:spcPct val="81000"/>
              </a:lnSpc>
              <a:spcBef>
                <a:spcPts val="400"/>
              </a:spcBef>
              <a:spcAft>
                <a:spcPts val="0"/>
              </a:spcAft>
              <a:buClr>
                <a:srgbClr val="000000"/>
              </a:buClr>
              <a:buSzPts val="1900"/>
              <a:buChar char="•"/>
            </a:pPr>
            <a:r>
              <a:rPr lang="en-US"/>
              <a:t>Optimism vs. pessimism [Flynn &amp; Sastry 2022]</a:t>
            </a:r>
            <a:endParaRPr/>
          </a:p>
          <a:p>
            <a:pPr indent="-43942" lvl="0" marL="221742" rtl="0" algn="l">
              <a:lnSpc>
                <a:spcPct val="81000"/>
              </a:lnSpc>
              <a:spcBef>
                <a:spcPts val="900"/>
              </a:spcBef>
              <a:spcAft>
                <a:spcPts val="0"/>
              </a:spcAft>
              <a:buClr>
                <a:srgbClr val="000000"/>
              </a:buClr>
              <a:buSzPts val="2800"/>
              <a:buNone/>
            </a:pPr>
            <a:r>
              <a:t/>
            </a:r>
            <a:endParaRPr/>
          </a:p>
          <a:p>
            <a:pPr indent="-221742" lvl="0" marL="221742" rtl="0" algn="l">
              <a:lnSpc>
                <a:spcPct val="81000"/>
              </a:lnSpc>
              <a:spcBef>
                <a:spcPts val="900"/>
              </a:spcBef>
              <a:spcAft>
                <a:spcPts val="0"/>
              </a:spcAft>
              <a:buClr>
                <a:srgbClr val="000000"/>
              </a:buClr>
              <a:buSzPts val="2700"/>
              <a:buChar char="•"/>
            </a:pPr>
            <a:r>
              <a:rPr lang="en-US"/>
              <a:t>Text semantics reveal narratives </a:t>
            </a:r>
            <a:r>
              <a:rPr b="0" lang="en-US"/>
              <a:t>[Ash et al. 2022]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4" name="Shape 1564"/>
        <p:cNvGrpSpPr/>
        <p:nvPr/>
      </p:nvGrpSpPr>
      <p:grpSpPr>
        <a:xfrm>
          <a:off x="0" y="0"/>
          <a:ext cx="0" cy="0"/>
          <a:chOff x="0" y="0"/>
          <a:chExt cx="0" cy="0"/>
        </a:xfrm>
      </p:grpSpPr>
      <p:sp>
        <p:nvSpPr>
          <p:cNvPr id="1565" name="Google Shape;1565;p14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1"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Research Questions</a:t>
            </a:r>
            <a:endParaRPr/>
          </a:p>
        </p:txBody>
      </p:sp>
      <p:sp>
        <p:nvSpPr>
          <p:cNvPr id="1566" name="Google Shape;1566;p146"/>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What makes a good summary?</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How can we compare summaries, taking into account real human preference?</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Summarization is open-ended</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Human-written vs. automatically generated summaries</a:t>
            </a:r>
            <a:endParaRPr/>
          </a:p>
        </p:txBody>
      </p:sp>
      <p:sp>
        <p:nvSpPr>
          <p:cNvPr id="1567" name="Google Shape;1567;p14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147"/>
          <p:cNvSpPr txBox="1"/>
          <p:nvPr>
            <p:ph type="title"/>
          </p:nvPr>
        </p:nvSpPr>
        <p:spPr>
          <a:xfrm>
            <a:off x="838198" y="365125"/>
            <a:ext cx="10854849"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More narrative dispersion = higher expectations and higher uncertainty </a:t>
            </a:r>
            <a:endParaRPr/>
          </a:p>
        </p:txBody>
      </p:sp>
      <p:sp>
        <p:nvSpPr>
          <p:cNvPr id="1573" name="Google Shape;1573;p14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Picture 5" id="1574" name="Google Shape;1574;p147"/>
          <p:cNvPicPr preferRelativeResize="0"/>
          <p:nvPr/>
        </p:nvPicPr>
        <p:blipFill rotWithShape="1">
          <a:blip r:embed="rId3">
            <a:alphaModFix/>
          </a:blip>
          <a:srcRect b="0" l="0" r="0" t="0"/>
          <a:stretch/>
        </p:blipFill>
        <p:spPr>
          <a:xfrm>
            <a:off x="2088319" y="1982674"/>
            <a:ext cx="7772401" cy="421396"/>
          </a:xfrm>
          <a:prstGeom prst="rect">
            <a:avLst/>
          </a:prstGeom>
          <a:noFill/>
          <a:ln>
            <a:noFill/>
          </a:ln>
        </p:spPr>
      </p:pic>
      <p:pic>
        <p:nvPicPr>
          <p:cNvPr descr="Picture 7" id="1575" name="Google Shape;1575;p147"/>
          <p:cNvPicPr preferRelativeResize="0"/>
          <p:nvPr/>
        </p:nvPicPr>
        <p:blipFill rotWithShape="1">
          <a:blip r:embed="rId4">
            <a:alphaModFix/>
          </a:blip>
          <a:srcRect b="0" l="0" r="0" t="0"/>
          <a:stretch/>
        </p:blipFill>
        <p:spPr>
          <a:xfrm>
            <a:off x="1402017" y="2698063"/>
            <a:ext cx="4744088" cy="3213737"/>
          </a:xfrm>
          <a:prstGeom prst="rect">
            <a:avLst/>
          </a:prstGeom>
          <a:noFill/>
          <a:ln>
            <a:noFill/>
          </a:ln>
        </p:spPr>
      </p:pic>
      <p:pic>
        <p:nvPicPr>
          <p:cNvPr descr="Picture 9" id="1576" name="Google Shape;1576;p147"/>
          <p:cNvPicPr preferRelativeResize="0"/>
          <p:nvPr/>
        </p:nvPicPr>
        <p:blipFill rotWithShape="1">
          <a:blip r:embed="rId5">
            <a:alphaModFix/>
          </a:blip>
          <a:srcRect b="0" l="0" r="0" t="0"/>
          <a:stretch/>
        </p:blipFill>
        <p:spPr>
          <a:xfrm>
            <a:off x="6509357" y="2850626"/>
            <a:ext cx="4620832" cy="3213737"/>
          </a:xfrm>
          <a:prstGeom prst="rect">
            <a:avLst/>
          </a:prstGeom>
          <a:noFill/>
          <a:ln>
            <a:noFill/>
          </a:ln>
        </p:spPr>
      </p:pic>
      <p:sp>
        <p:nvSpPr>
          <p:cNvPr id="1577" name="Google Shape;1577;p147"/>
          <p:cNvSpPr/>
          <p:nvPr/>
        </p:nvSpPr>
        <p:spPr>
          <a:xfrm>
            <a:off x="1402017" y="4870618"/>
            <a:ext cx="9664728" cy="513568"/>
          </a:xfrm>
          <a:prstGeom prst="rect">
            <a:avLst/>
          </a:prstGeom>
          <a:solidFill>
            <a:srgbClr val="FFC500">
              <a:alpha val="34118"/>
            </a:srgbClr>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1" name="Shape 1581"/>
        <p:cNvGrpSpPr/>
        <p:nvPr/>
      </p:nvGrpSpPr>
      <p:grpSpPr>
        <a:xfrm>
          <a:off x="0" y="0"/>
          <a:ext cx="0" cy="0"/>
          <a:chOff x="0" y="0"/>
          <a:chExt cx="0" cy="0"/>
        </a:xfrm>
      </p:grpSpPr>
      <p:sp>
        <p:nvSpPr>
          <p:cNvPr id="1582" name="Google Shape;1582;p14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Summarization is important and hard</a:t>
            </a:r>
            <a:endParaRPr/>
          </a:p>
        </p:txBody>
      </p:sp>
      <p:sp>
        <p:nvSpPr>
          <p:cNvPr id="1583" name="Google Shape;1583;p148"/>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Summaries are used for</a:t>
            </a:r>
            <a:endParaRPr/>
          </a:p>
          <a:p>
            <a:pPr indent="-228600" lvl="1" marL="685800" rtl="0" algn="l">
              <a:lnSpc>
                <a:spcPct val="90000"/>
              </a:lnSpc>
              <a:spcBef>
                <a:spcPts val="500"/>
              </a:spcBef>
              <a:spcAft>
                <a:spcPts val="0"/>
              </a:spcAft>
              <a:buClr>
                <a:srgbClr val="000000"/>
              </a:buClr>
              <a:buSzPts val="2400"/>
              <a:buChar char="•"/>
            </a:pPr>
            <a:r>
              <a:rPr lang="en-US" sz="2400"/>
              <a:t>Producing legal judgments</a:t>
            </a:r>
            <a:endParaRPr/>
          </a:p>
          <a:p>
            <a:pPr indent="-228600" lvl="1" marL="685800" rtl="0" algn="l">
              <a:lnSpc>
                <a:spcPct val="90000"/>
              </a:lnSpc>
              <a:spcBef>
                <a:spcPts val="500"/>
              </a:spcBef>
              <a:spcAft>
                <a:spcPts val="0"/>
              </a:spcAft>
              <a:buClr>
                <a:srgbClr val="000000"/>
              </a:buClr>
              <a:buSzPts val="2400"/>
              <a:buChar char="•"/>
            </a:pPr>
            <a:r>
              <a:rPr lang="en-US" sz="2400"/>
              <a:t>Provision of legal services</a:t>
            </a:r>
            <a:endParaRPr/>
          </a:p>
          <a:p>
            <a:pPr indent="-228600" lvl="1" marL="685800" rtl="0" algn="l">
              <a:lnSpc>
                <a:spcPct val="90000"/>
              </a:lnSpc>
              <a:spcBef>
                <a:spcPts val="500"/>
              </a:spcBef>
              <a:spcAft>
                <a:spcPts val="0"/>
              </a:spcAft>
              <a:buClr>
                <a:srgbClr val="000000"/>
              </a:buClr>
              <a:buSzPts val="2400"/>
              <a:buChar char="•"/>
            </a:pPr>
            <a:r>
              <a:rPr lang="en-US" sz="2400"/>
              <a:t>Public education</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Summaries are difficult to produce.</a:t>
            </a:r>
            <a:endParaRPr/>
          </a:p>
          <a:p>
            <a:pPr indent="-228600" lvl="1" marL="685800" rtl="0" algn="l">
              <a:lnSpc>
                <a:spcPct val="90000"/>
              </a:lnSpc>
              <a:spcBef>
                <a:spcPts val="500"/>
              </a:spcBef>
              <a:spcAft>
                <a:spcPts val="0"/>
              </a:spcAft>
              <a:buClr>
                <a:srgbClr val="000000"/>
              </a:buClr>
              <a:buSzPts val="2400"/>
              <a:buChar char="•"/>
            </a:pPr>
            <a:r>
              <a:rPr lang="en-US" sz="2400"/>
              <a:t>Legal text can be very long and dense.</a:t>
            </a:r>
            <a:endParaRPr/>
          </a:p>
          <a:p>
            <a:pPr indent="-228600" lvl="1" marL="685800" rtl="0" algn="l">
              <a:lnSpc>
                <a:spcPct val="90000"/>
              </a:lnSpc>
              <a:spcBef>
                <a:spcPts val="500"/>
              </a:spcBef>
              <a:spcAft>
                <a:spcPts val="0"/>
              </a:spcAft>
              <a:buClr>
                <a:srgbClr val="000000"/>
              </a:buClr>
              <a:buSzPts val="2400"/>
              <a:buChar char="•"/>
            </a:pPr>
            <a:r>
              <a:rPr lang="en-US" sz="2400"/>
              <a:t>Low-tolerance for errors.</a:t>
            </a:r>
            <a:endParaRPr/>
          </a:p>
          <a:p>
            <a:pPr indent="-228600" lvl="1" marL="685800" rtl="0" algn="l">
              <a:lnSpc>
                <a:spcPct val="90000"/>
              </a:lnSpc>
              <a:spcBef>
                <a:spcPts val="500"/>
              </a:spcBef>
              <a:spcAft>
                <a:spcPts val="0"/>
              </a:spcAft>
              <a:buClr>
                <a:srgbClr val="000000"/>
              </a:buClr>
              <a:buSzPts val="2400"/>
              <a:buChar char="•"/>
            </a:pPr>
            <a:r>
              <a:rPr lang="en-US" sz="2400"/>
              <a:t>Domain-specific language and style.</a:t>
            </a:r>
            <a:endParaRPr/>
          </a:p>
          <a:p>
            <a:pPr indent="-228600" lvl="1" marL="685800" rtl="0" algn="l">
              <a:lnSpc>
                <a:spcPct val="90000"/>
              </a:lnSpc>
              <a:spcBef>
                <a:spcPts val="500"/>
              </a:spcBef>
              <a:spcAft>
                <a:spcPts val="0"/>
              </a:spcAft>
              <a:buClr>
                <a:srgbClr val="000000"/>
              </a:buClr>
              <a:buSzPts val="2400"/>
              <a:buChar char="•"/>
            </a:pPr>
            <a:r>
              <a:rPr lang="en-US" sz="2400"/>
              <a:t>Summarization is an open-ended problem.</a:t>
            </a:r>
            <a:endParaRPr/>
          </a:p>
        </p:txBody>
      </p:sp>
      <p:sp>
        <p:nvSpPr>
          <p:cNvPr id="1584" name="Google Shape;1584;p14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8" name="Shape 1588"/>
        <p:cNvGrpSpPr/>
        <p:nvPr/>
      </p:nvGrpSpPr>
      <p:grpSpPr>
        <a:xfrm>
          <a:off x="0" y="0"/>
          <a:ext cx="0" cy="0"/>
          <a:chOff x="0" y="0"/>
          <a:chExt cx="0" cy="0"/>
        </a:xfrm>
      </p:grpSpPr>
      <p:sp>
        <p:nvSpPr>
          <p:cNvPr id="1589" name="Google Shape;1589;p14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We collect various human-written summaries</a:t>
            </a:r>
            <a:endParaRPr/>
          </a:p>
        </p:txBody>
      </p:sp>
      <p:grpSp>
        <p:nvGrpSpPr>
          <p:cNvPr id="1590" name="Google Shape;1590;p149"/>
          <p:cNvGrpSpPr/>
          <p:nvPr/>
        </p:nvGrpSpPr>
        <p:grpSpPr>
          <a:xfrm>
            <a:off x="558962" y="2960470"/>
            <a:ext cx="5442761" cy="3343206"/>
            <a:chOff x="-1" y="-2"/>
            <a:chExt cx="5442759" cy="3343205"/>
          </a:xfrm>
        </p:grpSpPr>
        <p:grpSp>
          <p:nvGrpSpPr>
            <p:cNvPr id="1591" name="Google Shape;1591;p149"/>
            <p:cNvGrpSpPr/>
            <p:nvPr/>
          </p:nvGrpSpPr>
          <p:grpSpPr>
            <a:xfrm>
              <a:off x="0" y="-2"/>
              <a:ext cx="5442758" cy="3218540"/>
              <a:chOff x="0" y="-1"/>
              <a:chExt cx="5442757" cy="3218539"/>
            </a:xfrm>
          </p:grpSpPr>
          <p:pic>
            <p:nvPicPr>
              <p:cNvPr descr="Picture 4" id="1592" name="Google Shape;1592;p149"/>
              <p:cNvPicPr preferRelativeResize="0"/>
              <p:nvPr/>
            </p:nvPicPr>
            <p:blipFill rotWithShape="1">
              <a:blip r:embed="rId3">
                <a:alphaModFix/>
              </a:blip>
              <a:srcRect b="62953" l="0" r="0" t="1"/>
              <a:stretch/>
            </p:blipFill>
            <p:spPr>
              <a:xfrm>
                <a:off x="0" y="-1"/>
                <a:ext cx="5442757" cy="3218539"/>
              </a:xfrm>
              <a:prstGeom prst="rect">
                <a:avLst/>
              </a:prstGeom>
              <a:noFill/>
              <a:ln>
                <a:noFill/>
              </a:ln>
            </p:spPr>
          </p:pic>
          <p:sp>
            <p:nvSpPr>
              <p:cNvPr id="1593" name="Google Shape;1593;p149"/>
              <p:cNvSpPr/>
              <p:nvPr/>
            </p:nvSpPr>
            <p:spPr>
              <a:xfrm>
                <a:off x="2212694" y="548245"/>
                <a:ext cx="887507" cy="322732"/>
              </a:xfrm>
              <a:prstGeom prst="rect">
                <a:avLst/>
              </a:prstGeom>
              <a:noFill/>
              <a:ln cap="flat" cmpd="sng" w="28575">
                <a:solidFill>
                  <a:srgbClr val="FF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94" name="Google Shape;1594;p149"/>
            <p:cNvSpPr/>
            <p:nvPr/>
          </p:nvSpPr>
          <p:spPr>
            <a:xfrm>
              <a:off x="-1" y="124664"/>
              <a:ext cx="5442758" cy="3218539"/>
            </a:xfrm>
            <a:prstGeom prst="rect">
              <a:avLst/>
            </a:prstGeom>
            <a:noFill/>
            <a:ln cap="flat" cmpd="sng" w="19050">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95" name="Google Shape;1595;p14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Picture 3" id="1596" name="Google Shape;1596;p149"/>
          <p:cNvPicPr preferRelativeResize="0"/>
          <p:nvPr/>
        </p:nvPicPr>
        <p:blipFill rotWithShape="1">
          <a:blip r:embed="rId4">
            <a:alphaModFix/>
          </a:blip>
          <a:srcRect b="14299" l="8570" r="12618" t="9863"/>
          <a:stretch/>
        </p:blipFill>
        <p:spPr>
          <a:xfrm>
            <a:off x="7899339" y="1547613"/>
            <a:ext cx="1972567" cy="909668"/>
          </a:xfrm>
          <a:prstGeom prst="rect">
            <a:avLst/>
          </a:prstGeom>
          <a:noFill/>
          <a:ln>
            <a:noFill/>
          </a:ln>
        </p:spPr>
      </p:pic>
      <p:pic>
        <p:nvPicPr>
          <p:cNvPr descr="Picture 2" id="1597" name="Google Shape;1597;p149"/>
          <p:cNvPicPr preferRelativeResize="0"/>
          <p:nvPr/>
        </p:nvPicPr>
        <p:blipFill rotWithShape="1">
          <a:blip r:embed="rId5">
            <a:alphaModFix/>
          </a:blip>
          <a:srcRect b="35886" l="0" r="0" t="34359"/>
          <a:stretch/>
        </p:blipFill>
        <p:spPr>
          <a:xfrm>
            <a:off x="6912396" y="3744245"/>
            <a:ext cx="3930650" cy="1169559"/>
          </a:xfrm>
          <a:prstGeom prst="rect">
            <a:avLst/>
          </a:prstGeom>
          <a:noFill/>
          <a:ln>
            <a:noFill/>
          </a:ln>
        </p:spPr>
      </p:pic>
      <p:pic>
        <p:nvPicPr>
          <p:cNvPr descr="Picture 8" id="1598" name="Google Shape;1598;p149"/>
          <p:cNvPicPr preferRelativeResize="0"/>
          <p:nvPr/>
        </p:nvPicPr>
        <p:blipFill rotWithShape="1">
          <a:blip r:embed="rId6">
            <a:alphaModFix/>
          </a:blip>
          <a:srcRect b="0" l="0" r="0" t="0"/>
          <a:stretch/>
        </p:blipFill>
        <p:spPr>
          <a:xfrm>
            <a:off x="2524270" y="1649214"/>
            <a:ext cx="1382283" cy="1382283"/>
          </a:xfrm>
          <a:prstGeom prst="rect">
            <a:avLst/>
          </a:prstGeom>
          <a:noFill/>
          <a:ln>
            <a:noFill/>
          </a:ln>
        </p:spPr>
      </p:pic>
      <p:pic>
        <p:nvPicPr>
          <p:cNvPr descr="Picture 15" id="1599" name="Google Shape;1599;p149"/>
          <p:cNvPicPr preferRelativeResize="0"/>
          <p:nvPr/>
        </p:nvPicPr>
        <p:blipFill rotWithShape="1">
          <a:blip r:embed="rId7">
            <a:alphaModFix/>
          </a:blip>
          <a:srcRect b="0" l="0" r="0" t="0"/>
          <a:stretch/>
        </p:blipFill>
        <p:spPr>
          <a:xfrm>
            <a:off x="6846874" y="2500490"/>
            <a:ext cx="3973058" cy="1018733"/>
          </a:xfrm>
          <a:prstGeom prst="rect">
            <a:avLst/>
          </a:prstGeom>
          <a:noFill/>
          <a:ln cap="flat" cmpd="sng" w="19050">
            <a:solidFill>
              <a:srgbClr val="000000"/>
            </a:solidFill>
            <a:prstDash val="solid"/>
            <a:round/>
            <a:headEnd len="sm" w="sm" type="none"/>
            <a:tailEnd len="sm" w="sm" type="none"/>
          </a:ln>
        </p:spPr>
      </p:pic>
      <p:pic>
        <p:nvPicPr>
          <p:cNvPr descr="Picture 17" id="1600" name="Google Shape;1600;p149"/>
          <p:cNvPicPr preferRelativeResize="0"/>
          <p:nvPr/>
        </p:nvPicPr>
        <p:blipFill rotWithShape="1">
          <a:blip r:embed="rId8">
            <a:alphaModFix/>
          </a:blip>
          <a:srcRect b="43638" l="0" r="0" t="0"/>
          <a:stretch/>
        </p:blipFill>
        <p:spPr>
          <a:xfrm>
            <a:off x="6887315" y="4925066"/>
            <a:ext cx="3892177" cy="1328781"/>
          </a:xfrm>
          <a:prstGeom prst="rect">
            <a:avLst/>
          </a:prstGeom>
          <a:noFill/>
          <a:ln cap="flat" cmpd="sng" w="19050">
            <a:solidFill>
              <a:srgbClr val="000000"/>
            </a:solidFill>
            <a:prstDash val="solid"/>
            <a:round/>
            <a:headEnd len="sm" w="sm" type="none"/>
            <a:tailEnd len="sm" w="sm" type="none"/>
          </a:ln>
        </p:spPr>
      </p:pic>
      <p:grpSp>
        <p:nvGrpSpPr>
          <p:cNvPr id="1601" name="Google Shape;1601;p149"/>
          <p:cNvGrpSpPr/>
          <p:nvPr/>
        </p:nvGrpSpPr>
        <p:grpSpPr>
          <a:xfrm>
            <a:off x="502865" y="457795"/>
            <a:ext cx="10932271" cy="6619020"/>
            <a:chOff x="0" y="-275593"/>
            <a:chExt cx="10932269" cy="6619018"/>
          </a:xfrm>
        </p:grpSpPr>
        <p:sp>
          <p:nvSpPr>
            <p:cNvPr id="1602" name="Google Shape;1602;p149"/>
            <p:cNvSpPr/>
            <p:nvPr/>
          </p:nvSpPr>
          <p:spPr>
            <a:xfrm>
              <a:off x="0" y="-275593"/>
              <a:ext cx="10932269" cy="6619018"/>
            </a:xfrm>
            <a:prstGeom prst="rect">
              <a:avLst/>
            </a:prstGeom>
            <a:solidFill>
              <a:srgbClr val="FFFFFF">
                <a:alpha val="78039"/>
              </a:srgbClr>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Picture 19" id="1603" name="Google Shape;1603;p149"/>
            <p:cNvPicPr preferRelativeResize="0"/>
            <p:nvPr/>
          </p:nvPicPr>
          <p:blipFill rotWithShape="1">
            <a:blip r:embed="rId9">
              <a:alphaModFix/>
            </a:blip>
            <a:srcRect b="0" l="0" r="48704" t="0"/>
            <a:stretch/>
          </p:blipFill>
          <p:spPr>
            <a:xfrm>
              <a:off x="1969351" y="1301381"/>
              <a:ext cx="7410234" cy="4389620"/>
            </a:xfrm>
            <a:prstGeom prst="rect">
              <a:avLst/>
            </a:prstGeom>
            <a:noFill/>
            <a:ln>
              <a:noFill/>
            </a:ln>
          </p:spPr>
        </p:pic>
        <p:sp>
          <p:nvSpPr>
            <p:cNvPr id="1604" name="Google Shape;1604;p149"/>
            <p:cNvSpPr txBox="1"/>
            <p:nvPr/>
          </p:nvSpPr>
          <p:spPr>
            <a:xfrm>
              <a:off x="2874196" y="762161"/>
              <a:ext cx="5600365" cy="542291"/>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Opinions (and syllabuses) are long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15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Three evaluation lenses</a:t>
            </a:r>
            <a:endParaRPr/>
          </a:p>
        </p:txBody>
      </p:sp>
      <p:sp>
        <p:nvSpPr>
          <p:cNvPr id="1610" name="Google Shape;1610;p150"/>
          <p:cNvSpPr txBox="1"/>
          <p:nvPr/>
        </p:nvSpPr>
        <p:spPr>
          <a:xfrm>
            <a:off x="8328683" y="1841666"/>
            <a:ext cx="3236125"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LLM-based Judgement</a:t>
            </a:r>
            <a:endParaRPr/>
          </a:p>
        </p:txBody>
      </p:sp>
      <p:grpSp>
        <p:nvGrpSpPr>
          <p:cNvPr id="1611" name="Google Shape;1611;p150"/>
          <p:cNvGrpSpPr/>
          <p:nvPr/>
        </p:nvGrpSpPr>
        <p:grpSpPr>
          <a:xfrm>
            <a:off x="4594470" y="1419127"/>
            <a:ext cx="6759332" cy="882281"/>
            <a:chOff x="0" y="0"/>
            <a:chExt cx="6759329" cy="882280"/>
          </a:xfrm>
        </p:grpSpPr>
        <p:sp>
          <p:nvSpPr>
            <p:cNvPr id="1612" name="Google Shape;1612;p150"/>
            <p:cNvSpPr txBox="1"/>
            <p:nvPr/>
          </p:nvSpPr>
          <p:spPr>
            <a:xfrm>
              <a:off x="0" y="422539"/>
              <a:ext cx="2678266"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Human Judgement</a:t>
              </a:r>
              <a:endParaRPr/>
            </a:p>
          </p:txBody>
        </p:sp>
        <p:sp>
          <p:nvSpPr>
            <p:cNvPr id="1613" name="Google Shape;1613;p150"/>
            <p:cNvSpPr txBox="1"/>
            <p:nvPr/>
          </p:nvSpPr>
          <p:spPr>
            <a:xfrm>
              <a:off x="1938950" y="0"/>
              <a:ext cx="2961043" cy="37084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Reference-free</a:t>
              </a:r>
              <a:r>
                <a:rPr b="0" i="0" lang="en-US" sz="1800" u="none" cap="none" strike="noStrike">
                  <a:solidFill>
                    <a:srgbClr val="000000"/>
                  </a:solidFill>
                  <a:latin typeface="Arial"/>
                  <a:ea typeface="Arial"/>
                  <a:cs typeface="Arial"/>
                  <a:sym typeface="Arial"/>
                </a:rPr>
                <a:t> evaluation</a:t>
              </a:r>
              <a:endParaRPr/>
            </a:p>
          </p:txBody>
        </p:sp>
        <p:cxnSp>
          <p:nvCxnSpPr>
            <p:cNvPr id="1614" name="Google Shape;1614;p150"/>
            <p:cNvCxnSpPr/>
            <p:nvPr/>
          </p:nvCxnSpPr>
          <p:spPr>
            <a:xfrm>
              <a:off x="51488" y="369332"/>
              <a:ext cx="6707841" cy="1"/>
            </a:xfrm>
            <a:prstGeom prst="straightConnector1">
              <a:avLst/>
            </a:prstGeom>
            <a:noFill/>
            <a:ln cap="flat" cmpd="sng" w="19050">
              <a:solidFill>
                <a:srgbClr val="000000"/>
              </a:solidFill>
              <a:prstDash val="solid"/>
              <a:miter lim="8000"/>
              <a:headEnd len="sm" w="sm" type="none"/>
              <a:tailEnd len="sm" w="sm" type="none"/>
            </a:ln>
          </p:spPr>
        </p:cxnSp>
      </p:grpSp>
      <p:grpSp>
        <p:nvGrpSpPr>
          <p:cNvPr id="1615" name="Google Shape;1615;p150"/>
          <p:cNvGrpSpPr/>
          <p:nvPr/>
        </p:nvGrpSpPr>
        <p:grpSpPr>
          <a:xfrm>
            <a:off x="477698" y="1828966"/>
            <a:ext cx="3347684" cy="4990219"/>
            <a:chOff x="0" y="0"/>
            <a:chExt cx="3347682" cy="4990218"/>
          </a:xfrm>
        </p:grpSpPr>
        <p:sp>
          <p:nvSpPr>
            <p:cNvPr id="1616" name="Google Shape;1616;p150"/>
            <p:cNvSpPr txBox="1"/>
            <p:nvPr/>
          </p:nvSpPr>
          <p:spPr>
            <a:xfrm>
              <a:off x="0" y="0"/>
              <a:ext cx="3236124" cy="459741"/>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Similarity with syllabus</a:t>
              </a:r>
              <a:endParaRPr/>
            </a:p>
          </p:txBody>
        </p:sp>
        <p:sp>
          <p:nvSpPr>
            <p:cNvPr id="1617" name="Google Shape;1617;p150"/>
            <p:cNvSpPr/>
            <p:nvPr/>
          </p:nvSpPr>
          <p:spPr>
            <a:xfrm>
              <a:off x="519057" y="892568"/>
              <a:ext cx="1357975" cy="1357975"/>
            </a:xfrm>
            <a:prstGeom prst="ellipse">
              <a:avLst/>
            </a:prstGeom>
            <a:noFill/>
            <a:ln cap="flat" cmpd="sng" w="19050">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8" name="Google Shape;1618;p150"/>
            <p:cNvSpPr/>
            <p:nvPr/>
          </p:nvSpPr>
          <p:spPr>
            <a:xfrm>
              <a:off x="1182266" y="892568"/>
              <a:ext cx="1389531" cy="1389529"/>
            </a:xfrm>
            <a:prstGeom prst="ellipse">
              <a:avLst/>
            </a:prstGeom>
            <a:noFill/>
            <a:ln cap="flat" cmpd="sng" w="19050">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9" name="Google Shape;1619;p150"/>
            <p:cNvSpPr txBox="1"/>
            <p:nvPr/>
          </p:nvSpPr>
          <p:spPr>
            <a:xfrm>
              <a:off x="414528" y="2282098"/>
              <a:ext cx="1154566" cy="370841"/>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summary</a:t>
              </a:r>
              <a:endParaRPr/>
            </a:p>
          </p:txBody>
        </p:sp>
        <p:sp>
          <p:nvSpPr>
            <p:cNvPr id="1620" name="Google Shape;1620;p150"/>
            <p:cNvSpPr txBox="1"/>
            <p:nvPr/>
          </p:nvSpPr>
          <p:spPr>
            <a:xfrm>
              <a:off x="1783887" y="2282097"/>
              <a:ext cx="1154567" cy="370841"/>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syllabus</a:t>
              </a:r>
              <a:endParaRPr/>
            </a:p>
          </p:txBody>
        </p:sp>
        <p:cxnSp>
          <p:nvCxnSpPr>
            <p:cNvPr id="1621" name="Google Shape;1621;p150"/>
            <p:cNvCxnSpPr/>
            <p:nvPr/>
          </p:nvCxnSpPr>
          <p:spPr>
            <a:xfrm>
              <a:off x="785577" y="1255639"/>
              <a:ext cx="311524" cy="1"/>
            </a:xfrm>
            <a:prstGeom prst="straightConnector1">
              <a:avLst/>
            </a:prstGeom>
            <a:noFill/>
            <a:ln cap="flat" cmpd="sng" w="38100">
              <a:solidFill>
                <a:srgbClr val="C00000"/>
              </a:solidFill>
              <a:prstDash val="solid"/>
              <a:miter lim="8000"/>
              <a:headEnd len="sm" w="sm" type="none"/>
              <a:tailEnd len="sm" w="sm" type="none"/>
            </a:ln>
          </p:spPr>
        </p:cxnSp>
        <p:cxnSp>
          <p:nvCxnSpPr>
            <p:cNvPr id="1622" name="Google Shape;1622;p150"/>
            <p:cNvCxnSpPr/>
            <p:nvPr/>
          </p:nvCxnSpPr>
          <p:spPr>
            <a:xfrm>
              <a:off x="729548" y="1428209"/>
              <a:ext cx="311524" cy="1"/>
            </a:xfrm>
            <a:prstGeom prst="straightConnector1">
              <a:avLst/>
            </a:prstGeom>
            <a:noFill/>
            <a:ln cap="flat" cmpd="sng" w="38100">
              <a:solidFill>
                <a:srgbClr val="C00000"/>
              </a:solidFill>
              <a:prstDash val="solid"/>
              <a:miter lim="8000"/>
              <a:headEnd len="sm" w="sm" type="none"/>
              <a:tailEnd len="sm" w="sm" type="none"/>
            </a:ln>
          </p:spPr>
        </p:cxnSp>
        <p:cxnSp>
          <p:nvCxnSpPr>
            <p:cNvPr id="1623" name="Google Shape;1623;p150"/>
            <p:cNvCxnSpPr/>
            <p:nvPr/>
          </p:nvCxnSpPr>
          <p:spPr>
            <a:xfrm>
              <a:off x="729547" y="1600780"/>
              <a:ext cx="311524" cy="1"/>
            </a:xfrm>
            <a:prstGeom prst="straightConnector1">
              <a:avLst/>
            </a:prstGeom>
            <a:noFill/>
            <a:ln cap="flat" cmpd="sng" w="38100">
              <a:solidFill>
                <a:srgbClr val="C00000"/>
              </a:solidFill>
              <a:prstDash val="solid"/>
              <a:miter lim="8000"/>
              <a:headEnd len="sm" w="sm" type="none"/>
              <a:tailEnd len="sm" w="sm" type="none"/>
            </a:ln>
          </p:spPr>
        </p:cxnSp>
        <p:cxnSp>
          <p:nvCxnSpPr>
            <p:cNvPr id="1624" name="Google Shape;1624;p150"/>
            <p:cNvCxnSpPr/>
            <p:nvPr/>
          </p:nvCxnSpPr>
          <p:spPr>
            <a:xfrm>
              <a:off x="782215" y="1777833"/>
              <a:ext cx="311524" cy="1"/>
            </a:xfrm>
            <a:prstGeom prst="straightConnector1">
              <a:avLst/>
            </a:prstGeom>
            <a:noFill/>
            <a:ln cap="flat" cmpd="sng" w="38100">
              <a:solidFill>
                <a:srgbClr val="C00000"/>
              </a:solidFill>
              <a:prstDash val="solid"/>
              <a:miter lim="8000"/>
              <a:headEnd len="sm" w="sm" type="none"/>
              <a:tailEnd len="sm" w="sm" type="none"/>
            </a:ln>
          </p:spPr>
        </p:cxnSp>
        <p:grpSp>
          <p:nvGrpSpPr>
            <p:cNvPr id="1625" name="Google Shape;1625;p150"/>
            <p:cNvGrpSpPr/>
            <p:nvPr/>
          </p:nvGrpSpPr>
          <p:grpSpPr>
            <a:xfrm>
              <a:off x="1367534" y="1255638"/>
              <a:ext cx="318250" cy="484097"/>
              <a:chOff x="-1" y="-1"/>
              <a:chExt cx="318249" cy="484095"/>
            </a:xfrm>
          </p:grpSpPr>
          <p:cxnSp>
            <p:nvCxnSpPr>
              <p:cNvPr id="1626" name="Google Shape;1626;p150"/>
              <p:cNvCxnSpPr/>
              <p:nvPr/>
            </p:nvCxnSpPr>
            <p:spPr>
              <a:xfrm>
                <a:off x="6723" y="-1"/>
                <a:ext cx="311524" cy="1"/>
              </a:xfrm>
              <a:prstGeom prst="straightConnector1">
                <a:avLst/>
              </a:prstGeom>
              <a:noFill/>
              <a:ln cap="flat" cmpd="sng" w="38100">
                <a:solidFill>
                  <a:srgbClr val="7030A0"/>
                </a:solidFill>
                <a:prstDash val="solid"/>
                <a:miter lim="8000"/>
                <a:headEnd len="sm" w="sm" type="none"/>
                <a:tailEnd len="sm" w="sm" type="none"/>
              </a:ln>
            </p:spPr>
          </p:cxnSp>
          <p:cxnSp>
            <p:nvCxnSpPr>
              <p:cNvPr id="1627" name="Google Shape;1627;p150"/>
              <p:cNvCxnSpPr/>
              <p:nvPr/>
            </p:nvCxnSpPr>
            <p:spPr>
              <a:xfrm>
                <a:off x="6723" y="337039"/>
                <a:ext cx="311524" cy="1"/>
              </a:xfrm>
              <a:prstGeom prst="straightConnector1">
                <a:avLst/>
              </a:prstGeom>
              <a:noFill/>
              <a:ln cap="flat" cmpd="sng" w="38100">
                <a:solidFill>
                  <a:srgbClr val="7030A0"/>
                </a:solidFill>
                <a:prstDash val="solid"/>
                <a:miter lim="8000"/>
                <a:headEnd len="sm" w="sm" type="none"/>
                <a:tailEnd len="sm" w="sm" type="none"/>
              </a:ln>
            </p:spPr>
          </p:cxnSp>
          <p:cxnSp>
            <p:nvCxnSpPr>
              <p:cNvPr id="1628" name="Google Shape;1628;p150"/>
              <p:cNvCxnSpPr/>
              <p:nvPr/>
            </p:nvCxnSpPr>
            <p:spPr>
              <a:xfrm>
                <a:off x="-1" y="484093"/>
                <a:ext cx="311524" cy="1"/>
              </a:xfrm>
              <a:prstGeom prst="straightConnector1">
                <a:avLst/>
              </a:prstGeom>
              <a:noFill/>
              <a:ln cap="flat" cmpd="sng" w="38100">
                <a:solidFill>
                  <a:srgbClr val="7030A0"/>
                </a:solidFill>
                <a:prstDash val="solid"/>
                <a:miter lim="8000"/>
                <a:headEnd len="sm" w="sm" type="none"/>
                <a:tailEnd len="sm" w="sm" type="none"/>
              </a:ln>
            </p:spPr>
          </p:cxnSp>
          <p:cxnSp>
            <p:nvCxnSpPr>
              <p:cNvPr id="1629" name="Google Shape;1629;p150"/>
              <p:cNvCxnSpPr/>
              <p:nvPr/>
            </p:nvCxnSpPr>
            <p:spPr>
              <a:xfrm>
                <a:off x="6724" y="168519"/>
                <a:ext cx="311524" cy="1"/>
              </a:xfrm>
              <a:prstGeom prst="straightConnector1">
                <a:avLst/>
              </a:prstGeom>
              <a:noFill/>
              <a:ln cap="flat" cmpd="sng" w="38100">
                <a:solidFill>
                  <a:srgbClr val="7030A0"/>
                </a:solidFill>
                <a:prstDash val="solid"/>
                <a:miter lim="8000"/>
                <a:headEnd len="sm" w="sm" type="none"/>
                <a:tailEnd len="sm" w="sm" type="none"/>
              </a:ln>
            </p:spPr>
          </p:cxnSp>
        </p:grpSp>
        <p:cxnSp>
          <p:nvCxnSpPr>
            <p:cNvPr id="1630" name="Google Shape;1630;p150"/>
            <p:cNvCxnSpPr/>
            <p:nvPr/>
          </p:nvCxnSpPr>
          <p:spPr>
            <a:xfrm>
              <a:off x="1946506" y="1255639"/>
              <a:ext cx="311524" cy="1"/>
            </a:xfrm>
            <a:prstGeom prst="straightConnector1">
              <a:avLst/>
            </a:prstGeom>
            <a:noFill/>
            <a:ln cap="flat" cmpd="sng" w="38100">
              <a:solidFill>
                <a:srgbClr val="0070C0"/>
              </a:solidFill>
              <a:prstDash val="solid"/>
              <a:miter lim="8000"/>
              <a:headEnd len="sm" w="sm" type="none"/>
              <a:tailEnd len="sm" w="sm" type="none"/>
            </a:ln>
          </p:spPr>
        </p:cxnSp>
        <p:cxnSp>
          <p:nvCxnSpPr>
            <p:cNvPr id="1631" name="Google Shape;1631;p150"/>
            <p:cNvCxnSpPr/>
            <p:nvPr/>
          </p:nvCxnSpPr>
          <p:spPr>
            <a:xfrm>
              <a:off x="2049646" y="1428209"/>
              <a:ext cx="311524" cy="1"/>
            </a:xfrm>
            <a:prstGeom prst="straightConnector1">
              <a:avLst/>
            </a:prstGeom>
            <a:noFill/>
            <a:ln cap="flat" cmpd="sng" w="38100">
              <a:solidFill>
                <a:srgbClr val="0070C0"/>
              </a:solidFill>
              <a:prstDash val="solid"/>
              <a:miter lim="8000"/>
              <a:headEnd len="sm" w="sm" type="none"/>
              <a:tailEnd len="sm" w="sm" type="none"/>
            </a:ln>
          </p:spPr>
        </p:cxnSp>
        <p:cxnSp>
          <p:nvCxnSpPr>
            <p:cNvPr id="1632" name="Google Shape;1632;p150"/>
            <p:cNvCxnSpPr/>
            <p:nvPr/>
          </p:nvCxnSpPr>
          <p:spPr>
            <a:xfrm>
              <a:off x="2049645" y="1596298"/>
              <a:ext cx="311524" cy="1"/>
            </a:xfrm>
            <a:prstGeom prst="straightConnector1">
              <a:avLst/>
            </a:prstGeom>
            <a:noFill/>
            <a:ln cap="flat" cmpd="sng" w="38100">
              <a:solidFill>
                <a:srgbClr val="0070C0"/>
              </a:solidFill>
              <a:prstDash val="solid"/>
              <a:miter lim="8000"/>
              <a:headEnd len="sm" w="sm" type="none"/>
              <a:tailEnd len="sm" w="sm" type="none"/>
            </a:ln>
          </p:spPr>
        </p:cxnSp>
        <p:cxnSp>
          <p:nvCxnSpPr>
            <p:cNvPr id="1633" name="Google Shape;1633;p150"/>
            <p:cNvCxnSpPr/>
            <p:nvPr/>
          </p:nvCxnSpPr>
          <p:spPr>
            <a:xfrm>
              <a:off x="1985771" y="1773351"/>
              <a:ext cx="311524" cy="1"/>
            </a:xfrm>
            <a:prstGeom prst="straightConnector1">
              <a:avLst/>
            </a:prstGeom>
            <a:noFill/>
            <a:ln cap="flat" cmpd="sng" w="38100">
              <a:solidFill>
                <a:srgbClr val="0070C0"/>
              </a:solidFill>
              <a:prstDash val="solid"/>
              <a:miter lim="8000"/>
              <a:headEnd len="sm" w="sm" type="none"/>
              <a:tailEnd len="sm" w="sm" type="none"/>
            </a:ln>
          </p:spPr>
        </p:cxnSp>
        <p:sp>
          <p:nvSpPr>
            <p:cNvPr id="1634" name="Google Shape;1634;p150"/>
            <p:cNvSpPr txBox="1"/>
            <p:nvPr/>
          </p:nvSpPr>
          <p:spPr>
            <a:xfrm>
              <a:off x="34679" y="2942976"/>
              <a:ext cx="3313003" cy="204724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rgbClr val="000000"/>
                  </a:solidFill>
                  <a:latin typeface="Arial"/>
                  <a:ea typeface="Arial"/>
                  <a:cs typeface="Arial"/>
                  <a:sym typeface="Arial"/>
                </a:rPr>
                <a:t>Lexical</a:t>
              </a:r>
              <a:r>
                <a:rPr b="0" i="0" lang="en-US" sz="18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ROUGE, BLEU, METEOR, etc.</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rgbClr val="000000"/>
                  </a:solidFill>
                  <a:latin typeface="Arial"/>
                  <a:ea typeface="Arial"/>
                  <a:cs typeface="Arial"/>
                  <a:sym typeface="Arial"/>
                </a:rPr>
                <a:t>Semantic</a:t>
              </a:r>
              <a:r>
                <a:rPr b="0" i="0" lang="en-US" sz="18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BERTScore, BARTScore, etc.</a:t>
              </a:r>
              <a:endParaRPr/>
            </a:p>
          </p:txBody>
        </p:sp>
      </p:grpSp>
      <p:sp>
        <p:nvSpPr>
          <p:cNvPr id="1635" name="Google Shape;1635;p150"/>
          <p:cNvSpPr txBox="1"/>
          <p:nvPr/>
        </p:nvSpPr>
        <p:spPr>
          <a:xfrm>
            <a:off x="4594471" y="2395129"/>
            <a:ext cx="3347682" cy="2466341"/>
          </a:xfrm>
          <a:prstGeom prst="rect">
            <a:avLst/>
          </a:prstGeom>
          <a:noFill/>
          <a:ln>
            <a:noFill/>
          </a:ln>
        </p:spPr>
        <p:txBody>
          <a:bodyPr anchorCtr="0" anchor="t" bIns="45700" lIns="45700" spcFirstLastPara="1" rIns="45700"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Rank by human preference on:</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 Sensitivity</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 Specificity</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 Clarity</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 Style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5. Error</a:t>
            </a:r>
            <a:endParaRPr/>
          </a:p>
        </p:txBody>
      </p:sp>
      <p:sp>
        <p:nvSpPr>
          <p:cNvPr id="1636" name="Google Shape;1636;p150"/>
          <p:cNvSpPr txBox="1"/>
          <p:nvPr/>
        </p:nvSpPr>
        <p:spPr>
          <a:xfrm>
            <a:off x="8355479" y="2410098"/>
            <a:ext cx="3182533" cy="2466341"/>
          </a:xfrm>
          <a:prstGeom prst="rect">
            <a:avLst/>
          </a:prstGeom>
          <a:noFill/>
          <a:ln>
            <a:noFill/>
          </a:ln>
        </p:spPr>
        <p:txBody>
          <a:bodyPr anchorCtr="0" anchor="t" bIns="45700" lIns="45700" spcFirstLastPara="1" rIns="45700"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LLM scores summaries on:</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 Sensitivity</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 Specificity</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 Clarity</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 Style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5. Error</a:t>
            </a:r>
            <a:endParaRPr/>
          </a:p>
        </p:txBody>
      </p:sp>
      <p:sp>
        <p:nvSpPr>
          <p:cNvPr id="1637" name="Google Shape;1637;p150"/>
          <p:cNvSpPr txBox="1"/>
          <p:nvPr/>
        </p:nvSpPr>
        <p:spPr>
          <a:xfrm>
            <a:off x="4419412" y="5299033"/>
            <a:ext cx="7109446" cy="847091"/>
          </a:xfrm>
          <a:prstGeom prst="rect">
            <a:avLst/>
          </a:prstGeom>
          <a:noFill/>
          <a:ln cap="flat" cmpd="sng" w="19050">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All together, we can use these approaches for more robust eval and to understand their trade-offs.</a:t>
            </a:r>
            <a:endParaRPr/>
          </a:p>
        </p:txBody>
      </p:sp>
      <p:sp>
        <p:nvSpPr>
          <p:cNvPr id="1638" name="Google Shape;1638;p15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151"/>
          <p:cNvSpPr txBox="1"/>
          <p:nvPr>
            <p:ph type="title"/>
          </p:nvPr>
        </p:nvSpPr>
        <p:spPr>
          <a:xfrm>
            <a:off x="838198" y="365125"/>
            <a:ext cx="10651437"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ChatGPT? </a:t>
            </a:r>
            <a:endParaRPr/>
          </a:p>
        </p:txBody>
      </p:sp>
      <p:sp>
        <p:nvSpPr>
          <p:cNvPr id="1644" name="Google Shape;1644;p15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grpSp>
        <p:nvGrpSpPr>
          <p:cNvPr id="1645" name="Google Shape;1645;p151"/>
          <p:cNvGrpSpPr/>
          <p:nvPr/>
        </p:nvGrpSpPr>
        <p:grpSpPr>
          <a:xfrm>
            <a:off x="354380" y="1889116"/>
            <a:ext cx="5293369" cy="4157665"/>
            <a:chOff x="0" y="0"/>
            <a:chExt cx="5293368" cy="4157664"/>
          </a:xfrm>
        </p:grpSpPr>
        <p:pic>
          <p:nvPicPr>
            <p:cNvPr descr="Picture 3" id="1646" name="Google Shape;1646;p151"/>
            <p:cNvPicPr preferRelativeResize="0"/>
            <p:nvPr/>
          </p:nvPicPr>
          <p:blipFill rotWithShape="1">
            <a:blip r:embed="rId3">
              <a:alphaModFix/>
            </a:blip>
            <a:srcRect b="0" l="33625" r="0" t="0"/>
            <a:stretch/>
          </p:blipFill>
          <p:spPr>
            <a:xfrm>
              <a:off x="1157066" y="0"/>
              <a:ext cx="4136302" cy="2840408"/>
            </a:xfrm>
            <a:prstGeom prst="rect">
              <a:avLst/>
            </a:prstGeom>
            <a:noFill/>
            <a:ln>
              <a:noFill/>
            </a:ln>
          </p:spPr>
        </p:pic>
        <p:pic>
          <p:nvPicPr>
            <p:cNvPr descr="Picture 5" id="1647" name="Google Shape;1647;p151"/>
            <p:cNvPicPr preferRelativeResize="0"/>
            <p:nvPr/>
          </p:nvPicPr>
          <p:blipFill rotWithShape="1">
            <a:blip r:embed="rId4">
              <a:alphaModFix/>
            </a:blip>
            <a:srcRect b="0" l="0" r="0" t="0"/>
            <a:stretch/>
          </p:blipFill>
          <p:spPr>
            <a:xfrm>
              <a:off x="0" y="2840407"/>
              <a:ext cx="5241729" cy="1317257"/>
            </a:xfrm>
            <a:prstGeom prst="rect">
              <a:avLst/>
            </a:prstGeom>
            <a:noFill/>
            <a:ln>
              <a:noFill/>
            </a:ln>
          </p:spPr>
        </p:pic>
        <p:pic>
          <p:nvPicPr>
            <p:cNvPr descr="Graphic 12" id="1648" name="Google Shape;1648;p151"/>
            <p:cNvPicPr preferRelativeResize="0"/>
            <p:nvPr/>
          </p:nvPicPr>
          <p:blipFill rotWithShape="1">
            <a:blip r:embed="rId5">
              <a:alphaModFix/>
            </a:blip>
            <a:srcRect b="0" l="0" r="0" t="0"/>
            <a:stretch/>
          </p:blipFill>
          <p:spPr>
            <a:xfrm>
              <a:off x="1926554" y="3279091"/>
              <a:ext cx="439887" cy="439888"/>
            </a:xfrm>
            <a:prstGeom prst="rect">
              <a:avLst/>
            </a:prstGeom>
            <a:noFill/>
            <a:ln>
              <a:noFill/>
            </a:ln>
          </p:spPr>
        </p:pic>
      </p:grpSp>
      <p:grpSp>
        <p:nvGrpSpPr>
          <p:cNvPr id="1649" name="Google Shape;1649;p151"/>
          <p:cNvGrpSpPr/>
          <p:nvPr/>
        </p:nvGrpSpPr>
        <p:grpSpPr>
          <a:xfrm>
            <a:off x="6202140" y="1889116"/>
            <a:ext cx="5644721" cy="4157665"/>
            <a:chOff x="0" y="0"/>
            <a:chExt cx="5644720" cy="4157664"/>
          </a:xfrm>
        </p:grpSpPr>
        <p:pic>
          <p:nvPicPr>
            <p:cNvPr descr="Picture 3" id="1650" name="Google Shape;1650;p151"/>
            <p:cNvPicPr preferRelativeResize="0"/>
            <p:nvPr/>
          </p:nvPicPr>
          <p:blipFill rotWithShape="1">
            <a:blip r:embed="rId3">
              <a:alphaModFix/>
            </a:blip>
            <a:srcRect b="0" l="33624" r="0" t="0"/>
            <a:stretch/>
          </p:blipFill>
          <p:spPr>
            <a:xfrm>
              <a:off x="1148830" y="0"/>
              <a:ext cx="4495890" cy="3087337"/>
            </a:xfrm>
            <a:prstGeom prst="rect">
              <a:avLst/>
            </a:prstGeom>
            <a:noFill/>
            <a:ln>
              <a:noFill/>
            </a:ln>
          </p:spPr>
        </p:pic>
        <p:pic>
          <p:nvPicPr>
            <p:cNvPr descr="Picture 7" id="1651" name="Google Shape;1651;p151"/>
            <p:cNvPicPr preferRelativeResize="0"/>
            <p:nvPr/>
          </p:nvPicPr>
          <p:blipFill rotWithShape="1">
            <a:blip r:embed="rId6">
              <a:alphaModFix/>
            </a:blip>
            <a:srcRect b="0" l="0" r="0" t="0"/>
            <a:stretch/>
          </p:blipFill>
          <p:spPr>
            <a:xfrm>
              <a:off x="1457551" y="2355575"/>
              <a:ext cx="4072058" cy="686883"/>
            </a:xfrm>
            <a:prstGeom prst="rect">
              <a:avLst/>
            </a:prstGeom>
            <a:noFill/>
            <a:ln>
              <a:noFill/>
            </a:ln>
          </p:spPr>
        </p:pic>
        <p:pic>
          <p:nvPicPr>
            <p:cNvPr descr="Picture 10" id="1652" name="Google Shape;1652;p151"/>
            <p:cNvPicPr preferRelativeResize="0"/>
            <p:nvPr/>
          </p:nvPicPr>
          <p:blipFill rotWithShape="1">
            <a:blip r:embed="rId7">
              <a:alphaModFix/>
            </a:blip>
            <a:srcRect b="0" l="1400" r="1232" t="6466"/>
            <a:stretch/>
          </p:blipFill>
          <p:spPr>
            <a:xfrm>
              <a:off x="0" y="3155514"/>
              <a:ext cx="5478551" cy="1002150"/>
            </a:xfrm>
            <a:prstGeom prst="rect">
              <a:avLst/>
            </a:prstGeom>
            <a:noFill/>
            <a:ln>
              <a:noFill/>
            </a:ln>
          </p:spPr>
        </p:pic>
        <p:pic>
          <p:nvPicPr>
            <p:cNvPr descr="Graphic 12" id="1653" name="Google Shape;1653;p151"/>
            <p:cNvPicPr preferRelativeResize="0"/>
            <p:nvPr/>
          </p:nvPicPr>
          <p:blipFill rotWithShape="1">
            <a:blip r:embed="rId8">
              <a:alphaModFix/>
            </a:blip>
            <a:srcRect b="0" l="0" r="0" t="0"/>
            <a:stretch/>
          </p:blipFill>
          <p:spPr>
            <a:xfrm>
              <a:off x="684316" y="3304638"/>
              <a:ext cx="478129" cy="478129"/>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sp>
        <p:nvSpPr>
          <p:cNvPr id="1658" name="Google Shape;1658;p152"/>
          <p:cNvSpPr txBox="1"/>
          <p:nvPr>
            <p:ph type="title"/>
          </p:nvPr>
        </p:nvSpPr>
        <p:spPr>
          <a:xfrm>
            <a:off x="838200" y="365125"/>
            <a:ext cx="10872945"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Identify and classifying narratives</a:t>
            </a:r>
            <a:endParaRPr/>
          </a:p>
        </p:txBody>
      </p:sp>
      <p:grpSp>
        <p:nvGrpSpPr>
          <p:cNvPr id="1659" name="Google Shape;1659;p152"/>
          <p:cNvGrpSpPr/>
          <p:nvPr/>
        </p:nvGrpSpPr>
        <p:grpSpPr>
          <a:xfrm>
            <a:off x="4090141" y="3797884"/>
            <a:ext cx="1211527" cy="178082"/>
            <a:chOff x="0" y="0"/>
            <a:chExt cx="1211526" cy="178080"/>
          </a:xfrm>
        </p:grpSpPr>
        <p:sp>
          <p:nvSpPr>
            <p:cNvPr id="1660" name="Google Shape;1660;p152"/>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1" name="Google Shape;1661;p152"/>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2" name="Google Shape;1662;p152"/>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63" name="Google Shape;1663;p152"/>
          <p:cNvGrpSpPr/>
          <p:nvPr/>
        </p:nvGrpSpPr>
        <p:grpSpPr>
          <a:xfrm>
            <a:off x="4093631" y="4052284"/>
            <a:ext cx="1211528" cy="178082"/>
            <a:chOff x="0" y="0"/>
            <a:chExt cx="1211526" cy="178080"/>
          </a:xfrm>
        </p:grpSpPr>
        <p:sp>
          <p:nvSpPr>
            <p:cNvPr id="1664" name="Google Shape;1664;p152"/>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5" name="Google Shape;1665;p152"/>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6" name="Google Shape;1666;p152"/>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67" name="Google Shape;1667;p152"/>
          <p:cNvGrpSpPr/>
          <p:nvPr/>
        </p:nvGrpSpPr>
        <p:grpSpPr>
          <a:xfrm>
            <a:off x="4093631" y="5445697"/>
            <a:ext cx="1211528" cy="178082"/>
            <a:chOff x="0" y="0"/>
            <a:chExt cx="1211526" cy="178080"/>
          </a:xfrm>
        </p:grpSpPr>
        <p:sp>
          <p:nvSpPr>
            <p:cNvPr id="1668" name="Google Shape;1668;p152"/>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9" name="Google Shape;1669;p152"/>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0" name="Google Shape;1670;p152"/>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71" name="Google Shape;1671;p152"/>
          <p:cNvGrpSpPr/>
          <p:nvPr/>
        </p:nvGrpSpPr>
        <p:grpSpPr>
          <a:xfrm>
            <a:off x="4093631" y="5698961"/>
            <a:ext cx="1211528" cy="182336"/>
            <a:chOff x="0" y="-1"/>
            <a:chExt cx="1211526" cy="182334"/>
          </a:xfrm>
        </p:grpSpPr>
        <p:sp>
          <p:nvSpPr>
            <p:cNvPr id="1672" name="Google Shape;1672;p152"/>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3" name="Google Shape;1673;p152"/>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4" name="Google Shape;1674;p152"/>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75" name="Google Shape;1675;p152"/>
          <p:cNvGrpSpPr/>
          <p:nvPr/>
        </p:nvGrpSpPr>
        <p:grpSpPr>
          <a:xfrm>
            <a:off x="4084249" y="4307653"/>
            <a:ext cx="1211528" cy="182336"/>
            <a:chOff x="0" y="-1"/>
            <a:chExt cx="1211526" cy="182334"/>
          </a:xfrm>
        </p:grpSpPr>
        <p:sp>
          <p:nvSpPr>
            <p:cNvPr id="1676" name="Google Shape;1676;p152"/>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7" name="Google Shape;1677;p152"/>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8" name="Google Shape;1678;p152"/>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79" name="Google Shape;1679;p152"/>
          <p:cNvGrpSpPr/>
          <p:nvPr/>
        </p:nvGrpSpPr>
        <p:grpSpPr>
          <a:xfrm>
            <a:off x="4089615" y="5189193"/>
            <a:ext cx="1211528" cy="182336"/>
            <a:chOff x="0" y="-1"/>
            <a:chExt cx="1211526" cy="182334"/>
          </a:xfrm>
        </p:grpSpPr>
        <p:sp>
          <p:nvSpPr>
            <p:cNvPr id="1680" name="Google Shape;1680;p152"/>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1" name="Google Shape;1681;p152"/>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2" name="Google Shape;1682;p152"/>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83" name="Google Shape;1683;p152"/>
          <p:cNvGrpSpPr/>
          <p:nvPr/>
        </p:nvGrpSpPr>
        <p:grpSpPr>
          <a:xfrm>
            <a:off x="4098831" y="2256163"/>
            <a:ext cx="1211528" cy="178082"/>
            <a:chOff x="0" y="0"/>
            <a:chExt cx="1211526" cy="178080"/>
          </a:xfrm>
        </p:grpSpPr>
        <p:sp>
          <p:nvSpPr>
            <p:cNvPr id="1684" name="Google Shape;1684;p152"/>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5" name="Google Shape;1685;p152"/>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6" name="Google Shape;1686;p152"/>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87" name="Google Shape;1687;p152"/>
          <p:cNvGrpSpPr/>
          <p:nvPr/>
        </p:nvGrpSpPr>
        <p:grpSpPr>
          <a:xfrm>
            <a:off x="4098831" y="2512264"/>
            <a:ext cx="1211528" cy="178082"/>
            <a:chOff x="0" y="0"/>
            <a:chExt cx="1211526" cy="178080"/>
          </a:xfrm>
        </p:grpSpPr>
        <p:sp>
          <p:nvSpPr>
            <p:cNvPr id="1688" name="Google Shape;1688;p152"/>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9" name="Google Shape;1689;p152"/>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0" name="Google Shape;1690;p152"/>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91" name="Google Shape;1691;p152"/>
          <p:cNvGrpSpPr/>
          <p:nvPr/>
        </p:nvGrpSpPr>
        <p:grpSpPr>
          <a:xfrm>
            <a:off x="4098831" y="3274485"/>
            <a:ext cx="1211528" cy="178082"/>
            <a:chOff x="0" y="0"/>
            <a:chExt cx="1211526" cy="178080"/>
          </a:xfrm>
        </p:grpSpPr>
        <p:sp>
          <p:nvSpPr>
            <p:cNvPr id="1692" name="Google Shape;1692;p152"/>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3" name="Google Shape;1693;p152"/>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4" name="Google Shape;1694;p152"/>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95" name="Google Shape;1695;p152"/>
          <p:cNvGrpSpPr/>
          <p:nvPr/>
        </p:nvGrpSpPr>
        <p:grpSpPr>
          <a:xfrm>
            <a:off x="4098831" y="3527749"/>
            <a:ext cx="1211528" cy="182336"/>
            <a:chOff x="0" y="-1"/>
            <a:chExt cx="1211526" cy="182334"/>
          </a:xfrm>
        </p:grpSpPr>
        <p:sp>
          <p:nvSpPr>
            <p:cNvPr id="1696" name="Google Shape;1696;p152"/>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7" name="Google Shape;1697;p152"/>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8" name="Google Shape;1698;p152"/>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99" name="Google Shape;1699;p152"/>
          <p:cNvGrpSpPr/>
          <p:nvPr/>
        </p:nvGrpSpPr>
        <p:grpSpPr>
          <a:xfrm>
            <a:off x="4089451" y="2767632"/>
            <a:ext cx="1211528" cy="182336"/>
            <a:chOff x="0" y="-1"/>
            <a:chExt cx="1211526" cy="182334"/>
          </a:xfrm>
        </p:grpSpPr>
        <p:sp>
          <p:nvSpPr>
            <p:cNvPr id="1700" name="Google Shape;1700;p152"/>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1" name="Google Shape;1701;p152"/>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2" name="Google Shape;1702;p152"/>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03" name="Google Shape;1703;p152"/>
          <p:cNvGrpSpPr/>
          <p:nvPr/>
        </p:nvGrpSpPr>
        <p:grpSpPr>
          <a:xfrm>
            <a:off x="4094817" y="3017981"/>
            <a:ext cx="1211528" cy="182336"/>
            <a:chOff x="0" y="-1"/>
            <a:chExt cx="1211526" cy="182334"/>
          </a:xfrm>
        </p:grpSpPr>
        <p:sp>
          <p:nvSpPr>
            <p:cNvPr id="1704" name="Google Shape;1704;p152"/>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5" name="Google Shape;1705;p152"/>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6" name="Google Shape;1706;p152"/>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07" name="Google Shape;1707;p15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
        <p:nvSpPr>
          <p:cNvPr id="1708" name="Google Shape;1708;p152"/>
          <p:cNvSpPr txBox="1"/>
          <p:nvPr/>
        </p:nvSpPr>
        <p:spPr>
          <a:xfrm rot="5400000">
            <a:off x="4361585" y="4782912"/>
            <a:ext cx="894054" cy="574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747474"/>
              </a:buClr>
              <a:buSzPts val="3200"/>
              <a:buFont typeface="Arial"/>
              <a:buNone/>
            </a:pPr>
            <a:r>
              <a:rPr b="0" i="0" lang="en-US" sz="3200" u="none" cap="none" strike="noStrike">
                <a:solidFill>
                  <a:srgbClr val="747474"/>
                </a:solidFill>
                <a:latin typeface="Arial"/>
                <a:ea typeface="Arial"/>
                <a:cs typeface="Arial"/>
                <a:sym typeface="Arial"/>
              </a:rPr>
              <a:t>…</a:t>
            </a:r>
            <a:endParaRPr/>
          </a:p>
        </p:txBody>
      </p:sp>
      <p:pic>
        <p:nvPicPr>
          <p:cNvPr descr="Picture 2" id="1709" name="Google Shape;1709;p152"/>
          <p:cNvPicPr preferRelativeResize="0"/>
          <p:nvPr/>
        </p:nvPicPr>
        <p:blipFill rotWithShape="1">
          <a:blip r:embed="rId3">
            <a:alphaModFix/>
          </a:blip>
          <a:srcRect b="0" l="0" r="0" t="0"/>
          <a:stretch/>
        </p:blipFill>
        <p:spPr>
          <a:xfrm>
            <a:off x="246489" y="2413680"/>
            <a:ext cx="1325564" cy="1325564"/>
          </a:xfrm>
          <a:prstGeom prst="rect">
            <a:avLst/>
          </a:prstGeom>
          <a:noFill/>
          <a:ln>
            <a:noFill/>
          </a:ln>
        </p:spPr>
      </p:pic>
      <p:pic>
        <p:nvPicPr>
          <p:cNvPr descr="Picture 2" id="1710" name="Google Shape;1710;p152"/>
          <p:cNvPicPr preferRelativeResize="0"/>
          <p:nvPr/>
        </p:nvPicPr>
        <p:blipFill rotWithShape="1">
          <a:blip r:embed="rId3">
            <a:alphaModFix/>
          </a:blip>
          <a:srcRect b="0" l="0" r="0" t="0"/>
          <a:stretch/>
        </p:blipFill>
        <p:spPr>
          <a:xfrm>
            <a:off x="1426909" y="3846967"/>
            <a:ext cx="1325564" cy="1325564"/>
          </a:xfrm>
          <a:prstGeom prst="rect">
            <a:avLst/>
          </a:prstGeom>
          <a:noFill/>
          <a:ln>
            <a:noFill/>
          </a:ln>
        </p:spPr>
      </p:pic>
      <p:pic>
        <p:nvPicPr>
          <p:cNvPr descr="Picture 2" id="1711" name="Google Shape;1711;p152"/>
          <p:cNvPicPr preferRelativeResize="0"/>
          <p:nvPr/>
        </p:nvPicPr>
        <p:blipFill rotWithShape="1">
          <a:blip r:embed="rId3">
            <a:alphaModFix/>
          </a:blip>
          <a:srcRect b="0" l="0" r="0" t="0"/>
          <a:stretch/>
        </p:blipFill>
        <p:spPr>
          <a:xfrm>
            <a:off x="246489" y="3846967"/>
            <a:ext cx="1325564" cy="1325564"/>
          </a:xfrm>
          <a:prstGeom prst="rect">
            <a:avLst/>
          </a:prstGeom>
          <a:noFill/>
          <a:ln>
            <a:noFill/>
          </a:ln>
        </p:spPr>
      </p:pic>
      <p:pic>
        <p:nvPicPr>
          <p:cNvPr descr="Picture 2" id="1712" name="Google Shape;1712;p152"/>
          <p:cNvPicPr preferRelativeResize="0"/>
          <p:nvPr/>
        </p:nvPicPr>
        <p:blipFill rotWithShape="1">
          <a:blip r:embed="rId3">
            <a:alphaModFix/>
          </a:blip>
          <a:srcRect b="0" l="0" r="0" t="0"/>
          <a:stretch/>
        </p:blipFill>
        <p:spPr>
          <a:xfrm>
            <a:off x="1416399" y="2413679"/>
            <a:ext cx="1325563" cy="1325564"/>
          </a:xfrm>
          <a:prstGeom prst="rect">
            <a:avLst/>
          </a:prstGeom>
          <a:noFill/>
          <a:ln>
            <a:noFill/>
          </a:ln>
        </p:spPr>
      </p:pic>
      <p:sp>
        <p:nvSpPr>
          <p:cNvPr id="1713" name="Google Shape;1713;p152"/>
          <p:cNvSpPr/>
          <p:nvPr/>
        </p:nvSpPr>
        <p:spPr>
          <a:xfrm>
            <a:off x="2986945" y="3366430"/>
            <a:ext cx="810329" cy="620487"/>
          </a:xfrm>
          <a:prstGeom prst="rightArrow">
            <a:avLst>
              <a:gd fmla="val 50000" name="adj1"/>
              <a:gd fmla="val 50000" name="adj2"/>
            </a:avLst>
          </a:prstGeom>
          <a:noFill/>
          <a:ln cap="flat" cmpd="sng" w="3810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4" name="Google Shape;1714;p152"/>
          <p:cNvSpPr txBox="1"/>
          <p:nvPr/>
        </p:nvSpPr>
        <p:spPr>
          <a:xfrm>
            <a:off x="883919" y="1990486"/>
            <a:ext cx="1344969"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1923 - 2025</a:t>
            </a:r>
            <a:endParaRPr/>
          </a:p>
        </p:txBody>
      </p:sp>
      <p:sp>
        <p:nvSpPr>
          <p:cNvPr id="1715" name="Google Shape;1715;p152"/>
          <p:cNvSpPr txBox="1"/>
          <p:nvPr>
            <p:ph idx="1" type="body"/>
          </p:nvPr>
        </p:nvSpPr>
        <p:spPr>
          <a:xfrm>
            <a:off x="5807202" y="1825625"/>
            <a:ext cx="5753427" cy="4351338"/>
          </a:xfrm>
          <a:prstGeom prst="rect">
            <a:avLst/>
          </a:prstGeom>
          <a:noFill/>
          <a:ln>
            <a:noFill/>
          </a:ln>
        </p:spPr>
        <p:txBody>
          <a:bodyPr anchorCtr="0" anchor="t" bIns="45700" lIns="45700" spcFirstLastPara="1" rIns="45700" wrap="square" tIns="45700">
            <a:normAutofit/>
          </a:bodyPr>
          <a:lstStyle/>
          <a:p>
            <a:pPr indent="-221742" lvl="0" marL="221742" rtl="0" algn="l">
              <a:lnSpc>
                <a:spcPct val="81000"/>
              </a:lnSpc>
              <a:spcBef>
                <a:spcPts val="0"/>
              </a:spcBef>
              <a:spcAft>
                <a:spcPts val="0"/>
              </a:spcAft>
              <a:buClr>
                <a:srgbClr val="000000"/>
              </a:buClr>
              <a:buSzPts val="2716"/>
              <a:buChar char="•"/>
            </a:pPr>
            <a:r>
              <a:rPr b="1" lang="en-US" sz="2716"/>
              <a:t>Option 1</a:t>
            </a:r>
            <a:r>
              <a:rPr b="0" lang="en-US"/>
              <a:t>: “Discover” narratives from the data itself</a:t>
            </a:r>
            <a:endParaRPr/>
          </a:p>
          <a:p>
            <a:pPr indent="-221742" lvl="1" marL="665226" rtl="0" algn="l">
              <a:lnSpc>
                <a:spcPct val="81000"/>
              </a:lnSpc>
              <a:spcBef>
                <a:spcPts val="400"/>
              </a:spcBef>
              <a:spcAft>
                <a:spcPts val="0"/>
              </a:spcAft>
              <a:buClr>
                <a:srgbClr val="000000"/>
              </a:buClr>
              <a:buSzPts val="2328"/>
              <a:buChar char="•"/>
            </a:pPr>
            <a:r>
              <a:rPr lang="en-US" sz="2328"/>
              <a:t>Generalizable, might be surprised</a:t>
            </a:r>
            <a:endParaRPr/>
          </a:p>
          <a:p>
            <a:pPr indent="-221742" lvl="1" marL="665226" rtl="0" algn="l">
              <a:lnSpc>
                <a:spcPct val="81000"/>
              </a:lnSpc>
              <a:spcBef>
                <a:spcPts val="400"/>
              </a:spcBef>
              <a:spcAft>
                <a:spcPts val="0"/>
              </a:spcAft>
              <a:buClr>
                <a:srgbClr val="000000"/>
              </a:buClr>
              <a:buSzPts val="2328"/>
              <a:buChar char="•"/>
            </a:pPr>
            <a:r>
              <a:rPr lang="en-US" sz="2328"/>
              <a:t>Noisy, hard to optimize</a:t>
            </a:r>
            <a:endParaRPr/>
          </a:p>
          <a:p>
            <a:pPr indent="-221742" lvl="1" marL="665226" rtl="0" algn="l">
              <a:lnSpc>
                <a:spcPct val="81000"/>
              </a:lnSpc>
              <a:spcBef>
                <a:spcPts val="400"/>
              </a:spcBef>
              <a:spcAft>
                <a:spcPts val="0"/>
              </a:spcAft>
              <a:buClr>
                <a:srgbClr val="000000"/>
              </a:buClr>
              <a:buSzPts val="2328"/>
              <a:buChar char="•"/>
            </a:pPr>
            <a:r>
              <a:rPr lang="en-US" sz="2328"/>
              <a:t>[Ash et al. 2022]</a:t>
            </a:r>
            <a:endParaRPr/>
          </a:p>
          <a:p>
            <a:pPr indent="-221742" lvl="0" marL="221742" rtl="0" algn="l">
              <a:lnSpc>
                <a:spcPct val="81000"/>
              </a:lnSpc>
              <a:spcBef>
                <a:spcPts val="900"/>
              </a:spcBef>
              <a:spcAft>
                <a:spcPts val="0"/>
              </a:spcAft>
              <a:buClr>
                <a:srgbClr val="000000"/>
              </a:buClr>
              <a:buSzPts val="2716"/>
              <a:buChar char="•"/>
            </a:pPr>
            <a:r>
              <a:rPr b="1" lang="en-US" sz="2716"/>
              <a:t>Option 2</a:t>
            </a:r>
            <a:r>
              <a:rPr b="0" lang="en-US"/>
              <a:t>: Define important narratives and find them in the data</a:t>
            </a:r>
            <a:endParaRPr/>
          </a:p>
          <a:p>
            <a:pPr indent="-221742" lvl="1" marL="665226" rtl="0" algn="l">
              <a:lnSpc>
                <a:spcPct val="81000"/>
              </a:lnSpc>
              <a:spcBef>
                <a:spcPts val="400"/>
              </a:spcBef>
              <a:spcAft>
                <a:spcPts val="0"/>
              </a:spcAft>
              <a:buClr>
                <a:srgbClr val="000000"/>
              </a:buClr>
              <a:buSzPts val="2328"/>
              <a:buChar char="•"/>
            </a:pPr>
            <a:r>
              <a:rPr lang="en-US" sz="2328"/>
              <a:t>Prioritize motivating question</a:t>
            </a:r>
            <a:endParaRPr/>
          </a:p>
          <a:p>
            <a:pPr indent="-221742" lvl="1" marL="665226" rtl="0" algn="l">
              <a:lnSpc>
                <a:spcPct val="81000"/>
              </a:lnSpc>
              <a:spcBef>
                <a:spcPts val="400"/>
              </a:spcBef>
              <a:spcAft>
                <a:spcPts val="0"/>
              </a:spcAft>
              <a:buClr>
                <a:srgbClr val="000000"/>
              </a:buClr>
              <a:buSzPts val="2328"/>
              <a:buChar char="•"/>
            </a:pPr>
            <a:r>
              <a:rPr lang="en-US" sz="2328"/>
              <a:t>Easily interpretable</a:t>
            </a:r>
            <a:endParaRPr/>
          </a:p>
          <a:p>
            <a:pPr indent="-221742" lvl="1" marL="665226" rtl="0" algn="l">
              <a:lnSpc>
                <a:spcPct val="81000"/>
              </a:lnSpc>
              <a:spcBef>
                <a:spcPts val="400"/>
              </a:spcBef>
              <a:spcAft>
                <a:spcPts val="0"/>
              </a:spcAft>
              <a:buClr>
                <a:srgbClr val="000000"/>
              </a:buClr>
              <a:buSzPts val="2328"/>
              <a:buChar char="•"/>
            </a:pPr>
            <a:r>
              <a:rPr lang="en-US" sz="2328"/>
              <a:t>Stronger signal</a:t>
            </a:r>
            <a:endParaRPr/>
          </a:p>
          <a:p>
            <a:pPr indent="-221742" lvl="1" marL="665226" rtl="0" algn="l">
              <a:lnSpc>
                <a:spcPct val="81000"/>
              </a:lnSpc>
              <a:spcBef>
                <a:spcPts val="400"/>
              </a:spcBef>
              <a:spcAft>
                <a:spcPts val="0"/>
              </a:spcAft>
              <a:buClr>
                <a:srgbClr val="000000"/>
              </a:buClr>
              <a:buSzPts val="2328"/>
              <a:buChar char="•"/>
            </a:pPr>
            <a:r>
              <a:rPr lang="en-US" sz="2328"/>
              <a:t>Higher up-front cost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sp>
        <p:nvSpPr>
          <p:cNvPr id="1720" name="Google Shape;1720;p153"/>
          <p:cNvSpPr txBox="1"/>
          <p:nvPr>
            <p:ph type="title"/>
          </p:nvPr>
        </p:nvSpPr>
        <p:spPr>
          <a:xfrm>
            <a:off x="838200" y="365125"/>
            <a:ext cx="10872945"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Identify and classifying narratives</a:t>
            </a:r>
            <a:endParaRPr/>
          </a:p>
        </p:txBody>
      </p:sp>
      <p:grpSp>
        <p:nvGrpSpPr>
          <p:cNvPr id="1721" name="Google Shape;1721;p153"/>
          <p:cNvGrpSpPr/>
          <p:nvPr/>
        </p:nvGrpSpPr>
        <p:grpSpPr>
          <a:xfrm>
            <a:off x="4090141" y="3797884"/>
            <a:ext cx="1211527" cy="178082"/>
            <a:chOff x="0" y="0"/>
            <a:chExt cx="1211526" cy="178080"/>
          </a:xfrm>
        </p:grpSpPr>
        <p:sp>
          <p:nvSpPr>
            <p:cNvPr id="1722" name="Google Shape;1722;p153"/>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3" name="Google Shape;1723;p153"/>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4" name="Google Shape;1724;p153"/>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25" name="Google Shape;1725;p153"/>
          <p:cNvGrpSpPr/>
          <p:nvPr/>
        </p:nvGrpSpPr>
        <p:grpSpPr>
          <a:xfrm>
            <a:off x="4093631" y="4052284"/>
            <a:ext cx="1211528" cy="178082"/>
            <a:chOff x="0" y="0"/>
            <a:chExt cx="1211526" cy="178080"/>
          </a:xfrm>
        </p:grpSpPr>
        <p:sp>
          <p:nvSpPr>
            <p:cNvPr id="1726" name="Google Shape;1726;p153"/>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7" name="Google Shape;1727;p153"/>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8" name="Google Shape;1728;p153"/>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29" name="Google Shape;1729;p153"/>
          <p:cNvGrpSpPr/>
          <p:nvPr/>
        </p:nvGrpSpPr>
        <p:grpSpPr>
          <a:xfrm>
            <a:off x="4093631" y="5445697"/>
            <a:ext cx="1211528" cy="178082"/>
            <a:chOff x="0" y="0"/>
            <a:chExt cx="1211526" cy="178080"/>
          </a:xfrm>
        </p:grpSpPr>
        <p:sp>
          <p:nvSpPr>
            <p:cNvPr id="1730" name="Google Shape;1730;p153"/>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1" name="Google Shape;1731;p153"/>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2" name="Google Shape;1732;p153"/>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33" name="Google Shape;1733;p153"/>
          <p:cNvGrpSpPr/>
          <p:nvPr/>
        </p:nvGrpSpPr>
        <p:grpSpPr>
          <a:xfrm>
            <a:off x="4093631" y="5698961"/>
            <a:ext cx="1211528" cy="182336"/>
            <a:chOff x="0" y="-1"/>
            <a:chExt cx="1211526" cy="182334"/>
          </a:xfrm>
        </p:grpSpPr>
        <p:sp>
          <p:nvSpPr>
            <p:cNvPr id="1734" name="Google Shape;1734;p153"/>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5" name="Google Shape;1735;p153"/>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6" name="Google Shape;1736;p153"/>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37" name="Google Shape;1737;p153"/>
          <p:cNvGrpSpPr/>
          <p:nvPr/>
        </p:nvGrpSpPr>
        <p:grpSpPr>
          <a:xfrm>
            <a:off x="4084249" y="4307653"/>
            <a:ext cx="1211528" cy="182336"/>
            <a:chOff x="0" y="-1"/>
            <a:chExt cx="1211526" cy="182334"/>
          </a:xfrm>
        </p:grpSpPr>
        <p:sp>
          <p:nvSpPr>
            <p:cNvPr id="1738" name="Google Shape;1738;p153"/>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9" name="Google Shape;1739;p153"/>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0" name="Google Shape;1740;p153"/>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41" name="Google Shape;1741;p153"/>
          <p:cNvGrpSpPr/>
          <p:nvPr/>
        </p:nvGrpSpPr>
        <p:grpSpPr>
          <a:xfrm>
            <a:off x="4089615" y="5189193"/>
            <a:ext cx="1211528" cy="182336"/>
            <a:chOff x="0" y="-1"/>
            <a:chExt cx="1211526" cy="182334"/>
          </a:xfrm>
        </p:grpSpPr>
        <p:sp>
          <p:nvSpPr>
            <p:cNvPr id="1742" name="Google Shape;1742;p153"/>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3" name="Google Shape;1743;p153"/>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4" name="Google Shape;1744;p153"/>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45" name="Google Shape;1745;p153"/>
          <p:cNvGrpSpPr/>
          <p:nvPr/>
        </p:nvGrpSpPr>
        <p:grpSpPr>
          <a:xfrm>
            <a:off x="4098831" y="2256163"/>
            <a:ext cx="1211528" cy="178082"/>
            <a:chOff x="0" y="0"/>
            <a:chExt cx="1211526" cy="178080"/>
          </a:xfrm>
        </p:grpSpPr>
        <p:sp>
          <p:nvSpPr>
            <p:cNvPr id="1746" name="Google Shape;1746;p153"/>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7" name="Google Shape;1747;p153"/>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8" name="Google Shape;1748;p153"/>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49" name="Google Shape;1749;p153"/>
          <p:cNvGrpSpPr/>
          <p:nvPr/>
        </p:nvGrpSpPr>
        <p:grpSpPr>
          <a:xfrm>
            <a:off x="4098831" y="2512264"/>
            <a:ext cx="1211528" cy="178082"/>
            <a:chOff x="0" y="0"/>
            <a:chExt cx="1211526" cy="178080"/>
          </a:xfrm>
        </p:grpSpPr>
        <p:sp>
          <p:nvSpPr>
            <p:cNvPr id="1750" name="Google Shape;1750;p153"/>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1" name="Google Shape;1751;p153"/>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2" name="Google Shape;1752;p153"/>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53" name="Google Shape;1753;p153"/>
          <p:cNvGrpSpPr/>
          <p:nvPr/>
        </p:nvGrpSpPr>
        <p:grpSpPr>
          <a:xfrm>
            <a:off x="4098831" y="3274485"/>
            <a:ext cx="1211528" cy="178082"/>
            <a:chOff x="0" y="0"/>
            <a:chExt cx="1211526" cy="178080"/>
          </a:xfrm>
        </p:grpSpPr>
        <p:sp>
          <p:nvSpPr>
            <p:cNvPr id="1754" name="Google Shape;1754;p153"/>
            <p:cNvSpPr/>
            <p:nvPr/>
          </p:nvSpPr>
          <p:spPr>
            <a:xfrm>
              <a:off x="0" y="0"/>
              <a:ext cx="478702" cy="178080"/>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5" name="Google Shape;1755;p153"/>
            <p:cNvSpPr/>
            <p:nvPr/>
          </p:nvSpPr>
          <p:spPr>
            <a:xfrm rot="-5400000">
              <a:off x="561237" y="14093"/>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6" name="Google Shape;1756;p153"/>
            <p:cNvSpPr/>
            <p:nvPr/>
          </p:nvSpPr>
          <p:spPr>
            <a:xfrm>
              <a:off x="732823" y="0"/>
              <a:ext cx="478703" cy="178080"/>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57" name="Google Shape;1757;p153"/>
          <p:cNvGrpSpPr/>
          <p:nvPr/>
        </p:nvGrpSpPr>
        <p:grpSpPr>
          <a:xfrm>
            <a:off x="4098831" y="3527749"/>
            <a:ext cx="1211528" cy="182336"/>
            <a:chOff x="0" y="-1"/>
            <a:chExt cx="1211526" cy="182334"/>
          </a:xfrm>
        </p:grpSpPr>
        <p:sp>
          <p:nvSpPr>
            <p:cNvPr id="1758" name="Google Shape;1758;p153"/>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9" name="Google Shape;1759;p153"/>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0" name="Google Shape;1760;p153"/>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61" name="Google Shape;1761;p153"/>
          <p:cNvGrpSpPr/>
          <p:nvPr/>
        </p:nvGrpSpPr>
        <p:grpSpPr>
          <a:xfrm>
            <a:off x="4089451" y="2767632"/>
            <a:ext cx="1211528" cy="182336"/>
            <a:chOff x="0" y="-1"/>
            <a:chExt cx="1211526" cy="182334"/>
          </a:xfrm>
        </p:grpSpPr>
        <p:sp>
          <p:nvSpPr>
            <p:cNvPr id="1762" name="Google Shape;1762;p153"/>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3" name="Google Shape;1763;p153"/>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4" name="Google Shape;1764;p153"/>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65" name="Google Shape;1765;p153"/>
          <p:cNvGrpSpPr/>
          <p:nvPr/>
        </p:nvGrpSpPr>
        <p:grpSpPr>
          <a:xfrm>
            <a:off x="4094817" y="3017981"/>
            <a:ext cx="1211528" cy="182336"/>
            <a:chOff x="0" y="-1"/>
            <a:chExt cx="1211526" cy="182334"/>
          </a:xfrm>
        </p:grpSpPr>
        <p:sp>
          <p:nvSpPr>
            <p:cNvPr id="1766" name="Google Shape;1766;p153"/>
            <p:cNvSpPr/>
            <p:nvPr/>
          </p:nvSpPr>
          <p:spPr>
            <a:xfrm>
              <a:off x="732823" y="-1"/>
              <a:ext cx="478703" cy="178081"/>
            </a:xfrm>
            <a:prstGeom prst="roundRect">
              <a:avLst>
                <a:gd fmla="val 5991" name="adj"/>
              </a:avLst>
            </a:prstGeom>
            <a:solidFill>
              <a:srgbClr val="B4E5A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7" name="Google Shape;1767;p153"/>
            <p:cNvSpPr/>
            <p:nvPr/>
          </p:nvSpPr>
          <p:spPr>
            <a:xfrm rot="-5400000">
              <a:off x="561237" y="16928"/>
              <a:ext cx="70289" cy="165616"/>
            </a:xfrm>
            <a:custGeom>
              <a:rect b="b" l="l" r="r" t="t"/>
              <a:pathLst>
                <a:path extrusionOk="0" h="21600" w="21600">
                  <a:moveTo>
                    <a:pt x="0" y="15362"/>
                  </a:moveTo>
                  <a:lnTo>
                    <a:pt x="8902" y="15362"/>
                  </a:lnTo>
                  <a:lnTo>
                    <a:pt x="8902" y="0"/>
                  </a:lnTo>
                  <a:lnTo>
                    <a:pt x="12698" y="0"/>
                  </a:lnTo>
                  <a:lnTo>
                    <a:pt x="12698" y="15362"/>
                  </a:lnTo>
                  <a:lnTo>
                    <a:pt x="21600" y="15362"/>
                  </a:lnTo>
                  <a:lnTo>
                    <a:pt x="10800" y="21600"/>
                  </a:lnTo>
                  <a:close/>
                </a:path>
              </a:pathLst>
            </a:custGeom>
            <a:solidFill>
              <a:srgbClr val="747474"/>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8" name="Google Shape;1768;p153"/>
            <p:cNvSpPr/>
            <p:nvPr/>
          </p:nvSpPr>
          <p:spPr>
            <a:xfrm>
              <a:off x="0" y="4252"/>
              <a:ext cx="478702" cy="178081"/>
            </a:xfrm>
            <a:prstGeom prst="roundRect">
              <a:avLst>
                <a:gd fmla="val 5991" name="adj"/>
              </a:avLst>
            </a:prstGeom>
            <a:solidFill>
              <a:srgbClr val="FFEDA7"/>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69" name="Google Shape;1769;p15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
        <p:nvSpPr>
          <p:cNvPr id="1770" name="Google Shape;1770;p153"/>
          <p:cNvSpPr txBox="1"/>
          <p:nvPr/>
        </p:nvSpPr>
        <p:spPr>
          <a:xfrm rot="5400000">
            <a:off x="4361585" y="4782912"/>
            <a:ext cx="894054" cy="574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747474"/>
              </a:buClr>
              <a:buSzPts val="3200"/>
              <a:buFont typeface="Arial"/>
              <a:buNone/>
            </a:pPr>
            <a:r>
              <a:rPr b="0" i="0" lang="en-US" sz="3200" u="none" cap="none" strike="noStrike">
                <a:solidFill>
                  <a:srgbClr val="747474"/>
                </a:solidFill>
                <a:latin typeface="Arial"/>
                <a:ea typeface="Arial"/>
                <a:cs typeface="Arial"/>
                <a:sym typeface="Arial"/>
              </a:rPr>
              <a:t>…</a:t>
            </a:r>
            <a:endParaRPr/>
          </a:p>
        </p:txBody>
      </p:sp>
      <p:pic>
        <p:nvPicPr>
          <p:cNvPr descr="Picture 2" id="1771" name="Google Shape;1771;p153"/>
          <p:cNvPicPr preferRelativeResize="0"/>
          <p:nvPr/>
        </p:nvPicPr>
        <p:blipFill rotWithShape="1">
          <a:blip r:embed="rId3">
            <a:alphaModFix/>
          </a:blip>
          <a:srcRect b="0" l="0" r="0" t="0"/>
          <a:stretch/>
        </p:blipFill>
        <p:spPr>
          <a:xfrm>
            <a:off x="246489" y="2413680"/>
            <a:ext cx="1325564" cy="1325564"/>
          </a:xfrm>
          <a:prstGeom prst="rect">
            <a:avLst/>
          </a:prstGeom>
          <a:noFill/>
          <a:ln>
            <a:noFill/>
          </a:ln>
        </p:spPr>
      </p:pic>
      <p:pic>
        <p:nvPicPr>
          <p:cNvPr descr="Picture 2" id="1772" name="Google Shape;1772;p153"/>
          <p:cNvPicPr preferRelativeResize="0"/>
          <p:nvPr/>
        </p:nvPicPr>
        <p:blipFill rotWithShape="1">
          <a:blip r:embed="rId3">
            <a:alphaModFix/>
          </a:blip>
          <a:srcRect b="0" l="0" r="0" t="0"/>
          <a:stretch/>
        </p:blipFill>
        <p:spPr>
          <a:xfrm>
            <a:off x="1426909" y="3846967"/>
            <a:ext cx="1325564" cy="1325564"/>
          </a:xfrm>
          <a:prstGeom prst="rect">
            <a:avLst/>
          </a:prstGeom>
          <a:noFill/>
          <a:ln>
            <a:noFill/>
          </a:ln>
        </p:spPr>
      </p:pic>
      <p:pic>
        <p:nvPicPr>
          <p:cNvPr descr="Picture 2" id="1773" name="Google Shape;1773;p153"/>
          <p:cNvPicPr preferRelativeResize="0"/>
          <p:nvPr/>
        </p:nvPicPr>
        <p:blipFill rotWithShape="1">
          <a:blip r:embed="rId3">
            <a:alphaModFix/>
          </a:blip>
          <a:srcRect b="0" l="0" r="0" t="0"/>
          <a:stretch/>
        </p:blipFill>
        <p:spPr>
          <a:xfrm>
            <a:off x="246489" y="3846967"/>
            <a:ext cx="1325564" cy="1325564"/>
          </a:xfrm>
          <a:prstGeom prst="rect">
            <a:avLst/>
          </a:prstGeom>
          <a:noFill/>
          <a:ln>
            <a:noFill/>
          </a:ln>
        </p:spPr>
      </p:pic>
      <p:pic>
        <p:nvPicPr>
          <p:cNvPr descr="Picture 2" id="1774" name="Google Shape;1774;p153"/>
          <p:cNvPicPr preferRelativeResize="0"/>
          <p:nvPr/>
        </p:nvPicPr>
        <p:blipFill rotWithShape="1">
          <a:blip r:embed="rId3">
            <a:alphaModFix/>
          </a:blip>
          <a:srcRect b="0" l="0" r="0" t="0"/>
          <a:stretch/>
        </p:blipFill>
        <p:spPr>
          <a:xfrm>
            <a:off x="1416399" y="2413679"/>
            <a:ext cx="1325563" cy="1325564"/>
          </a:xfrm>
          <a:prstGeom prst="rect">
            <a:avLst/>
          </a:prstGeom>
          <a:noFill/>
          <a:ln>
            <a:noFill/>
          </a:ln>
        </p:spPr>
      </p:pic>
      <p:sp>
        <p:nvSpPr>
          <p:cNvPr id="1775" name="Google Shape;1775;p153"/>
          <p:cNvSpPr/>
          <p:nvPr/>
        </p:nvSpPr>
        <p:spPr>
          <a:xfrm>
            <a:off x="2986945" y="3366430"/>
            <a:ext cx="810329" cy="620487"/>
          </a:xfrm>
          <a:prstGeom prst="rightArrow">
            <a:avLst>
              <a:gd fmla="val 50000" name="adj1"/>
              <a:gd fmla="val 50000" name="adj2"/>
            </a:avLst>
          </a:prstGeom>
          <a:noFill/>
          <a:ln cap="flat" cmpd="sng" w="3810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6" name="Google Shape;1776;p153"/>
          <p:cNvSpPr txBox="1"/>
          <p:nvPr/>
        </p:nvSpPr>
        <p:spPr>
          <a:xfrm>
            <a:off x="883919" y="1990486"/>
            <a:ext cx="1344969" cy="3708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1923 - 2025</a:t>
            </a:r>
            <a:endParaRPr/>
          </a:p>
        </p:txBody>
      </p:sp>
      <p:sp>
        <p:nvSpPr>
          <p:cNvPr id="1777" name="Google Shape;1777;p153"/>
          <p:cNvSpPr txBox="1"/>
          <p:nvPr>
            <p:ph idx="1" type="body"/>
          </p:nvPr>
        </p:nvSpPr>
        <p:spPr>
          <a:xfrm>
            <a:off x="5807202" y="1825625"/>
            <a:ext cx="5753427"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81000"/>
              </a:lnSpc>
              <a:spcBef>
                <a:spcPts val="0"/>
              </a:spcBef>
              <a:spcAft>
                <a:spcPts val="0"/>
              </a:spcAft>
              <a:buClr>
                <a:srgbClr val="BEBEBE"/>
              </a:buClr>
              <a:buSzPts val="2800"/>
              <a:buChar char="•"/>
            </a:pPr>
            <a:r>
              <a:rPr b="1" lang="en-US">
                <a:solidFill>
                  <a:srgbClr val="BEBEBE"/>
                </a:solidFill>
              </a:rPr>
              <a:t>Option 1</a:t>
            </a:r>
            <a:r>
              <a:rPr b="0" lang="en-US"/>
              <a:t>: “Discover” narratives from the data itself</a:t>
            </a:r>
            <a:endParaRPr/>
          </a:p>
          <a:p>
            <a:pPr indent="-228600" lvl="1" marL="685800" rtl="0" algn="l">
              <a:lnSpc>
                <a:spcPct val="81000"/>
              </a:lnSpc>
              <a:spcBef>
                <a:spcPts val="500"/>
              </a:spcBef>
              <a:spcAft>
                <a:spcPts val="0"/>
              </a:spcAft>
              <a:buClr>
                <a:srgbClr val="BEBEBE"/>
              </a:buClr>
              <a:buSzPts val="2400"/>
              <a:buChar char="•"/>
            </a:pPr>
            <a:r>
              <a:rPr lang="en-US" sz="2400">
                <a:solidFill>
                  <a:srgbClr val="BEBEBE"/>
                </a:solidFill>
              </a:rPr>
              <a:t>Generalizable, might be surprised</a:t>
            </a:r>
            <a:endParaRPr/>
          </a:p>
          <a:p>
            <a:pPr indent="-228600" lvl="1" marL="685800" rtl="0" algn="l">
              <a:lnSpc>
                <a:spcPct val="81000"/>
              </a:lnSpc>
              <a:spcBef>
                <a:spcPts val="500"/>
              </a:spcBef>
              <a:spcAft>
                <a:spcPts val="0"/>
              </a:spcAft>
              <a:buClr>
                <a:srgbClr val="BEBEBE"/>
              </a:buClr>
              <a:buSzPts val="2400"/>
              <a:buChar char="•"/>
            </a:pPr>
            <a:r>
              <a:rPr lang="en-US" sz="2400">
                <a:solidFill>
                  <a:srgbClr val="BEBEBE"/>
                </a:solidFill>
              </a:rPr>
              <a:t>Noisy, hard to optimize</a:t>
            </a:r>
            <a:endParaRPr/>
          </a:p>
          <a:p>
            <a:pPr indent="-228600" lvl="0" marL="228600" rtl="0" algn="l">
              <a:lnSpc>
                <a:spcPct val="81000"/>
              </a:lnSpc>
              <a:spcBef>
                <a:spcPts val="1000"/>
              </a:spcBef>
              <a:spcAft>
                <a:spcPts val="0"/>
              </a:spcAft>
              <a:buClr>
                <a:srgbClr val="000000"/>
              </a:buClr>
              <a:buSzPts val="2800"/>
              <a:buChar char="•"/>
            </a:pPr>
            <a:r>
              <a:rPr b="1" lang="en-US"/>
              <a:t>Option 2</a:t>
            </a:r>
            <a:r>
              <a:rPr b="0" lang="en-US"/>
              <a:t>: Define important narratives and find them in the data</a:t>
            </a:r>
            <a:endParaRPr/>
          </a:p>
          <a:p>
            <a:pPr indent="-228600" lvl="1" marL="685800" rtl="0" algn="l">
              <a:lnSpc>
                <a:spcPct val="81000"/>
              </a:lnSpc>
              <a:spcBef>
                <a:spcPts val="500"/>
              </a:spcBef>
              <a:spcAft>
                <a:spcPts val="0"/>
              </a:spcAft>
              <a:buClr>
                <a:srgbClr val="000000"/>
              </a:buClr>
              <a:buSzPts val="2400"/>
              <a:buChar char="•"/>
            </a:pPr>
            <a:r>
              <a:rPr lang="en-US" sz="2400"/>
              <a:t>Prioritize motivating question</a:t>
            </a:r>
            <a:endParaRPr/>
          </a:p>
          <a:p>
            <a:pPr indent="-228600" lvl="1" marL="685800" rtl="0" algn="l">
              <a:lnSpc>
                <a:spcPct val="81000"/>
              </a:lnSpc>
              <a:spcBef>
                <a:spcPts val="500"/>
              </a:spcBef>
              <a:spcAft>
                <a:spcPts val="0"/>
              </a:spcAft>
              <a:buClr>
                <a:srgbClr val="000000"/>
              </a:buClr>
              <a:buSzPts val="2400"/>
              <a:buChar char="•"/>
            </a:pPr>
            <a:r>
              <a:rPr lang="en-US" sz="2400"/>
              <a:t>Easily interpretable</a:t>
            </a:r>
            <a:endParaRPr/>
          </a:p>
          <a:p>
            <a:pPr indent="-228600" lvl="1" marL="685800" rtl="0" algn="l">
              <a:lnSpc>
                <a:spcPct val="81000"/>
              </a:lnSpc>
              <a:spcBef>
                <a:spcPts val="500"/>
              </a:spcBef>
              <a:spcAft>
                <a:spcPts val="0"/>
              </a:spcAft>
              <a:buClr>
                <a:srgbClr val="000000"/>
              </a:buClr>
              <a:buSzPts val="2400"/>
              <a:buChar char="•"/>
            </a:pPr>
            <a:r>
              <a:rPr lang="en-US" sz="2400"/>
              <a:t>Stronger signal</a:t>
            </a:r>
            <a:endParaRPr/>
          </a:p>
          <a:p>
            <a:pPr indent="-228600" lvl="1" marL="685800" rtl="0" algn="l">
              <a:lnSpc>
                <a:spcPct val="81000"/>
              </a:lnSpc>
              <a:spcBef>
                <a:spcPts val="500"/>
              </a:spcBef>
              <a:spcAft>
                <a:spcPts val="0"/>
              </a:spcAft>
              <a:buClr>
                <a:srgbClr val="000000"/>
              </a:buClr>
              <a:buSzPts val="2400"/>
              <a:buChar char="•"/>
            </a:pPr>
            <a:r>
              <a:rPr lang="en-US" sz="2400"/>
              <a:t>Higher up-front cost</a:t>
            </a:r>
            <a:endParaRPr/>
          </a:p>
        </p:txBody>
      </p:sp>
      <p:sp>
        <p:nvSpPr>
          <p:cNvPr id="1778" name="Google Shape;1778;p153"/>
          <p:cNvSpPr/>
          <p:nvPr/>
        </p:nvSpPr>
        <p:spPr>
          <a:xfrm>
            <a:off x="5807202" y="3414185"/>
            <a:ext cx="5165598" cy="2723545"/>
          </a:xfrm>
          <a:prstGeom prst="rect">
            <a:avLst/>
          </a:prstGeom>
          <a:noFill/>
          <a:ln cap="flat" cmpd="sng" w="19050">
            <a:solidFill>
              <a:srgbClr val="092937"/>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15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t/>
            </a:r>
            <a:endParaRPr/>
          </a:p>
        </p:txBody>
      </p:sp>
      <p:sp>
        <p:nvSpPr>
          <p:cNvPr id="1784" name="Google Shape;1784;p154"/>
          <p:cNvSpPr txBox="1"/>
          <p:nvPr>
            <p:ph idx="1" type="body"/>
          </p:nvPr>
        </p:nvSpPr>
        <p:spPr>
          <a:xfrm>
            <a:off x="838200" y="1825625"/>
            <a:ext cx="10515600" cy="3376296"/>
          </a:xfrm>
          <a:prstGeom prst="rect">
            <a:avLst/>
          </a:prstGeom>
          <a:noFill/>
          <a:ln>
            <a:noFill/>
          </a:ln>
        </p:spPr>
        <p:txBody>
          <a:bodyPr anchorCtr="0" anchor="t" bIns="45700" lIns="45700" spcFirstLastPara="1" rIns="45700" wrap="square" tIns="45700">
            <a:normAutofit/>
          </a:bodyPr>
          <a:lstStyle/>
          <a:p>
            <a:pPr indent="-196596" lvl="0" marL="196596" rtl="0" algn="l">
              <a:lnSpc>
                <a:spcPct val="130000"/>
              </a:lnSpc>
              <a:spcBef>
                <a:spcPts val="0"/>
              </a:spcBef>
              <a:spcAft>
                <a:spcPts val="0"/>
              </a:spcAft>
              <a:buClr>
                <a:srgbClr val="000000"/>
              </a:buClr>
              <a:buSzPts val="2408"/>
              <a:buChar char="•"/>
            </a:pPr>
            <a:r>
              <a:rPr lang="en-US" sz="2408"/>
              <a:t>Summarization involves judgement: what counts as “important” depends on goal and audience.</a:t>
            </a:r>
            <a:endParaRPr/>
          </a:p>
          <a:p>
            <a:pPr indent="-196596" lvl="0" marL="196596" rtl="0" algn="l">
              <a:lnSpc>
                <a:spcPct val="130000"/>
              </a:lnSpc>
              <a:spcBef>
                <a:spcPts val="800"/>
              </a:spcBef>
              <a:spcAft>
                <a:spcPts val="0"/>
              </a:spcAft>
              <a:buClr>
                <a:srgbClr val="000000"/>
              </a:buClr>
              <a:buSzPts val="2408"/>
              <a:buChar char="•"/>
            </a:pPr>
            <a:r>
              <a:rPr lang="en-US" sz="2408"/>
              <a:t>Long documents make that judgement harder.</a:t>
            </a:r>
            <a:endParaRPr/>
          </a:p>
          <a:p>
            <a:pPr indent="-196596" lvl="0" marL="196596" rtl="0" algn="l">
              <a:lnSpc>
                <a:spcPct val="130000"/>
              </a:lnSpc>
              <a:spcBef>
                <a:spcPts val="800"/>
              </a:spcBef>
              <a:spcAft>
                <a:spcPts val="0"/>
              </a:spcAft>
              <a:buClr>
                <a:srgbClr val="000000"/>
              </a:buClr>
              <a:buSzPts val="2408"/>
              <a:buChar char="•"/>
            </a:pPr>
            <a:r>
              <a:rPr lang="en-US" sz="2408"/>
              <a:t>In high-stakes settings, these choices have consequences.</a:t>
            </a:r>
            <a:endParaRPr/>
          </a:p>
          <a:p>
            <a:pPr indent="-196596" lvl="0" marL="196596" rtl="0" algn="l">
              <a:lnSpc>
                <a:spcPct val="130000"/>
              </a:lnSpc>
              <a:spcBef>
                <a:spcPts val="800"/>
              </a:spcBef>
              <a:spcAft>
                <a:spcPts val="0"/>
              </a:spcAft>
              <a:buClr>
                <a:srgbClr val="000000"/>
              </a:buClr>
              <a:buSzPts val="2408"/>
              <a:buChar char="•"/>
            </a:pPr>
            <a:r>
              <a:rPr lang="en-US" sz="2408"/>
              <a:t>LLMs are claimed to handle and summarize long-context well.</a:t>
            </a:r>
            <a:endParaRPr/>
          </a:p>
          <a:p>
            <a:pPr indent="-196596" lvl="1" marL="589788" rtl="0" algn="l">
              <a:lnSpc>
                <a:spcPct val="130000"/>
              </a:lnSpc>
              <a:spcBef>
                <a:spcPts val="800"/>
              </a:spcBef>
              <a:spcAft>
                <a:spcPts val="0"/>
              </a:spcAft>
              <a:buClr>
                <a:srgbClr val="000000"/>
              </a:buClr>
              <a:buSzPts val="2408"/>
              <a:buChar char="•"/>
            </a:pPr>
            <a:r>
              <a:rPr lang="en-US" sz="2408"/>
              <a:t>How well remains an open question.</a:t>
            </a:r>
            <a:endParaRPr/>
          </a:p>
        </p:txBody>
      </p:sp>
      <p:sp>
        <p:nvSpPr>
          <p:cNvPr id="1785" name="Google Shape;1785;p15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
        <p:nvSpPr>
          <p:cNvPr id="1786" name="Google Shape;1786;p154"/>
          <p:cNvSpPr/>
          <p:nvPr/>
        </p:nvSpPr>
        <p:spPr>
          <a:xfrm>
            <a:off x="2089665" y="5460682"/>
            <a:ext cx="8168840" cy="975014"/>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small" strike="noStrike">
                <a:solidFill>
                  <a:srgbClr val="000000"/>
                </a:solidFill>
                <a:latin typeface="Arial"/>
                <a:ea typeface="Arial"/>
                <a:cs typeface="Arial"/>
                <a:sym typeface="Arial"/>
              </a:rPr>
              <a:t>CaseSumm</a:t>
            </a:r>
            <a:r>
              <a:rPr b="0" i="0" lang="en-US" sz="2400" u="none" cap="none" strike="noStrike">
                <a:solidFill>
                  <a:srgbClr val="000000"/>
                </a:solidFill>
                <a:latin typeface="Arial"/>
                <a:ea typeface="Arial"/>
                <a:cs typeface="Arial"/>
                <a:sym typeface="Arial"/>
              </a:rPr>
              <a:t> is a benchmark designed around this setting.</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0" name="Shape 1790"/>
        <p:cNvGrpSpPr/>
        <p:nvPr/>
      </p:nvGrpSpPr>
      <p:grpSpPr>
        <a:xfrm>
          <a:off x="0" y="0"/>
          <a:ext cx="0" cy="0"/>
          <a:chOff x="0" y="0"/>
          <a:chExt cx="0" cy="0"/>
        </a:xfrm>
      </p:grpSpPr>
      <p:sp>
        <p:nvSpPr>
          <p:cNvPr id="1791" name="Google Shape;1791;p15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Evaluation is a bottleneck in long-context summarization </a:t>
            </a:r>
            <a:endParaRPr/>
          </a:p>
        </p:txBody>
      </p:sp>
      <p:sp>
        <p:nvSpPr>
          <p:cNvPr id="1792" name="Google Shape;1792;p155"/>
          <p:cNvSpPr txBox="1"/>
          <p:nvPr>
            <p:ph idx="1" type="body"/>
          </p:nvPr>
        </p:nvSpPr>
        <p:spPr>
          <a:xfrm>
            <a:off x="838200" y="1952625"/>
            <a:ext cx="10515600" cy="4351338"/>
          </a:xfrm>
          <a:prstGeom prst="rect">
            <a:avLst/>
          </a:prstGeom>
          <a:noFill/>
          <a:ln>
            <a:noFill/>
          </a:ln>
        </p:spPr>
        <p:txBody>
          <a:bodyPr anchorCtr="0" anchor="t" bIns="45700" lIns="45700" spcFirstLastPara="1" rIns="45700" wrap="square" tIns="45700">
            <a:normAutofit/>
          </a:bodyPr>
          <a:lstStyle/>
          <a:p>
            <a:pPr indent="-194310" lvl="0" marL="194310" rtl="0" algn="l">
              <a:lnSpc>
                <a:spcPct val="110000"/>
              </a:lnSpc>
              <a:spcBef>
                <a:spcPts val="0"/>
              </a:spcBef>
              <a:spcAft>
                <a:spcPts val="0"/>
              </a:spcAft>
              <a:buClr>
                <a:srgbClr val="000000"/>
              </a:buClr>
              <a:buSzPts val="2300"/>
              <a:buChar char="•"/>
            </a:pPr>
            <a:r>
              <a:rPr lang="en-US"/>
              <a:t>Most summarization work evaluates against a reference summary (e.g., ROUGE/BERTScore), but reliable “ground truth” is often missing. Even human references aren’t always a definitive target.</a:t>
            </a:r>
            <a:endParaRPr/>
          </a:p>
          <a:p>
            <a:pPr indent="-194310" lvl="0" marL="194310" rtl="0" algn="l">
              <a:lnSpc>
                <a:spcPct val="110000"/>
              </a:lnSpc>
              <a:spcBef>
                <a:spcPts val="800"/>
              </a:spcBef>
              <a:spcAft>
                <a:spcPts val="0"/>
              </a:spcAft>
              <a:buClr>
                <a:srgbClr val="000000"/>
              </a:buClr>
              <a:buSzPts val="2300"/>
              <a:buChar char="•"/>
            </a:pPr>
            <a:r>
              <a:rPr lang="en-US"/>
              <a:t>Human evaluation is the fallback, but it is expensive and often requires domain expertise to judge omissions, specificity, and errors.</a:t>
            </a:r>
            <a:endParaRPr/>
          </a:p>
          <a:p>
            <a:pPr indent="-194310" lvl="0" marL="194310" rtl="0" algn="l">
              <a:lnSpc>
                <a:spcPct val="110000"/>
              </a:lnSpc>
              <a:spcBef>
                <a:spcPts val="800"/>
              </a:spcBef>
              <a:spcAft>
                <a:spcPts val="0"/>
              </a:spcAft>
              <a:buClr>
                <a:srgbClr val="000000"/>
              </a:buClr>
              <a:buSzPts val="2300"/>
              <a:buChar char="•"/>
            </a:pPr>
            <a:r>
              <a:rPr lang="en-US"/>
              <a:t>LLM-as-judge is a popular proposal for scalable evaluation, but its alignment with expert human judgment in long-context settings is still uncertain.  </a:t>
            </a:r>
            <a:endParaRPr/>
          </a:p>
          <a:p>
            <a:pPr indent="-194310" lvl="0" marL="194310" rtl="0" algn="l">
              <a:lnSpc>
                <a:spcPct val="110000"/>
              </a:lnSpc>
              <a:spcBef>
                <a:spcPts val="800"/>
              </a:spcBef>
              <a:spcAft>
                <a:spcPts val="0"/>
              </a:spcAft>
              <a:buClr>
                <a:srgbClr val="000000"/>
              </a:buClr>
              <a:buSzPts val="2300"/>
              <a:buChar char="•"/>
            </a:pPr>
            <a:r>
              <a:rPr lang="en-US" cap="small"/>
              <a:t>CaseSumm</a:t>
            </a:r>
            <a:r>
              <a:rPr lang="en-US"/>
              <a:t> tests these paradigms with an authoritative reference and expert human evaluation, then measure where they disagree.</a:t>
            </a:r>
            <a:endParaRPr/>
          </a:p>
        </p:txBody>
      </p:sp>
      <p:sp>
        <p:nvSpPr>
          <p:cNvPr id="1793" name="Google Shape;1793;p155"/>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15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In US, ballot measures are consequential yet hard to parse</a:t>
            </a:r>
            <a:endParaRPr/>
          </a:p>
        </p:txBody>
      </p:sp>
      <p:sp>
        <p:nvSpPr>
          <p:cNvPr id="1799" name="Google Shape;1799;p156"/>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Ballot measures are a key part of direct democracy in the US.</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Often first encounter at the voting booth</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Difficult to understand and opaque.</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Result is uninformed decisions or abstention</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Fails to support communication [??]</a:t>
            </a:r>
            <a:endParaRPr/>
          </a:p>
          <a:p>
            <a:pPr indent="-228600" lvl="0" marL="228600" rtl="0" algn="l">
              <a:lnSpc>
                <a:spcPct val="90000"/>
              </a:lnSpc>
              <a:spcBef>
                <a:spcPts val="1000"/>
              </a:spcBef>
              <a:spcAft>
                <a:spcPts val="0"/>
              </a:spcAft>
              <a:buClr>
                <a:srgbClr val="467886"/>
              </a:buClr>
              <a:buSzPts val="2800"/>
              <a:buChar char="•"/>
            </a:pPr>
            <a:r>
              <a:rPr lang="en-US" u="sng">
                <a:solidFill>
                  <a:schemeClr val="hlink"/>
                </a:solidFill>
                <a:hlinkClick r:id="rId3"/>
              </a:rPr>
              <a:t>https://news.uark.edu/articles/46345/study-finds-majority-of-public-is-unfamiliar-with-ballot-measures</a:t>
            </a:r>
            <a:endParaRPr/>
          </a:p>
        </p:txBody>
      </p:sp>
      <p:sp>
        <p:nvSpPr>
          <p:cNvPr id="1800" name="Google Shape;1800;p156"/>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4" name="Shape 1804"/>
        <p:cNvGrpSpPr/>
        <p:nvPr/>
      </p:nvGrpSpPr>
      <p:grpSpPr>
        <a:xfrm>
          <a:off x="0" y="0"/>
          <a:ext cx="0" cy="0"/>
          <a:chOff x="0" y="0"/>
          <a:chExt cx="0" cy="0"/>
        </a:xfrm>
      </p:grpSpPr>
      <p:sp>
        <p:nvSpPr>
          <p:cNvPr id="1805" name="Google Shape;1805;p157"/>
          <p:cNvSpPr txBox="1"/>
          <p:nvPr>
            <p:ph type="title"/>
          </p:nvPr>
        </p:nvSpPr>
        <p:spPr>
          <a:xfrm>
            <a:off x="838200" y="365125"/>
            <a:ext cx="10515600" cy="1860401"/>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LLMs excel at reasoning</a:t>
            </a:r>
            <a:br>
              <a:rPr b="0" i="0" lang="en-US" sz="4400" u="none" cap="none" strike="noStrike">
                <a:solidFill>
                  <a:srgbClr val="000000"/>
                </a:solidFill>
                <a:latin typeface="Play"/>
                <a:ea typeface="Play"/>
                <a:cs typeface="Play"/>
                <a:sym typeface="Play"/>
              </a:rPr>
            </a:br>
            <a:r>
              <a:rPr b="0" i="0" lang="en-US" sz="4400" u="none" cap="none" strike="noStrike">
                <a:solidFill>
                  <a:srgbClr val="000000"/>
                </a:solidFill>
                <a:latin typeface="Play"/>
                <a:ea typeface="Play"/>
                <a:cs typeface="Play"/>
                <a:sym typeface="Play"/>
              </a:rPr>
              <a:t>… and are constantly getting better</a:t>
            </a:r>
            <a:endParaRPr/>
          </a:p>
        </p:txBody>
      </p:sp>
      <p:pic>
        <p:nvPicPr>
          <p:cNvPr descr="Picture 8" id="1806" name="Google Shape;1806;p157"/>
          <p:cNvPicPr preferRelativeResize="0"/>
          <p:nvPr/>
        </p:nvPicPr>
        <p:blipFill rotWithShape="1">
          <a:blip r:embed="rId3">
            <a:alphaModFix/>
          </a:blip>
          <a:srcRect b="0" l="0" r="0" t="0"/>
          <a:stretch/>
        </p:blipFill>
        <p:spPr>
          <a:xfrm>
            <a:off x="753848" y="2225526"/>
            <a:ext cx="4113585" cy="3938757"/>
          </a:xfrm>
          <a:prstGeom prst="rect">
            <a:avLst/>
          </a:prstGeom>
          <a:noFill/>
          <a:ln>
            <a:noFill/>
          </a:ln>
        </p:spPr>
      </p:pic>
      <p:pic>
        <p:nvPicPr>
          <p:cNvPr descr="Picture 2" id="1807" name="Google Shape;1807;p157"/>
          <p:cNvPicPr preferRelativeResize="0"/>
          <p:nvPr/>
        </p:nvPicPr>
        <p:blipFill rotWithShape="1">
          <a:blip r:embed="rId4">
            <a:alphaModFix/>
          </a:blip>
          <a:srcRect b="25627" l="21014" r="21179" t="1046"/>
          <a:stretch/>
        </p:blipFill>
        <p:spPr>
          <a:xfrm>
            <a:off x="5441004" y="2964926"/>
            <a:ext cx="4259019" cy="2241996"/>
          </a:xfrm>
          <a:prstGeom prst="rect">
            <a:avLst/>
          </a:prstGeom>
          <a:noFill/>
          <a:ln>
            <a:noFill/>
          </a:ln>
        </p:spPr>
      </p:pic>
      <p:sp>
        <p:nvSpPr>
          <p:cNvPr id="1808" name="Google Shape;1808;p157"/>
          <p:cNvSpPr txBox="1"/>
          <p:nvPr/>
        </p:nvSpPr>
        <p:spPr>
          <a:xfrm>
            <a:off x="9948672" y="1858722"/>
            <a:ext cx="1978699" cy="17932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Math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Coding</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Fact-based QA</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Open-ended generation</a:t>
            </a:r>
            <a:endParaRPr/>
          </a:p>
        </p:txBody>
      </p:sp>
      <p:sp>
        <p:nvSpPr>
          <p:cNvPr id="1809" name="Google Shape;1809;p157"/>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1810" name="Google Shape;1810;p157"/>
          <p:cNvSpPr/>
          <p:nvPr/>
        </p:nvSpPr>
        <p:spPr>
          <a:xfrm rot="9233741">
            <a:off x="8788417" y="2636703"/>
            <a:ext cx="991692" cy="327074"/>
          </a:xfrm>
          <a:prstGeom prst="rightArrow">
            <a:avLst>
              <a:gd fmla="val 32232" name="adj1"/>
              <a:gd fmla="val 50000" name="adj2"/>
            </a:avLst>
          </a:prstGeom>
          <a:solidFill>
            <a:srgbClr val="47D45A"/>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4" name="Shape 1814"/>
        <p:cNvGrpSpPr/>
        <p:nvPr/>
      </p:nvGrpSpPr>
      <p:grpSpPr>
        <a:xfrm>
          <a:off x="0" y="0"/>
          <a:ext cx="0" cy="0"/>
          <a:chOff x="0" y="0"/>
          <a:chExt cx="0" cy="0"/>
        </a:xfrm>
      </p:grpSpPr>
      <p:sp>
        <p:nvSpPr>
          <p:cNvPr id="1815" name="Google Shape;1815;p158"/>
          <p:cNvSpPr txBox="1"/>
          <p:nvPr>
            <p:ph type="title"/>
          </p:nvPr>
        </p:nvSpPr>
        <p:spPr>
          <a:xfrm>
            <a:off x="838199" y="365125"/>
            <a:ext cx="10515601"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Historically, we simplified tasks to reduce natural ambiguity</a:t>
            </a:r>
            <a:endParaRPr/>
          </a:p>
        </p:txBody>
      </p:sp>
      <p:sp>
        <p:nvSpPr>
          <p:cNvPr id="1816" name="Google Shape;1816;p158"/>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E.g., translation, sentiment analysis, natural language inference, extractive summarization, etc.</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Makes tasks design and evaluation easier → quick optimization.</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More performant LLMs invite us to revisit some of these simplifications and tackle more interesting questions directly.</a:t>
            </a:r>
            <a:endParaRPr/>
          </a:p>
        </p:txBody>
      </p:sp>
      <p:sp>
        <p:nvSpPr>
          <p:cNvPr id="1817" name="Google Shape;1817;p158"/>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15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3256"/>
              <a:buFont typeface="Play"/>
              <a:buNone/>
            </a:pPr>
            <a:r>
              <a:rPr lang="en-US" sz="3256"/>
              <a:t>As models improve, the bottleneck shifts from generation to specifying and evaluating what ‘good’ means.</a:t>
            </a:r>
            <a:endParaRPr/>
          </a:p>
        </p:txBody>
      </p:sp>
      <p:sp>
        <p:nvSpPr>
          <p:cNvPr id="1823" name="Google Shape;1823;p159"/>
          <p:cNvSpPr txBox="1"/>
          <p:nvPr>
            <p:ph idx="1" type="body"/>
          </p:nvPr>
        </p:nvSpPr>
        <p:spPr>
          <a:xfrm>
            <a:off x="838200" y="1918017"/>
            <a:ext cx="10515600" cy="4258946"/>
          </a:xfrm>
          <a:prstGeom prst="rect">
            <a:avLst/>
          </a:prstGeom>
          <a:noFill/>
          <a:ln>
            <a:noFill/>
          </a:ln>
        </p:spPr>
        <p:txBody>
          <a:bodyPr anchorCtr="0" anchor="t" bIns="45700" lIns="45700" spcFirstLastPara="1" rIns="45700" wrap="square" tIns="45700">
            <a:normAutofit/>
          </a:bodyPr>
          <a:lstStyle/>
          <a:p>
            <a:pPr indent="-228600" lvl="0" marL="228600" rtl="0" algn="l">
              <a:lnSpc>
                <a:spcPct val="12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 Language shapes consequential decisions, but measuring and supporting this is hard. I develop methods to:</a:t>
            </a:r>
            <a:endParaRPr/>
          </a:p>
          <a:p>
            <a:pPr indent="-228600" lvl="1" marL="685800" rtl="0" algn="l">
              <a:lnSpc>
                <a:spcPct val="12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(1) extract decision-relevant language at scale</a:t>
            </a:r>
            <a:endParaRPr/>
          </a:p>
          <a:p>
            <a:pPr indent="-228600" lvl="1" marL="685800" rtl="0" algn="l">
              <a:lnSpc>
                <a:spcPct val="12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(2) evaluate LLM outputs in high-stakes domains</a:t>
            </a:r>
            <a:endParaRPr/>
          </a:p>
          <a:p>
            <a:pPr indent="-228600" lvl="1" marL="685800" rtl="0" algn="l">
              <a:lnSpc>
                <a:spcPct val="12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(3) design AI interactions that support human deliberation.</a:t>
            </a:r>
            <a:br>
              <a:rPr b="0" i="0" lang="en-US" sz="2800" u="none" cap="none" strike="noStrike">
                <a:solidFill>
                  <a:srgbClr val="000000"/>
                </a:solidFill>
                <a:latin typeface="Arial"/>
                <a:ea typeface="Arial"/>
                <a:cs typeface="Arial"/>
                <a:sym typeface="Arial"/>
              </a:rPr>
            </a:br>
            <a:endParaRPr/>
          </a:p>
        </p:txBody>
      </p:sp>
      <p:sp>
        <p:nvSpPr>
          <p:cNvPr id="1824" name="Google Shape;1824;p159"/>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8" name="Shape 1828"/>
        <p:cNvGrpSpPr/>
        <p:nvPr/>
      </p:nvGrpSpPr>
      <p:grpSpPr>
        <a:xfrm>
          <a:off x="0" y="0"/>
          <a:ext cx="0" cy="0"/>
          <a:chOff x="0" y="0"/>
          <a:chExt cx="0" cy="0"/>
        </a:xfrm>
      </p:grpSpPr>
      <p:sp>
        <p:nvSpPr>
          <p:cNvPr id="1829" name="Google Shape;1829;p16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t/>
            </a:r>
            <a:endParaRPr/>
          </a:p>
        </p:txBody>
      </p:sp>
      <p:sp>
        <p:nvSpPr>
          <p:cNvPr id="1830" name="Google Shape;1830;p160"/>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graphicFrame>
        <p:nvGraphicFramePr>
          <p:cNvPr id="1831" name="Google Shape;1831;p160"/>
          <p:cNvGraphicFramePr/>
          <p:nvPr/>
        </p:nvGraphicFramePr>
        <p:xfrm>
          <a:off x="1271412" y="2460648"/>
          <a:ext cx="3000000" cy="3000000"/>
        </p:xfrm>
        <a:graphic>
          <a:graphicData uri="http://schemas.openxmlformats.org/drawingml/2006/table">
            <a:tbl>
              <a:tblPr bandRow="1">
                <a:noFill/>
                <a:tableStyleId>{F702D99E-9C1F-416C-B730-6809D95EBFF6}</a:tableStyleId>
              </a:tblPr>
              <a:tblGrid>
                <a:gridCol w="1024075"/>
                <a:gridCol w="4101975"/>
                <a:gridCol w="3805050"/>
              </a:tblGrid>
              <a:tr h="345625">
                <a:tc>
                  <a:txBody>
                    <a:bodyPr/>
                    <a:lstStyle/>
                    <a:p>
                      <a:pPr indent="0" lvl="0" marL="0" marR="0" rtl="0" algn="ctr">
                        <a:lnSpc>
                          <a:spcPct val="100000"/>
                        </a:lnSpc>
                        <a:spcBef>
                          <a:spcPts val="0"/>
                        </a:spcBef>
                        <a:spcAft>
                          <a:spcPts val="0"/>
                        </a:spcAft>
                        <a:buClr>
                          <a:schemeClr val="dk1"/>
                        </a:buClr>
                        <a:buSzPts val="1200"/>
                        <a:buFont typeface="Helvetica Neue"/>
                        <a:buNone/>
                      </a:pPr>
                      <a:r>
                        <a:rPr b="1" lang="en-US" sz="1200" u="none" cap="none" strike="noStrike"/>
                        <a:t>Project</a:t>
                      </a:r>
                      <a:endParaRPr/>
                    </a:p>
                  </a:txBody>
                  <a:tcPr marT="12700" marB="12700" marR="12700" marL="12700" anchor="ctr"/>
                </a:tc>
                <a:tc>
                  <a:txBody>
                    <a:bodyPr/>
                    <a:lstStyle/>
                    <a:p>
                      <a:pPr indent="0" lvl="0" marL="0" marR="0" rtl="0" algn="ctr">
                        <a:lnSpc>
                          <a:spcPct val="100000"/>
                        </a:lnSpc>
                        <a:spcBef>
                          <a:spcPts val="0"/>
                        </a:spcBef>
                        <a:spcAft>
                          <a:spcPts val="0"/>
                        </a:spcAft>
                        <a:buClr>
                          <a:schemeClr val="dk1"/>
                        </a:buClr>
                        <a:buSzPts val="1200"/>
                        <a:buFont typeface="Helvetica Neue"/>
                        <a:buNone/>
                      </a:pPr>
                      <a:r>
                        <a:rPr b="1" lang="en-US" sz="1200" u="none" cap="none" strike="noStrike"/>
                        <a:t>Key Gap in Literature</a:t>
                      </a:r>
                      <a:endParaRPr/>
                    </a:p>
                  </a:txBody>
                  <a:tcPr marT="12700" marB="12700" marR="12700" marL="12700" anchor="ctr"/>
                </a:tc>
                <a:tc>
                  <a:txBody>
                    <a:bodyPr/>
                    <a:lstStyle/>
                    <a:p>
                      <a:pPr indent="0" lvl="0" marL="0" marR="0" rtl="0" algn="ctr">
                        <a:lnSpc>
                          <a:spcPct val="100000"/>
                        </a:lnSpc>
                        <a:spcBef>
                          <a:spcPts val="0"/>
                        </a:spcBef>
                        <a:spcAft>
                          <a:spcPts val="0"/>
                        </a:spcAft>
                        <a:buClr>
                          <a:schemeClr val="dk1"/>
                        </a:buClr>
                        <a:buSzPts val="1200"/>
                        <a:buFont typeface="Helvetica Neue"/>
                        <a:buNone/>
                      </a:pPr>
                      <a:r>
                        <a:rPr b="1" lang="en-US" sz="1200" u="none" cap="none" strike="noStrike"/>
                        <a:t>My Angle</a:t>
                      </a:r>
                      <a:endParaRPr/>
                    </a:p>
                  </a:txBody>
                  <a:tcPr marT="12700" marB="12700" marR="12700" marL="12700" anchor="ctr"/>
                </a:tc>
              </a:tr>
              <a:tr h="345625">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Narratives</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No large-scale causal narrative extraction</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LLM-based classification at century scale</a:t>
                      </a:r>
                      <a:endParaRPr/>
                    </a:p>
                  </a:txBody>
                  <a:tcPr marT="12700" marB="12700" marR="12700" marL="12700" anchor="ctr"/>
                </a:tc>
              </a:tr>
              <a:tr h="535725">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CaseSumm</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Metrics don't predict what experts value</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Human evaluation reveals disconnect</a:t>
                      </a:r>
                      <a:endParaRPr/>
                    </a:p>
                  </a:txBody>
                  <a:tcPr marT="12700" marB="12700" marR="12700" marL="12700" anchor="ctr"/>
                </a:tc>
              </a:tr>
              <a:tr h="535725">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Negotiation</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No matched human-LLM comparisons</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Systematic framework reveals LLM rigidity</a:t>
                      </a:r>
                      <a:endParaRPr/>
                    </a:p>
                  </a:txBody>
                  <a:tcPr marT="12700" marB="12700" marR="12700" marL="12700" anchor="ctr"/>
                </a:tc>
              </a:tr>
              <a:tr h="345625">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Reasoning</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Internalization only tested on simple tasks</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Complex traces need different targets</a:t>
                      </a:r>
                      <a:endParaRPr/>
                    </a:p>
                  </a:txBody>
                  <a:tcPr marT="12700" marB="12700" marR="12700" marL="12700" anchor="ctr"/>
                </a:tc>
              </a:tr>
              <a:tr h="535725">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BallotBot</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Unknown which AI interaction style helps voters</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Comparing personas with longitudinal design</a:t>
                      </a:r>
                      <a:endParaRPr/>
                    </a:p>
                  </a:txBody>
                  <a:tcPr marT="12700" marB="12700" marR="12700" marL="12700" anchor="ctr"/>
                </a:tc>
              </a:tr>
              <a:tr h="535725">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FrictionBot</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Sycophancy + counterarguments backfire</a:t>
                      </a:r>
                      <a:endParaRPr/>
                    </a:p>
                  </a:txBody>
                  <a:tcPr marT="12700" marB="12700" marR="12700" marL="12700" anchor="ctr"/>
                </a:tc>
                <a:tc>
                  <a:txBody>
                    <a:bodyPr/>
                    <a:lstStyle/>
                    <a:p>
                      <a:pPr indent="0" lvl="0" marL="0" marR="0" rtl="0" algn="l">
                        <a:lnSpc>
                          <a:spcPct val="100000"/>
                        </a:lnSpc>
                        <a:spcBef>
                          <a:spcPts val="0"/>
                        </a:spcBef>
                        <a:spcAft>
                          <a:spcPts val="0"/>
                        </a:spcAft>
                        <a:buClr>
                          <a:schemeClr val="dk1"/>
                        </a:buClr>
                        <a:buSzPts val="1200"/>
                        <a:buFont typeface="Helvetica Neue"/>
                        <a:buNone/>
                      </a:pPr>
                      <a:r>
                        <a:rPr lang="en-US" sz="1200" u="none" cap="none" strike="noStrike"/>
                        <a:t>Elicitation-based critical thinking</a:t>
                      </a:r>
                      <a:endParaRPr/>
                    </a:p>
                  </a:txBody>
                  <a:tcPr marT="12700" marB="12700" marR="12700" marL="12700" anchor="ctr"/>
                </a:tc>
              </a:tr>
            </a:tbl>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5" name="Shape 1835"/>
        <p:cNvGrpSpPr/>
        <p:nvPr/>
      </p:nvGrpSpPr>
      <p:grpSpPr>
        <a:xfrm>
          <a:off x="0" y="0"/>
          <a:ext cx="0" cy="0"/>
          <a:chOff x="0" y="0"/>
          <a:chExt cx="0" cy="0"/>
        </a:xfrm>
      </p:grpSpPr>
      <p:sp>
        <p:nvSpPr>
          <p:cNvPr id="1836" name="Google Shape;1836;p16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Consider two different human-written summaries of a long legal judgement</a:t>
            </a:r>
            <a:endParaRPr/>
          </a:p>
        </p:txBody>
      </p:sp>
      <p:sp>
        <p:nvSpPr>
          <p:cNvPr id="1837" name="Google Shape;1837;p161"/>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grpSp>
        <p:nvGrpSpPr>
          <p:cNvPr id="1838" name="Google Shape;1838;p161"/>
          <p:cNvGrpSpPr/>
          <p:nvPr/>
        </p:nvGrpSpPr>
        <p:grpSpPr>
          <a:xfrm>
            <a:off x="1217175" y="2118020"/>
            <a:ext cx="3772538" cy="4005771"/>
            <a:chOff x="0" y="702"/>
            <a:chExt cx="3772536" cy="4005769"/>
          </a:xfrm>
        </p:grpSpPr>
        <p:pic>
          <p:nvPicPr>
            <p:cNvPr descr="Screenshot 2026-01-12 at 7.03.04 PM.png" id="1839" name="Google Shape;1839;p161"/>
            <p:cNvPicPr preferRelativeResize="0"/>
            <p:nvPr/>
          </p:nvPicPr>
          <p:blipFill rotWithShape="1">
            <a:blip r:embed="rId3">
              <a:alphaModFix/>
            </a:blip>
            <a:srcRect b="0" l="0" r="0" t="0"/>
            <a:stretch/>
          </p:blipFill>
          <p:spPr>
            <a:xfrm>
              <a:off x="2424494" y="702"/>
              <a:ext cx="1348042" cy="2045554"/>
            </a:xfrm>
            <a:prstGeom prst="rect">
              <a:avLst/>
            </a:prstGeom>
            <a:noFill/>
            <a:ln>
              <a:noFill/>
            </a:ln>
          </p:spPr>
        </p:pic>
        <p:pic>
          <p:nvPicPr>
            <p:cNvPr descr="Screenshot 2026-01-12 at 7.03.52 PM.png" id="1840" name="Google Shape;1840;p161"/>
            <p:cNvPicPr preferRelativeResize="0"/>
            <p:nvPr/>
          </p:nvPicPr>
          <p:blipFill rotWithShape="1">
            <a:blip r:embed="rId4">
              <a:alphaModFix/>
            </a:blip>
            <a:srcRect b="0" l="0" r="0" t="39551"/>
            <a:stretch/>
          </p:blipFill>
          <p:spPr>
            <a:xfrm>
              <a:off x="0" y="809592"/>
              <a:ext cx="1294685" cy="1237366"/>
            </a:xfrm>
            <a:prstGeom prst="rect">
              <a:avLst/>
            </a:prstGeom>
            <a:noFill/>
            <a:ln>
              <a:noFill/>
            </a:ln>
          </p:spPr>
        </p:pic>
        <p:pic>
          <p:nvPicPr>
            <p:cNvPr descr="Screenshot 2026-01-12 at 7.04.17 PM.png" id="1841" name="Google Shape;1841;p161"/>
            <p:cNvPicPr preferRelativeResize="0"/>
            <p:nvPr/>
          </p:nvPicPr>
          <p:blipFill rotWithShape="1">
            <a:blip r:embed="rId5">
              <a:alphaModFix/>
            </a:blip>
            <a:srcRect b="0" l="0" r="0" t="0"/>
            <a:stretch/>
          </p:blipFill>
          <p:spPr>
            <a:xfrm>
              <a:off x="1218512" y="70642"/>
              <a:ext cx="1269661" cy="1961574"/>
            </a:xfrm>
            <a:prstGeom prst="rect">
              <a:avLst/>
            </a:prstGeom>
            <a:noFill/>
            <a:ln>
              <a:noFill/>
            </a:ln>
          </p:spPr>
        </p:pic>
        <p:pic>
          <p:nvPicPr>
            <p:cNvPr descr="Screenshot 2026-01-12 at 7.04.44 PM.png" id="1842" name="Google Shape;1842;p161"/>
            <p:cNvPicPr preferRelativeResize="0"/>
            <p:nvPr/>
          </p:nvPicPr>
          <p:blipFill rotWithShape="1">
            <a:blip r:embed="rId6">
              <a:alphaModFix/>
            </a:blip>
            <a:srcRect b="0" l="3294" r="0" t="0"/>
            <a:stretch/>
          </p:blipFill>
          <p:spPr>
            <a:xfrm>
              <a:off x="2446644" y="2045053"/>
              <a:ext cx="1303629" cy="1961418"/>
            </a:xfrm>
            <a:prstGeom prst="rect">
              <a:avLst/>
            </a:prstGeom>
            <a:noFill/>
            <a:ln>
              <a:noFill/>
            </a:ln>
          </p:spPr>
        </p:pic>
        <p:pic>
          <p:nvPicPr>
            <p:cNvPr descr="Screenshot 2026-01-12 at 7.10.05 PM.png" id="1843" name="Google Shape;1843;p161"/>
            <p:cNvPicPr preferRelativeResize="0"/>
            <p:nvPr/>
          </p:nvPicPr>
          <p:blipFill rotWithShape="1">
            <a:blip r:embed="rId7">
              <a:alphaModFix/>
            </a:blip>
            <a:srcRect b="0" l="0" r="0" t="0"/>
            <a:stretch/>
          </p:blipFill>
          <p:spPr>
            <a:xfrm>
              <a:off x="41459" y="2060023"/>
              <a:ext cx="1211766" cy="1915810"/>
            </a:xfrm>
            <a:prstGeom prst="rect">
              <a:avLst/>
            </a:prstGeom>
            <a:noFill/>
            <a:ln>
              <a:noFill/>
            </a:ln>
          </p:spPr>
        </p:pic>
        <p:pic>
          <p:nvPicPr>
            <p:cNvPr descr="Screenshot 2026-01-12 at 7.10.37 PM.png" id="1844" name="Google Shape;1844;p161"/>
            <p:cNvPicPr preferRelativeResize="0"/>
            <p:nvPr/>
          </p:nvPicPr>
          <p:blipFill rotWithShape="1">
            <a:blip r:embed="rId8">
              <a:alphaModFix/>
            </a:blip>
            <a:srcRect b="0" l="0" r="0" t="0"/>
            <a:stretch/>
          </p:blipFill>
          <p:spPr>
            <a:xfrm>
              <a:off x="1239678" y="2055052"/>
              <a:ext cx="1227328" cy="1925752"/>
            </a:xfrm>
            <a:prstGeom prst="rect">
              <a:avLst/>
            </a:prstGeom>
            <a:noFill/>
            <a:ln>
              <a:noFill/>
            </a:ln>
          </p:spPr>
        </p:pic>
      </p:grpSp>
      <p:pic>
        <p:nvPicPr>
          <p:cNvPr descr="Screenshot 2026-01-12 at 7.16.52 PM.png" id="1845" name="Google Shape;1845;p161"/>
          <p:cNvPicPr preferRelativeResize="0"/>
          <p:nvPr/>
        </p:nvPicPr>
        <p:blipFill rotWithShape="1">
          <a:blip r:embed="rId9">
            <a:alphaModFix/>
          </a:blip>
          <a:srcRect b="0" l="0" r="0" t="0"/>
          <a:stretch/>
        </p:blipFill>
        <p:spPr>
          <a:xfrm>
            <a:off x="7474631" y="3079758"/>
            <a:ext cx="3325239" cy="1847802"/>
          </a:xfrm>
          <a:prstGeom prst="rect">
            <a:avLst/>
          </a:prstGeom>
          <a:noFill/>
          <a:ln>
            <a:noFill/>
          </a:ln>
        </p:spPr>
      </p:pic>
      <p:cxnSp>
        <p:nvCxnSpPr>
          <p:cNvPr id="1846" name="Google Shape;1846;p161"/>
          <p:cNvCxnSpPr/>
          <p:nvPr/>
        </p:nvCxnSpPr>
        <p:spPr>
          <a:xfrm flipH="1" rot="10800000">
            <a:off x="6163483" y="1861132"/>
            <a:ext cx="1" cy="4729271"/>
          </a:xfrm>
          <a:prstGeom prst="straightConnector1">
            <a:avLst/>
          </a:prstGeom>
          <a:noFill/>
          <a:ln cap="flat" cmpd="sng" w="19050">
            <a:solidFill>
              <a:srgbClr val="000000"/>
            </a:solidFill>
            <a:prstDash val="solid"/>
            <a:miter lim="8000"/>
            <a:headEnd len="sm" w="sm" type="none"/>
            <a:tailEnd len="sm" w="sm" type="none"/>
          </a:ln>
        </p:spPr>
      </p:cxn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0" name="Shape 1850"/>
        <p:cNvGrpSpPr/>
        <p:nvPr/>
      </p:nvGrpSpPr>
      <p:grpSpPr>
        <a:xfrm>
          <a:off x="0" y="0"/>
          <a:ext cx="0" cy="0"/>
          <a:chOff x="0" y="0"/>
          <a:chExt cx="0" cy="0"/>
        </a:xfrm>
      </p:grpSpPr>
      <p:sp>
        <p:nvSpPr>
          <p:cNvPr id="1851" name="Google Shape;1851;p162"/>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Inflation expectations are highly persistent but narratives explain some effect</a:t>
            </a:r>
            <a:endParaRPr/>
          </a:p>
        </p:txBody>
      </p:sp>
      <p:sp>
        <p:nvSpPr>
          <p:cNvPr id="1852" name="Google Shape;1852;p162"/>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Picture 5" id="1853" name="Google Shape;1853;p162"/>
          <p:cNvPicPr preferRelativeResize="0"/>
          <p:nvPr/>
        </p:nvPicPr>
        <p:blipFill rotWithShape="1">
          <a:blip r:embed="rId3">
            <a:alphaModFix/>
          </a:blip>
          <a:srcRect b="0" l="0" r="0" t="0"/>
          <a:stretch/>
        </p:blipFill>
        <p:spPr>
          <a:xfrm>
            <a:off x="2110227" y="1846903"/>
            <a:ext cx="7772401" cy="417423"/>
          </a:xfrm>
          <a:prstGeom prst="rect">
            <a:avLst/>
          </a:prstGeom>
          <a:noFill/>
          <a:ln>
            <a:noFill/>
          </a:ln>
        </p:spPr>
      </p:pic>
      <p:sp>
        <p:nvSpPr>
          <p:cNvPr id="1854" name="Google Shape;1854;p162"/>
          <p:cNvSpPr txBox="1"/>
          <p:nvPr/>
        </p:nvSpPr>
        <p:spPr>
          <a:xfrm>
            <a:off x="271496" y="2585079"/>
            <a:ext cx="2941280" cy="14884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By about what percent do you expect prices to go (up/down) on the average, during the next 12 months?</a:t>
            </a:r>
            <a:endParaRPr/>
          </a:p>
        </p:txBody>
      </p:sp>
      <p:grpSp>
        <p:nvGrpSpPr>
          <p:cNvPr id="1855" name="Google Shape;1855;p162"/>
          <p:cNvGrpSpPr/>
          <p:nvPr/>
        </p:nvGrpSpPr>
        <p:grpSpPr>
          <a:xfrm>
            <a:off x="3355254" y="2213860"/>
            <a:ext cx="4983484" cy="4521117"/>
            <a:chOff x="0" y="-1"/>
            <a:chExt cx="4983483" cy="4521115"/>
          </a:xfrm>
        </p:grpSpPr>
        <p:grpSp>
          <p:nvGrpSpPr>
            <p:cNvPr id="1856" name="Google Shape;1856;p162"/>
            <p:cNvGrpSpPr/>
            <p:nvPr/>
          </p:nvGrpSpPr>
          <p:grpSpPr>
            <a:xfrm>
              <a:off x="0" y="-1"/>
              <a:ext cx="4983483" cy="3935811"/>
              <a:chOff x="0" y="0"/>
              <a:chExt cx="4983482" cy="3935809"/>
            </a:xfrm>
          </p:grpSpPr>
          <p:pic>
            <p:nvPicPr>
              <p:cNvPr descr="Picture 7" id="1857" name="Google Shape;1857;p162"/>
              <p:cNvPicPr preferRelativeResize="0"/>
              <p:nvPr/>
            </p:nvPicPr>
            <p:blipFill rotWithShape="1">
              <a:blip r:embed="rId4">
                <a:alphaModFix/>
              </a:blip>
              <a:srcRect b="0" l="0" r="0" t="0"/>
              <a:stretch/>
            </p:blipFill>
            <p:spPr>
              <a:xfrm>
                <a:off x="168916" y="0"/>
                <a:ext cx="4740344" cy="2590029"/>
              </a:xfrm>
              <a:prstGeom prst="rect">
                <a:avLst/>
              </a:prstGeom>
              <a:noFill/>
              <a:ln>
                <a:noFill/>
              </a:ln>
            </p:spPr>
          </p:pic>
          <p:pic>
            <p:nvPicPr>
              <p:cNvPr descr="Picture 9" id="1858" name="Google Shape;1858;p162"/>
              <p:cNvPicPr preferRelativeResize="0"/>
              <p:nvPr/>
            </p:nvPicPr>
            <p:blipFill rotWithShape="1">
              <a:blip r:embed="rId5">
                <a:alphaModFix/>
              </a:blip>
              <a:srcRect b="0" l="0" r="0" t="0"/>
              <a:stretch/>
            </p:blipFill>
            <p:spPr>
              <a:xfrm>
                <a:off x="0" y="2669647"/>
                <a:ext cx="4983482" cy="1266162"/>
              </a:xfrm>
              <a:prstGeom prst="rect">
                <a:avLst/>
              </a:prstGeom>
              <a:noFill/>
              <a:ln>
                <a:noFill/>
              </a:ln>
            </p:spPr>
          </p:pic>
        </p:grpSp>
        <p:pic>
          <p:nvPicPr>
            <p:cNvPr descr="Picture 6" id="1859" name="Google Shape;1859;p162"/>
            <p:cNvPicPr preferRelativeResize="0"/>
            <p:nvPr/>
          </p:nvPicPr>
          <p:blipFill rotWithShape="1">
            <a:blip r:embed="rId6">
              <a:alphaModFix/>
            </a:blip>
            <a:srcRect b="0" l="0" r="33998" t="0"/>
            <a:stretch/>
          </p:blipFill>
          <p:spPr>
            <a:xfrm>
              <a:off x="112549" y="4015426"/>
              <a:ext cx="4839618" cy="505688"/>
            </a:xfrm>
            <a:prstGeom prst="rect">
              <a:avLst/>
            </a:prstGeom>
            <a:noFill/>
            <a:ln>
              <a:noFill/>
            </a:ln>
          </p:spPr>
        </p:pic>
      </p:grpSp>
      <p:grpSp>
        <p:nvGrpSpPr>
          <p:cNvPr id="1860" name="Google Shape;1860;p162"/>
          <p:cNvGrpSpPr/>
          <p:nvPr/>
        </p:nvGrpSpPr>
        <p:grpSpPr>
          <a:xfrm>
            <a:off x="8874690" y="2366822"/>
            <a:ext cx="2981197" cy="956923"/>
            <a:chOff x="0" y="0"/>
            <a:chExt cx="2981195" cy="956922"/>
          </a:xfrm>
        </p:grpSpPr>
        <p:sp>
          <p:nvSpPr>
            <p:cNvPr id="1861" name="Google Shape;1861;p162"/>
            <p:cNvSpPr/>
            <p:nvPr/>
          </p:nvSpPr>
          <p:spPr>
            <a:xfrm>
              <a:off x="0" y="0"/>
              <a:ext cx="2981195" cy="956922"/>
            </a:xfrm>
            <a:prstGeom prst="roundRect">
              <a:avLst>
                <a:gd fmla="val 4167" name="adj"/>
              </a:avLst>
            </a:prstGeom>
            <a:noFill/>
            <a:ln cap="flat" cmpd="sng" w="19050">
              <a:solidFill>
                <a:srgbClr val="0070C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2" name="Google Shape;1862;p162"/>
            <p:cNvSpPr txBox="1"/>
            <p:nvPr/>
          </p:nvSpPr>
          <p:spPr>
            <a:xfrm>
              <a:off x="1074021" y="29308"/>
              <a:ext cx="903721" cy="320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C00000"/>
                </a:buClr>
                <a:buSzPts val="1500"/>
                <a:buFont typeface="Arial"/>
                <a:buNone/>
              </a:pPr>
              <a:r>
                <a:rPr b="0" i="0" lang="en-US" sz="1500" u="none" cap="none" strike="noStrike">
                  <a:solidFill>
                    <a:srgbClr val="C00000"/>
                  </a:solidFill>
                  <a:latin typeface="Arial"/>
                  <a:ea typeface="Arial"/>
                  <a:cs typeface="Arial"/>
                  <a:sym typeface="Arial"/>
                </a:rPr>
                <a:t>~0.15 SD</a:t>
              </a:r>
              <a:endParaRPr/>
            </a:p>
          </p:txBody>
        </p:sp>
        <p:sp>
          <p:nvSpPr>
            <p:cNvPr id="1863" name="Google Shape;1863;p162"/>
            <p:cNvSpPr txBox="1"/>
            <p:nvPr/>
          </p:nvSpPr>
          <p:spPr>
            <a:xfrm>
              <a:off x="78354" y="330467"/>
              <a:ext cx="2769523" cy="55589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in expected inflation per 1 SD ↑ in lagged realized inflation</a:t>
              </a:r>
              <a:endParaRPr/>
            </a:p>
          </p:txBody>
        </p:sp>
      </p:grpSp>
      <p:sp>
        <p:nvSpPr>
          <p:cNvPr id="1864" name="Google Shape;1864;p162"/>
          <p:cNvSpPr/>
          <p:nvPr/>
        </p:nvSpPr>
        <p:spPr>
          <a:xfrm>
            <a:off x="7409457" y="2536133"/>
            <a:ext cx="855057" cy="4115084"/>
          </a:xfrm>
          <a:prstGeom prst="rect">
            <a:avLst/>
          </a:prstGeom>
          <a:solidFill>
            <a:srgbClr val="FFC500">
              <a:alpha val="34118"/>
            </a:srgbClr>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65" name="Google Shape;1865;p162"/>
          <p:cNvCxnSpPr/>
          <p:nvPr/>
        </p:nvCxnSpPr>
        <p:spPr>
          <a:xfrm flipH="1">
            <a:off x="8098077" y="4296426"/>
            <a:ext cx="770351" cy="1"/>
          </a:xfrm>
          <a:prstGeom prst="straightConnector1">
            <a:avLst/>
          </a:prstGeom>
          <a:noFill/>
          <a:ln cap="flat" cmpd="sng" w="19050">
            <a:solidFill>
              <a:srgbClr val="0070C0"/>
            </a:solidFill>
            <a:prstDash val="solid"/>
            <a:miter lim="8000"/>
            <a:headEnd len="sm" w="sm" type="none"/>
            <a:tailEnd len="med" w="med" type="triangle"/>
          </a:ln>
        </p:spPr>
      </p:cxnSp>
      <p:grpSp>
        <p:nvGrpSpPr>
          <p:cNvPr id="1866" name="Google Shape;1866;p162"/>
          <p:cNvGrpSpPr/>
          <p:nvPr/>
        </p:nvGrpSpPr>
        <p:grpSpPr>
          <a:xfrm>
            <a:off x="8663304" y="5371261"/>
            <a:ext cx="3175120" cy="1268425"/>
            <a:chOff x="0" y="0"/>
            <a:chExt cx="3175118" cy="1268423"/>
          </a:xfrm>
        </p:grpSpPr>
        <p:sp>
          <p:nvSpPr>
            <p:cNvPr id="1867" name="Google Shape;1867;p162"/>
            <p:cNvSpPr/>
            <p:nvPr/>
          </p:nvSpPr>
          <p:spPr>
            <a:xfrm>
              <a:off x="1140" y="28938"/>
              <a:ext cx="3166180" cy="983265"/>
            </a:xfrm>
            <a:prstGeom prst="roundRect">
              <a:avLst>
                <a:gd fmla="val 4167" name="adj"/>
              </a:avLst>
            </a:prstGeom>
            <a:noFill/>
            <a:ln cap="flat" cmpd="sng" w="19050">
              <a:solidFill>
                <a:srgbClr val="0070C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8" name="Google Shape;1868;p162"/>
            <p:cNvSpPr txBox="1"/>
            <p:nvPr/>
          </p:nvSpPr>
          <p:spPr>
            <a:xfrm>
              <a:off x="0" y="0"/>
              <a:ext cx="3175118" cy="1268423"/>
            </a:xfrm>
            <a:prstGeom prst="rect">
              <a:avLst/>
            </a:prstGeom>
            <a:noFill/>
            <a:ln>
              <a:noFill/>
            </a:ln>
          </p:spPr>
          <p:txBody>
            <a:bodyPr anchorCtr="0" anchor="t"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Coefficients are</a:t>
              </a:r>
              <a:endParaRPr/>
            </a:p>
            <a:p>
              <a:pPr indent="0" lvl="0" marL="0" marR="0" rtl="0" algn="ctr">
                <a:lnSpc>
                  <a:spcPct val="100000"/>
                </a:lnSpc>
                <a:spcBef>
                  <a:spcPts val="0"/>
                </a:spcBef>
                <a:spcAft>
                  <a:spcPts val="0"/>
                </a:spcAft>
                <a:buClr>
                  <a:srgbClr val="C00000"/>
                </a:buClr>
                <a:buSzPts val="1500"/>
                <a:buFont typeface="Arial"/>
                <a:buNone/>
              </a:pPr>
              <a:r>
                <a:rPr b="0" i="0" lang="en-US" sz="1500" u="none" cap="none" strike="noStrike">
                  <a:solidFill>
                    <a:srgbClr val="C00000"/>
                  </a:solidFill>
                  <a:latin typeface="Arial"/>
                  <a:ea typeface="Arial"/>
                  <a:cs typeface="Arial"/>
                  <a:sym typeface="Arial"/>
                </a:rPr>
                <a:t>the shift in expected inflation (in SD terms) per SD increase in the share of a narrative’s media presence</a:t>
              </a:r>
              <a:endParaRPr/>
            </a:p>
          </p:txBody>
        </p:sp>
      </p:grpSp>
      <p:grpSp>
        <p:nvGrpSpPr>
          <p:cNvPr id="1869" name="Google Shape;1869;p162"/>
          <p:cNvGrpSpPr/>
          <p:nvPr/>
        </p:nvGrpSpPr>
        <p:grpSpPr>
          <a:xfrm>
            <a:off x="8874690" y="3743762"/>
            <a:ext cx="2981197" cy="956924"/>
            <a:chOff x="0" y="0"/>
            <a:chExt cx="2981195" cy="956922"/>
          </a:xfrm>
        </p:grpSpPr>
        <p:sp>
          <p:nvSpPr>
            <p:cNvPr id="1870" name="Google Shape;1870;p162"/>
            <p:cNvSpPr/>
            <p:nvPr/>
          </p:nvSpPr>
          <p:spPr>
            <a:xfrm>
              <a:off x="0" y="0"/>
              <a:ext cx="2981195" cy="956922"/>
            </a:xfrm>
            <a:prstGeom prst="roundRect">
              <a:avLst>
                <a:gd fmla="val 4167" name="adj"/>
              </a:avLst>
            </a:prstGeom>
            <a:noFill/>
            <a:ln cap="flat" cmpd="sng" w="19050">
              <a:solidFill>
                <a:srgbClr val="0070C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1" name="Google Shape;1871;p162"/>
            <p:cNvSpPr txBox="1"/>
            <p:nvPr/>
          </p:nvSpPr>
          <p:spPr>
            <a:xfrm>
              <a:off x="1074021" y="29308"/>
              <a:ext cx="898419" cy="320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C00000"/>
                </a:buClr>
                <a:buSzPts val="1500"/>
                <a:buFont typeface="Arial"/>
                <a:buNone/>
              </a:pPr>
              <a:r>
                <a:rPr b="0" i="0" lang="en-US" sz="1500" u="none" cap="none" strike="noStrike">
                  <a:solidFill>
                    <a:srgbClr val="C00000"/>
                  </a:solidFill>
                  <a:latin typeface="Arial"/>
                  <a:ea typeface="Arial"/>
                  <a:cs typeface="Arial"/>
                  <a:sym typeface="Arial"/>
                </a:rPr>
                <a:t>0.057 SD</a:t>
              </a:r>
              <a:endParaRPr/>
            </a:p>
          </p:txBody>
        </p:sp>
        <p:sp>
          <p:nvSpPr>
            <p:cNvPr id="1872" name="Google Shape;1872;p162"/>
            <p:cNvSpPr txBox="1"/>
            <p:nvPr/>
          </p:nvSpPr>
          <p:spPr>
            <a:xfrm>
              <a:off x="78354" y="330467"/>
              <a:ext cx="2769523" cy="55589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in expected inflation per 1 SD ↑ in share of </a:t>
              </a:r>
              <a:r>
                <a:rPr b="1" i="0" lang="en-US" sz="1500" u="none" cap="none" strike="noStrike">
                  <a:solidFill>
                    <a:srgbClr val="000000"/>
                  </a:solidFill>
                  <a:latin typeface="Arial"/>
                  <a:ea typeface="Arial"/>
                  <a:cs typeface="Arial"/>
                  <a:sym typeface="Arial"/>
                </a:rPr>
                <a:t>fiscal</a:t>
              </a:r>
              <a:r>
                <a:rPr b="0" i="0" lang="en-US" sz="1500" u="none" cap="none" strike="noStrike">
                  <a:solidFill>
                    <a:srgbClr val="000000"/>
                  </a:solidFill>
                  <a:latin typeface="Arial"/>
                  <a:ea typeface="Arial"/>
                  <a:cs typeface="Arial"/>
                  <a:sym typeface="Arial"/>
                </a:rPr>
                <a:t> narratives</a:t>
              </a:r>
              <a:endParaRPr/>
            </a:p>
          </p:txBody>
        </p:sp>
      </p:grpSp>
      <p:cxnSp>
        <p:nvCxnSpPr>
          <p:cNvPr id="1873" name="Google Shape;1873;p162"/>
          <p:cNvCxnSpPr/>
          <p:nvPr/>
        </p:nvCxnSpPr>
        <p:spPr>
          <a:xfrm flipH="1">
            <a:off x="8222722" y="2845282"/>
            <a:ext cx="651968" cy="540778"/>
          </a:xfrm>
          <a:prstGeom prst="straightConnector1">
            <a:avLst/>
          </a:prstGeom>
          <a:noFill/>
          <a:ln cap="flat" cmpd="sng" w="19050">
            <a:solidFill>
              <a:srgbClr val="0070C0"/>
            </a:solidFill>
            <a:prstDash val="solid"/>
            <a:miter lim="8000"/>
            <a:headEnd len="sm" w="sm" type="none"/>
            <a:tailEnd len="med" w="med" type="triangle"/>
          </a:ln>
        </p:spPr>
      </p:cxnSp>
      <p:sp>
        <p:nvSpPr>
          <p:cNvPr id="1874" name="Google Shape;1874;p162"/>
          <p:cNvSpPr txBox="1"/>
          <p:nvPr/>
        </p:nvSpPr>
        <p:spPr>
          <a:xfrm>
            <a:off x="10094021" y="3362090"/>
            <a:ext cx="517139" cy="320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x 1/3</a:t>
            </a:r>
            <a:endParaRPr/>
          </a:p>
        </p:txBody>
      </p:sp>
      <p:cxnSp>
        <p:nvCxnSpPr>
          <p:cNvPr id="1875" name="Google Shape;1875;p162"/>
          <p:cNvCxnSpPr/>
          <p:nvPr/>
        </p:nvCxnSpPr>
        <p:spPr>
          <a:xfrm>
            <a:off x="10041528" y="3396860"/>
            <a:ext cx="1" cy="253625"/>
          </a:xfrm>
          <a:prstGeom prst="straightConnector1">
            <a:avLst/>
          </a:prstGeom>
          <a:noFill/>
          <a:ln cap="flat" cmpd="sng" w="19050">
            <a:solidFill>
              <a:srgbClr val="000000"/>
            </a:solidFill>
            <a:prstDash val="solid"/>
            <a:miter lim="8000"/>
            <a:headEnd len="sm" w="sm" type="none"/>
            <a:tailEnd len="med" w="med" type="triangle"/>
          </a:ln>
        </p:spPr>
      </p:cxnSp>
      <p:cxnSp>
        <p:nvCxnSpPr>
          <p:cNvPr id="1876" name="Google Shape;1876;p162"/>
          <p:cNvCxnSpPr/>
          <p:nvPr/>
        </p:nvCxnSpPr>
        <p:spPr>
          <a:xfrm rot="10800000">
            <a:off x="10227501" y="4958694"/>
            <a:ext cx="62656" cy="449904"/>
          </a:xfrm>
          <a:prstGeom prst="straightConnector1">
            <a:avLst/>
          </a:prstGeom>
          <a:noFill/>
          <a:ln cap="flat" cmpd="sng" w="19050">
            <a:solidFill>
              <a:srgbClr val="0070C0"/>
            </a:solidFill>
            <a:prstDash val="solid"/>
            <a:miter lim="8000"/>
            <a:headEnd len="sm" w="sm" type="none"/>
            <a:tailEnd len="med" w="med" type="triangle"/>
          </a:ln>
        </p:spPr>
      </p:cxnSp>
      <p:sp>
        <p:nvSpPr>
          <p:cNvPr id="1877" name="Google Shape;1877;p162"/>
          <p:cNvSpPr/>
          <p:nvPr/>
        </p:nvSpPr>
        <p:spPr>
          <a:xfrm>
            <a:off x="256559" y="2570069"/>
            <a:ext cx="2971156" cy="1250370"/>
          </a:xfrm>
          <a:prstGeom prst="roundRect">
            <a:avLst>
              <a:gd fmla="val 4167" name="adj"/>
            </a:avLst>
          </a:prstGeom>
          <a:noFill/>
          <a:ln cap="flat" cmpd="sng" w="19050">
            <a:solidFill>
              <a:srgbClr val="0070C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1" name="Shape 1881"/>
        <p:cNvGrpSpPr/>
        <p:nvPr/>
      </p:nvGrpSpPr>
      <p:grpSpPr>
        <a:xfrm>
          <a:off x="0" y="0"/>
          <a:ext cx="0" cy="0"/>
          <a:chOff x="0" y="0"/>
          <a:chExt cx="0" cy="0"/>
        </a:xfrm>
      </p:grpSpPr>
      <p:sp>
        <p:nvSpPr>
          <p:cNvPr id="1882" name="Google Shape;1882;p16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b="1" lang="en-US" sz="4180"/>
              <a:t>Fiscal &amp; social narratives increase uncertainty</a:t>
            </a:r>
            <a:r>
              <a:rPr b="0" lang="en-US"/>
              <a:t> of inflation expectations</a:t>
            </a:r>
            <a:endParaRPr/>
          </a:p>
        </p:txBody>
      </p:sp>
      <p:sp>
        <p:nvSpPr>
          <p:cNvPr id="1883" name="Google Shape;1883;p163"/>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pic>
        <p:nvPicPr>
          <p:cNvPr descr="Picture 4" id="1884" name="Google Shape;1884;p163"/>
          <p:cNvPicPr preferRelativeResize="0"/>
          <p:nvPr/>
        </p:nvPicPr>
        <p:blipFill rotWithShape="1">
          <a:blip r:embed="rId3">
            <a:alphaModFix/>
          </a:blip>
          <a:srcRect b="0" l="0" r="0" t="0"/>
          <a:stretch/>
        </p:blipFill>
        <p:spPr>
          <a:xfrm>
            <a:off x="2209800" y="1880960"/>
            <a:ext cx="7772400" cy="322730"/>
          </a:xfrm>
          <a:prstGeom prst="rect">
            <a:avLst/>
          </a:prstGeom>
          <a:noFill/>
          <a:ln>
            <a:noFill/>
          </a:ln>
        </p:spPr>
      </p:pic>
      <p:grpSp>
        <p:nvGrpSpPr>
          <p:cNvPr id="1885" name="Google Shape;1885;p163"/>
          <p:cNvGrpSpPr/>
          <p:nvPr/>
        </p:nvGrpSpPr>
        <p:grpSpPr>
          <a:xfrm>
            <a:off x="3581401" y="2289016"/>
            <a:ext cx="4585573" cy="4465331"/>
            <a:chOff x="0" y="-2"/>
            <a:chExt cx="4585571" cy="4465329"/>
          </a:xfrm>
        </p:grpSpPr>
        <p:grpSp>
          <p:nvGrpSpPr>
            <p:cNvPr id="1886" name="Google Shape;1886;p163"/>
            <p:cNvGrpSpPr/>
            <p:nvPr/>
          </p:nvGrpSpPr>
          <p:grpSpPr>
            <a:xfrm>
              <a:off x="0" y="-2"/>
              <a:ext cx="4585570" cy="3873425"/>
              <a:chOff x="0" y="-1"/>
              <a:chExt cx="4585569" cy="3873424"/>
            </a:xfrm>
          </p:grpSpPr>
          <p:pic>
            <p:nvPicPr>
              <p:cNvPr descr="Picture 8" id="1887" name="Google Shape;1887;p163"/>
              <p:cNvPicPr preferRelativeResize="0"/>
              <p:nvPr/>
            </p:nvPicPr>
            <p:blipFill rotWithShape="1">
              <a:blip r:embed="rId4">
                <a:alphaModFix/>
              </a:blip>
              <a:srcRect b="64136" l="0" r="0" t="0"/>
              <a:stretch/>
            </p:blipFill>
            <p:spPr>
              <a:xfrm>
                <a:off x="0" y="-1"/>
                <a:ext cx="4585569" cy="2037864"/>
              </a:xfrm>
              <a:prstGeom prst="rect">
                <a:avLst/>
              </a:prstGeom>
              <a:noFill/>
              <a:ln>
                <a:noFill/>
              </a:ln>
            </p:spPr>
          </p:pic>
          <p:pic>
            <p:nvPicPr>
              <p:cNvPr descr="Picture 11" id="1888" name="Google Shape;1888;p163"/>
              <p:cNvPicPr preferRelativeResize="0"/>
              <p:nvPr/>
            </p:nvPicPr>
            <p:blipFill rotWithShape="1">
              <a:blip r:embed="rId4">
                <a:alphaModFix/>
              </a:blip>
              <a:srcRect b="0" l="0" r="0" t="68558"/>
              <a:stretch/>
            </p:blipFill>
            <p:spPr>
              <a:xfrm>
                <a:off x="0" y="2086806"/>
                <a:ext cx="4585569" cy="1786617"/>
              </a:xfrm>
              <a:prstGeom prst="rect">
                <a:avLst/>
              </a:prstGeom>
              <a:noFill/>
              <a:ln>
                <a:noFill/>
              </a:ln>
            </p:spPr>
          </p:pic>
        </p:grpSp>
        <p:pic>
          <p:nvPicPr>
            <p:cNvPr descr="Picture 5" id="1889" name="Google Shape;1889;p163"/>
            <p:cNvPicPr preferRelativeResize="0"/>
            <p:nvPr/>
          </p:nvPicPr>
          <p:blipFill rotWithShape="1">
            <a:blip r:embed="rId5">
              <a:alphaModFix/>
            </a:blip>
            <a:srcRect b="0" l="0" r="0" t="0"/>
            <a:stretch/>
          </p:blipFill>
          <p:spPr>
            <a:xfrm>
              <a:off x="6263" y="4017597"/>
              <a:ext cx="4579308" cy="447730"/>
            </a:xfrm>
            <a:prstGeom prst="rect">
              <a:avLst/>
            </a:prstGeom>
            <a:noFill/>
            <a:ln>
              <a:noFill/>
            </a:ln>
          </p:spPr>
        </p:pic>
      </p:grpSp>
      <p:sp>
        <p:nvSpPr>
          <p:cNvPr id="1890" name="Google Shape;1890;p163"/>
          <p:cNvSpPr/>
          <p:nvPr/>
        </p:nvSpPr>
        <p:spPr>
          <a:xfrm>
            <a:off x="7365303" y="2568814"/>
            <a:ext cx="801667" cy="4115084"/>
          </a:xfrm>
          <a:prstGeom prst="rect">
            <a:avLst/>
          </a:prstGeom>
          <a:solidFill>
            <a:srgbClr val="FFC500">
              <a:alpha val="34118"/>
            </a:srgbClr>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891" name="Google Shape;1891;p163"/>
          <p:cNvGrpSpPr/>
          <p:nvPr/>
        </p:nvGrpSpPr>
        <p:grpSpPr>
          <a:xfrm>
            <a:off x="8505485" y="5105270"/>
            <a:ext cx="3090054" cy="1246497"/>
            <a:chOff x="0" y="0"/>
            <a:chExt cx="3090053" cy="1246496"/>
          </a:xfrm>
        </p:grpSpPr>
        <p:sp>
          <p:nvSpPr>
            <p:cNvPr id="1892" name="Google Shape;1892;p163"/>
            <p:cNvSpPr/>
            <p:nvPr/>
          </p:nvSpPr>
          <p:spPr>
            <a:xfrm>
              <a:off x="5477" y="0"/>
              <a:ext cx="3081354" cy="1246496"/>
            </a:xfrm>
            <a:prstGeom prst="roundRect">
              <a:avLst>
                <a:gd fmla="val 4167" name="adj"/>
              </a:avLst>
            </a:prstGeom>
            <a:noFill/>
            <a:ln cap="flat" cmpd="sng" w="19050">
              <a:solidFill>
                <a:srgbClr val="0070C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3" name="Google Shape;1893;p163"/>
            <p:cNvSpPr txBox="1"/>
            <p:nvPr/>
          </p:nvSpPr>
          <p:spPr>
            <a:xfrm>
              <a:off x="0" y="4583"/>
              <a:ext cx="3090053" cy="1234441"/>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Coefficients are</a:t>
              </a:r>
              <a:endParaRPr/>
            </a:p>
            <a:p>
              <a:pPr indent="0" lvl="0" marL="0" marR="0" rtl="0" algn="ctr">
                <a:lnSpc>
                  <a:spcPct val="100000"/>
                </a:lnSpc>
                <a:spcBef>
                  <a:spcPts val="0"/>
                </a:spcBef>
                <a:spcAft>
                  <a:spcPts val="0"/>
                </a:spcAft>
                <a:buClr>
                  <a:srgbClr val="C00000"/>
                </a:buClr>
                <a:buSzPts val="1500"/>
                <a:buFont typeface="Arial"/>
                <a:buNone/>
              </a:pPr>
              <a:r>
                <a:rPr b="0" i="0" lang="en-US" sz="1500" u="none" cap="none" strike="noStrike">
                  <a:solidFill>
                    <a:srgbClr val="C00000"/>
                  </a:solidFill>
                  <a:latin typeface="Arial"/>
                  <a:ea typeface="Arial"/>
                  <a:cs typeface="Arial"/>
                  <a:sym typeface="Arial"/>
                </a:rPr>
                <a:t>the shift in uncertainty of expected inflation (in SD terms) per SD increase in the share of a narrative’s media presence</a:t>
              </a:r>
              <a:endParaRPr/>
            </a:p>
          </p:txBody>
        </p:sp>
      </p:grpSp>
      <p:grpSp>
        <p:nvGrpSpPr>
          <p:cNvPr id="1894" name="Google Shape;1894;p163"/>
          <p:cNvGrpSpPr/>
          <p:nvPr/>
        </p:nvGrpSpPr>
        <p:grpSpPr>
          <a:xfrm>
            <a:off x="8876256" y="3295353"/>
            <a:ext cx="2981197" cy="846028"/>
            <a:chOff x="0" y="0"/>
            <a:chExt cx="2981195" cy="846026"/>
          </a:xfrm>
        </p:grpSpPr>
        <p:sp>
          <p:nvSpPr>
            <p:cNvPr id="1895" name="Google Shape;1895;p163"/>
            <p:cNvSpPr/>
            <p:nvPr/>
          </p:nvSpPr>
          <p:spPr>
            <a:xfrm>
              <a:off x="0" y="0"/>
              <a:ext cx="2981195" cy="846026"/>
            </a:xfrm>
            <a:prstGeom prst="roundRect">
              <a:avLst>
                <a:gd fmla="val 4167" name="adj"/>
              </a:avLst>
            </a:prstGeom>
            <a:noFill/>
            <a:ln cap="flat" cmpd="sng" w="19050">
              <a:solidFill>
                <a:srgbClr val="0070C0"/>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6" name="Google Shape;1896;p163"/>
            <p:cNvSpPr txBox="1"/>
            <p:nvPr/>
          </p:nvSpPr>
          <p:spPr>
            <a:xfrm>
              <a:off x="105836" y="30597"/>
              <a:ext cx="2769523" cy="7772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Now, narrative coefficients are commensurate with realized inflation.</a:t>
              </a:r>
              <a:endParaRPr/>
            </a:p>
          </p:txBody>
        </p:sp>
      </p:grpSp>
      <p:cxnSp>
        <p:nvCxnSpPr>
          <p:cNvPr id="1897" name="Google Shape;1897;p163"/>
          <p:cNvCxnSpPr/>
          <p:nvPr/>
        </p:nvCxnSpPr>
        <p:spPr>
          <a:xfrm flipH="1">
            <a:off x="8070707" y="3882622"/>
            <a:ext cx="801449" cy="282099"/>
          </a:xfrm>
          <a:prstGeom prst="straightConnector1">
            <a:avLst/>
          </a:prstGeom>
          <a:noFill/>
          <a:ln cap="flat" cmpd="sng" w="19050">
            <a:solidFill>
              <a:srgbClr val="0070C0"/>
            </a:solidFill>
            <a:prstDash val="solid"/>
            <a:miter lim="8000"/>
            <a:headEnd len="sm" w="sm" type="none"/>
            <a:tailEnd len="med" w="med" type="triangle"/>
          </a:ln>
        </p:spPr>
      </p:cxnSp>
      <p:cxnSp>
        <p:nvCxnSpPr>
          <p:cNvPr id="1898" name="Google Shape;1898;p163"/>
          <p:cNvCxnSpPr/>
          <p:nvPr/>
        </p:nvCxnSpPr>
        <p:spPr>
          <a:xfrm rot="10800000">
            <a:off x="8123128" y="3288082"/>
            <a:ext cx="764202" cy="324353"/>
          </a:xfrm>
          <a:prstGeom prst="straightConnector1">
            <a:avLst/>
          </a:prstGeom>
          <a:noFill/>
          <a:ln cap="flat" cmpd="sng" w="19050">
            <a:solidFill>
              <a:srgbClr val="0070C0"/>
            </a:solidFill>
            <a:prstDash val="solid"/>
            <a:miter lim="8000"/>
            <a:headEnd len="sm" w="sm" type="none"/>
            <a:tailEnd len="med" w="med" type="triangle"/>
          </a:ln>
        </p:spPr>
      </p:cxnSp>
      <p:sp>
        <p:nvSpPr>
          <p:cNvPr id="1899" name="Google Shape;1899;p163"/>
          <p:cNvSpPr txBox="1"/>
          <p:nvPr/>
        </p:nvSpPr>
        <p:spPr>
          <a:xfrm>
            <a:off x="8561535" y="3532946"/>
            <a:ext cx="257484" cy="4216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3" name="Shape 1903"/>
        <p:cNvGrpSpPr/>
        <p:nvPr/>
      </p:nvGrpSpPr>
      <p:grpSpPr>
        <a:xfrm>
          <a:off x="0" y="0"/>
          <a:ext cx="0" cy="0"/>
          <a:chOff x="0" y="0"/>
          <a:chExt cx="0" cy="0"/>
        </a:xfrm>
      </p:grpSpPr>
      <p:sp>
        <p:nvSpPr>
          <p:cNvPr id="1904" name="Google Shape;1904;p16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Prior Work</a:t>
            </a:r>
            <a:endParaRPr/>
          </a:p>
        </p:txBody>
      </p:sp>
      <p:sp>
        <p:nvSpPr>
          <p:cNvPr id="1905" name="Google Shape;1905;p164"/>
          <p:cNvSpPr txBox="1"/>
          <p:nvPr>
            <p:ph idx="1" type="body"/>
          </p:nvPr>
        </p:nvSpPr>
        <p:spPr>
          <a:xfrm>
            <a:off x="838200" y="1704330"/>
            <a:ext cx="10515600" cy="4739284"/>
          </a:xfrm>
          <a:prstGeom prst="rect">
            <a:avLst/>
          </a:prstGeom>
          <a:noFill/>
          <a:ln>
            <a:noFill/>
          </a:ln>
        </p:spPr>
        <p:txBody>
          <a:bodyPr anchorCtr="0" anchor="t" bIns="45700" lIns="45700" spcFirstLastPara="1" rIns="45700" wrap="square" tIns="45700">
            <a:normAutofit/>
          </a:bodyPr>
          <a:lstStyle/>
          <a:p>
            <a:pPr indent="-157734" lvl="0" marL="157734" rtl="0" algn="l">
              <a:lnSpc>
                <a:spcPct val="90000"/>
              </a:lnSpc>
              <a:spcBef>
                <a:spcPts val="0"/>
              </a:spcBef>
              <a:spcAft>
                <a:spcPts val="0"/>
              </a:spcAft>
              <a:buClr>
                <a:srgbClr val="000000"/>
              </a:buClr>
              <a:buSzPts val="1932"/>
              <a:buChar char="•"/>
            </a:pPr>
            <a:r>
              <a:rPr lang="en-US" sz="1932"/>
              <a:t>Ballot measures are hard to understand</a:t>
            </a:r>
            <a:endParaRPr/>
          </a:p>
          <a:p>
            <a:pPr indent="-157734" lvl="1" marL="473201" rtl="0" algn="l">
              <a:lnSpc>
                <a:spcPct val="90000"/>
              </a:lnSpc>
              <a:spcBef>
                <a:spcPts val="600"/>
              </a:spcBef>
              <a:spcAft>
                <a:spcPts val="0"/>
              </a:spcAft>
              <a:buClr>
                <a:srgbClr val="000000"/>
              </a:buClr>
              <a:buSzPts val="1932"/>
              <a:buChar char="•"/>
            </a:pPr>
            <a:r>
              <a:rPr lang="en-US" sz="1932"/>
              <a:t>Dense legal language, often first seen in the booth</a:t>
            </a:r>
            <a:endParaRPr/>
          </a:p>
          <a:p>
            <a:pPr indent="-157734" lvl="1" marL="473201" rtl="0" algn="l">
              <a:lnSpc>
                <a:spcPct val="90000"/>
              </a:lnSpc>
              <a:spcBef>
                <a:spcPts val="600"/>
              </a:spcBef>
              <a:spcAft>
                <a:spcPts val="0"/>
              </a:spcAft>
              <a:buClr>
                <a:srgbClr val="000000"/>
              </a:buClr>
              <a:buSzPts val="1932"/>
              <a:buChar char="•"/>
            </a:pPr>
            <a:r>
              <a:rPr lang="en-US" sz="1932"/>
              <a:t>Low knowledge → abstention or uninformed decisions</a:t>
            </a:r>
            <a:endParaRPr/>
          </a:p>
          <a:p>
            <a:pPr indent="-157734" lvl="1" marL="473201" rtl="0" algn="l">
              <a:lnSpc>
                <a:spcPct val="90000"/>
              </a:lnSpc>
              <a:spcBef>
                <a:spcPts val="600"/>
              </a:spcBef>
              <a:spcAft>
                <a:spcPts val="0"/>
              </a:spcAft>
              <a:buClr>
                <a:srgbClr val="000000"/>
              </a:buClr>
              <a:buSzPts val="1932"/>
              <a:buChar char="•"/>
            </a:pPr>
            <a:r>
              <a:rPr lang="en-US" sz="1932"/>
              <a:t>Affects participation, especially among underrepresented voters (Reichert, 2016)</a:t>
            </a:r>
            <a:endParaRPr/>
          </a:p>
          <a:p>
            <a:pPr indent="-157734" lvl="0" marL="157734" rtl="0" algn="l">
              <a:lnSpc>
                <a:spcPct val="90000"/>
              </a:lnSpc>
              <a:spcBef>
                <a:spcPts val="600"/>
              </a:spcBef>
              <a:spcAft>
                <a:spcPts val="0"/>
              </a:spcAft>
              <a:buClr>
                <a:srgbClr val="000000"/>
              </a:buClr>
              <a:buSzPts val="1932"/>
              <a:buChar char="•"/>
            </a:pPr>
            <a:r>
              <a:rPr lang="en-US" sz="1932"/>
              <a:t>AI chatbots for information delivery</a:t>
            </a:r>
            <a:endParaRPr/>
          </a:p>
          <a:p>
            <a:pPr indent="-157734" lvl="1" marL="473201" rtl="0" algn="l">
              <a:lnSpc>
                <a:spcPct val="90000"/>
              </a:lnSpc>
              <a:spcBef>
                <a:spcPts val="600"/>
              </a:spcBef>
              <a:spcAft>
                <a:spcPts val="0"/>
              </a:spcAft>
              <a:buClr>
                <a:srgbClr val="000000"/>
              </a:buClr>
              <a:buSzPts val="1932"/>
              <a:buChar char="•"/>
            </a:pPr>
            <a:r>
              <a:rPr lang="en-US" sz="1932"/>
              <a:t>VAA chatbot found intuitive and informative for political decisions (Zhu et al., 2025)</a:t>
            </a:r>
            <a:endParaRPr/>
          </a:p>
          <a:p>
            <a:pPr indent="-157734" lvl="1" marL="473201" rtl="0" algn="l">
              <a:lnSpc>
                <a:spcPct val="90000"/>
              </a:lnSpc>
              <a:spcBef>
                <a:spcPts val="600"/>
              </a:spcBef>
              <a:spcAft>
                <a:spcPts val="0"/>
              </a:spcAft>
              <a:buClr>
                <a:srgbClr val="000000"/>
              </a:buClr>
              <a:buSzPts val="1932"/>
              <a:buChar char="•"/>
            </a:pPr>
            <a:r>
              <a:rPr lang="en-US" sz="1932"/>
              <a:t>AI dialogue reduced conspiracy beliefs through tailored engagement (Costello et al., 2025)</a:t>
            </a:r>
            <a:endParaRPr/>
          </a:p>
          <a:p>
            <a:pPr indent="-157734" lvl="1" marL="473201" rtl="0" algn="l">
              <a:lnSpc>
                <a:spcPct val="90000"/>
              </a:lnSpc>
              <a:spcBef>
                <a:spcPts val="600"/>
              </a:spcBef>
              <a:spcAft>
                <a:spcPts val="0"/>
              </a:spcAft>
              <a:buClr>
                <a:srgbClr val="000000"/>
              </a:buClr>
              <a:buSzPts val="1932"/>
              <a:buChar char="•"/>
            </a:pPr>
            <a:r>
              <a:rPr lang="en-US" sz="1932"/>
              <a:t>Open question: does interactivity improve comprehension, or just engagement?</a:t>
            </a:r>
            <a:endParaRPr/>
          </a:p>
          <a:p>
            <a:pPr indent="-157734" lvl="0" marL="157734" rtl="0" algn="l">
              <a:lnSpc>
                <a:spcPct val="90000"/>
              </a:lnSpc>
              <a:spcBef>
                <a:spcPts val="600"/>
              </a:spcBef>
              <a:spcAft>
                <a:spcPts val="0"/>
              </a:spcAft>
              <a:buClr>
                <a:srgbClr val="000000"/>
              </a:buClr>
              <a:buSzPts val="1932"/>
              <a:buChar char="•"/>
            </a:pPr>
            <a:r>
              <a:rPr lang="en-US" sz="1932"/>
              <a:t>Manner of interaction matters</a:t>
            </a:r>
            <a:endParaRPr/>
          </a:p>
          <a:p>
            <a:pPr indent="-157734" lvl="1" marL="473201" rtl="0" algn="l">
              <a:lnSpc>
                <a:spcPct val="90000"/>
              </a:lnSpc>
              <a:spcBef>
                <a:spcPts val="600"/>
              </a:spcBef>
              <a:spcAft>
                <a:spcPts val="0"/>
              </a:spcAft>
              <a:buClr>
                <a:srgbClr val="000000"/>
              </a:buClr>
              <a:buSzPts val="1932"/>
              <a:buChar char="•"/>
            </a:pPr>
            <a:r>
              <a:rPr lang="en-US" sz="1932"/>
              <a:t>Deliberation can increase openness, but exposure to opposing views can backfire (Bail et al., 2018)</a:t>
            </a:r>
            <a:endParaRPr/>
          </a:p>
          <a:p>
            <a:pPr indent="-157734" lvl="1" marL="473201" rtl="0" algn="l">
              <a:lnSpc>
                <a:spcPct val="90000"/>
              </a:lnSpc>
              <a:spcBef>
                <a:spcPts val="600"/>
              </a:spcBef>
              <a:spcAft>
                <a:spcPts val="0"/>
              </a:spcAft>
              <a:buClr>
                <a:srgbClr val="000000"/>
              </a:buClr>
              <a:buSzPts val="1932"/>
              <a:buChar char="•"/>
            </a:pPr>
            <a:r>
              <a:rPr lang="en-US" sz="1932"/>
              <a:t>Socratic questioning more effective than direct challenges (Chiang et al., 2024)</a:t>
            </a:r>
            <a:endParaRPr/>
          </a:p>
          <a:p>
            <a:pPr indent="-157734" lvl="1" marL="473201" rtl="0" algn="l">
              <a:lnSpc>
                <a:spcPct val="90000"/>
              </a:lnSpc>
              <a:spcBef>
                <a:spcPts val="600"/>
              </a:spcBef>
              <a:spcAft>
                <a:spcPts val="0"/>
              </a:spcAft>
              <a:buClr>
                <a:srgbClr val="000000"/>
              </a:buClr>
              <a:buSzPts val="1932"/>
              <a:buChar char="•"/>
            </a:pPr>
            <a:r>
              <a:rPr lang="en-US" sz="1932"/>
              <a:t>Suggests chatbot persona may affect outcomes</a:t>
            </a:r>
            <a:endParaRPr/>
          </a:p>
        </p:txBody>
      </p:sp>
      <p:sp>
        <p:nvSpPr>
          <p:cNvPr id="1906" name="Google Shape;1906;p164"/>
          <p:cNvSpPr txBox="1"/>
          <p:nvPr>
            <p:ph idx="12" type="sldNum"/>
          </p:nvPr>
        </p:nvSpPr>
        <p:spPr>
          <a:xfrm>
            <a:off x="11080144" y="6404292"/>
            <a:ext cx="273657"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0" name="Shape 1910"/>
        <p:cNvGrpSpPr/>
        <p:nvPr/>
      </p:nvGrpSpPr>
      <p:grpSpPr>
        <a:xfrm>
          <a:off x="0" y="0"/>
          <a:ext cx="0" cy="0"/>
          <a:chOff x="0" y="0"/>
          <a:chExt cx="0" cy="0"/>
        </a:xfrm>
      </p:grpSpPr>
      <p:sp>
        <p:nvSpPr>
          <p:cNvPr id="1911" name="Google Shape;1911;p16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People increasingly use AI for synthesis</a:t>
            </a:r>
            <a:endParaRPr/>
          </a:p>
        </p:txBody>
      </p:sp>
      <p:sp>
        <p:nvSpPr>
          <p:cNvPr id="1912" name="Google Shape;1912;p165"/>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6313" lvl="0" marL="226313" rtl="0" algn="l">
              <a:lnSpc>
                <a:spcPct val="90000"/>
              </a:lnSpc>
              <a:spcBef>
                <a:spcPts val="0"/>
              </a:spcBef>
              <a:spcAft>
                <a:spcPts val="0"/>
              </a:spcAft>
              <a:buClr>
                <a:srgbClr val="000000"/>
              </a:buClr>
              <a:buSzPts val="2772"/>
              <a:buChar char="•"/>
            </a:pPr>
            <a:r>
              <a:rPr lang="en-US" sz="2772"/>
              <a:t>As we saw in this previous work, LLMs can be extremely useful for making sense of large quantities of data.</a:t>
            </a:r>
            <a:endParaRPr/>
          </a:p>
          <a:p>
            <a:pPr indent="-226313" lvl="1" marL="678941" rtl="0" algn="l">
              <a:lnSpc>
                <a:spcPct val="90000"/>
              </a:lnSpc>
              <a:spcBef>
                <a:spcPts val="900"/>
              </a:spcBef>
              <a:spcAft>
                <a:spcPts val="0"/>
              </a:spcAft>
              <a:buClr>
                <a:srgbClr val="000000"/>
              </a:buClr>
              <a:buSzPts val="2772"/>
              <a:buChar char="•"/>
            </a:pPr>
            <a:r>
              <a:rPr lang="en-US" sz="2772"/>
              <a:t>But we have to be careful that the semantics of our task are clear (we are properly communicating what we care about)</a:t>
            </a:r>
            <a:endParaRPr/>
          </a:p>
          <a:p>
            <a:pPr indent="-226313" lvl="0" marL="226313" rtl="0" algn="l">
              <a:lnSpc>
                <a:spcPct val="90000"/>
              </a:lnSpc>
              <a:spcBef>
                <a:spcPts val="900"/>
              </a:spcBef>
              <a:spcAft>
                <a:spcPts val="0"/>
              </a:spcAft>
              <a:buClr>
                <a:srgbClr val="000000"/>
              </a:buClr>
              <a:buSzPts val="2772"/>
              <a:buChar char="•"/>
            </a:pPr>
            <a:r>
              <a:rPr lang="en-US" sz="2772"/>
              <a:t>As ppl increasingly use AI to summarize important and sometimes technical documents, often in high stakes settings (such as law, etc) in this work we study how we can effectively evaluate models in these settings to help provide guidance/signal on appropriate use </a:t>
            </a:r>
            <a:endParaRPr/>
          </a:p>
          <a:p>
            <a:pPr indent="-226313" lvl="0" marL="226313" rtl="0" algn="l">
              <a:lnSpc>
                <a:spcPct val="90000"/>
              </a:lnSpc>
              <a:spcBef>
                <a:spcPts val="900"/>
              </a:spcBef>
              <a:spcAft>
                <a:spcPts val="0"/>
              </a:spcAft>
              <a:buClr>
                <a:srgbClr val="000000"/>
              </a:buClr>
              <a:buSzPts val="2772"/>
              <a:buChar char="•"/>
            </a:pPr>
            <a:r>
              <a:rPr lang="en-US" sz="2772"/>
              <a:t>We look at legal domain</a:t>
            </a:r>
            <a:endParaRPr/>
          </a:p>
        </p:txBody>
      </p:sp>
      <p:sp>
        <p:nvSpPr>
          <p:cNvPr id="1913" name="Google Shape;1913;p165"/>
          <p:cNvSpPr txBox="1"/>
          <p:nvPr>
            <p:ph idx="12" type="sldNum"/>
          </p:nvPr>
        </p:nvSpPr>
        <p:spPr>
          <a:xfrm>
            <a:off x="11148010" y="6404292"/>
            <a:ext cx="205791"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7" name="Shape 1917"/>
        <p:cNvGrpSpPr/>
        <p:nvPr/>
      </p:nvGrpSpPr>
      <p:grpSpPr>
        <a:xfrm>
          <a:off x="0" y="0"/>
          <a:ext cx="0" cy="0"/>
          <a:chOff x="0" y="0"/>
          <a:chExt cx="0" cy="0"/>
        </a:xfrm>
      </p:grpSpPr>
      <p:sp>
        <p:nvSpPr>
          <p:cNvPr id="1918" name="Google Shape;1918;p16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rPr b="0" i="0" lang="en-US" sz="4400" u="none" cap="none" strike="noStrike">
                <a:solidFill>
                  <a:srgbClr val="000000"/>
                </a:solidFill>
                <a:latin typeface="Play"/>
                <a:ea typeface="Play"/>
                <a:cs typeface="Play"/>
                <a:sym typeface="Play"/>
              </a:rPr>
              <a:t>People increasingly use AI for synthesis</a:t>
            </a:r>
            <a:endParaRPr/>
          </a:p>
        </p:txBody>
      </p:sp>
      <p:sp>
        <p:nvSpPr>
          <p:cNvPr id="1919" name="Google Shape;1919;p166"/>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Some concise bullets of before</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Summaries cool and useful</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Maybe some pics of different summaries in the wild</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Google summary</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Wiki</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Cliff notes</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Ft</a:t>
            </a:r>
            <a:endParaRPr/>
          </a:p>
        </p:txBody>
      </p:sp>
      <p:sp>
        <p:nvSpPr>
          <p:cNvPr id="1920" name="Google Shape;1920;p166"/>
          <p:cNvSpPr txBox="1"/>
          <p:nvPr>
            <p:ph idx="12" type="sldNum"/>
          </p:nvPr>
        </p:nvSpPr>
        <p:spPr>
          <a:xfrm>
            <a:off x="11148010" y="6404292"/>
            <a:ext cx="205791"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24" name="Shape 1924"/>
        <p:cNvGrpSpPr/>
        <p:nvPr/>
      </p:nvGrpSpPr>
      <p:grpSpPr>
        <a:xfrm>
          <a:off x="0" y="0"/>
          <a:ext cx="0" cy="0"/>
          <a:chOff x="0" y="0"/>
          <a:chExt cx="0" cy="0"/>
        </a:xfrm>
      </p:grpSpPr>
      <p:sp>
        <p:nvSpPr>
          <p:cNvPr id="1925" name="Google Shape;1925;p16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Play"/>
              <a:buNone/>
            </a:pPr>
            <a:r>
              <a:t/>
            </a:r>
            <a:endParaRPr/>
          </a:p>
        </p:txBody>
      </p:sp>
      <p:sp>
        <p:nvSpPr>
          <p:cNvPr id="1926" name="Google Shape;1926;p167"/>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Summ quality varies by task</a:t>
            </a:r>
            <a:endParaRPr/>
          </a:p>
          <a:p>
            <a:pPr indent="-228600" lvl="0" marL="2286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But a good summary depends on what youre trying to get out of the doc/summary</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What youre trying to get out of the document could depend on your domain/setting. </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How to know if youre summaries are good? Whether to trust them?</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EVALUATION </a:t>
            </a:r>
            <a:endParaRPr/>
          </a:p>
        </p:txBody>
      </p:sp>
      <p:sp>
        <p:nvSpPr>
          <p:cNvPr id="1927" name="Google Shape;1927;p167"/>
          <p:cNvSpPr txBox="1"/>
          <p:nvPr>
            <p:ph idx="12" type="sldNum"/>
          </p:nvPr>
        </p:nvSpPr>
        <p:spPr>
          <a:xfrm>
            <a:off x="11148010" y="6404292"/>
            <a:ext cx="205791"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sz="1200">
                <a:solidFill>
                  <a:srgbClr val="757575"/>
                </a:solidFill>
              </a:rPr>
              <a:t>‹#›</a:t>
            </a:fld>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31" name="Shape 1931"/>
        <p:cNvGrpSpPr/>
        <p:nvPr/>
      </p:nvGrpSpPr>
      <p:grpSpPr>
        <a:xfrm>
          <a:off x="0" y="0"/>
          <a:ext cx="0" cy="0"/>
          <a:chOff x="0" y="0"/>
          <a:chExt cx="0" cy="0"/>
        </a:xfrm>
      </p:grpSpPr>
      <p:sp>
        <p:nvSpPr>
          <p:cNvPr id="1932" name="Google Shape;1932;p16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80"/>
              <a:buFont typeface="Play"/>
              <a:buNone/>
            </a:pPr>
            <a:r>
              <a:rPr lang="en-US" sz="4180"/>
              <a:t>But in some domains are generic evals not sufficient</a:t>
            </a:r>
            <a:endParaRPr/>
          </a:p>
        </p:txBody>
      </p:sp>
      <p:sp>
        <p:nvSpPr>
          <p:cNvPr id="1933" name="Google Shape;1933;p168"/>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But a good summary depends on what youre trying to get out of the doc/summary</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What youre trying to get out of the document could depend on your domain/setting. </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How to know if youre summaries are good? Whether to trust them?</a:t>
            </a:r>
            <a:endParaRPr/>
          </a:p>
          <a:p>
            <a:pPr indent="-228600" lvl="1" marL="685800" rtl="0" algn="l">
              <a:lnSpc>
                <a:spcPct val="90000"/>
              </a:lnSpc>
              <a:spcBef>
                <a:spcPts val="1000"/>
              </a:spcBef>
              <a:spcAft>
                <a:spcPts val="0"/>
              </a:spcAft>
              <a:buClr>
                <a:srgbClr val="000000"/>
              </a:buClr>
              <a:buSzPts val="2800"/>
              <a:buChar char="•"/>
            </a:pPr>
            <a:r>
              <a:rPr b="0" i="0" lang="en-US" sz="2800" u="none" cap="none" strike="noStrike">
                <a:solidFill>
                  <a:srgbClr val="000000"/>
                </a:solidFill>
                <a:latin typeface="Arial"/>
                <a:ea typeface="Arial"/>
                <a:cs typeface="Arial"/>
                <a:sym typeface="Arial"/>
              </a:rPr>
              <a:t>EVALUATION </a:t>
            </a:r>
            <a:endParaRPr/>
          </a:p>
        </p:txBody>
      </p:sp>
      <p:sp>
        <p:nvSpPr>
          <p:cNvPr id="1934" name="Google Shape;1934;p168"/>
          <p:cNvSpPr txBox="1"/>
          <p:nvPr>
            <p:ph idx="12" type="sldNum"/>
          </p:nvPr>
        </p:nvSpPr>
        <p:spPr>
          <a:xfrm>
            <a:off x="11148010" y="6404292"/>
            <a:ext cx="205791"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8" name="Shape 1938"/>
        <p:cNvGrpSpPr/>
        <p:nvPr/>
      </p:nvGrpSpPr>
      <p:grpSpPr>
        <a:xfrm>
          <a:off x="0" y="0"/>
          <a:ext cx="0" cy="0"/>
          <a:chOff x="0" y="0"/>
          <a:chExt cx="0" cy="0"/>
        </a:xfrm>
      </p:grpSpPr>
      <p:sp>
        <p:nvSpPr>
          <p:cNvPr id="1939" name="Google Shape;1939;p16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00"/>
              <a:buFont typeface="Play"/>
              <a:buNone/>
            </a:pPr>
            <a:r>
              <a:rPr lang="en-US"/>
              <a:t>LLMs excel at tasks with clear answers</a:t>
            </a:r>
            <a:endParaRPr/>
          </a:p>
          <a:p>
            <a:pPr indent="0" lvl="0" marL="0" rtl="0" algn="l">
              <a:lnSpc>
                <a:spcPct val="90000"/>
              </a:lnSpc>
              <a:spcBef>
                <a:spcPts val="0"/>
              </a:spcBef>
              <a:spcAft>
                <a:spcPts val="0"/>
              </a:spcAft>
              <a:buClr>
                <a:srgbClr val="000000"/>
              </a:buClr>
              <a:buSzPts val="4100"/>
              <a:buFont typeface="Play"/>
              <a:buNone/>
            </a:pPr>
            <a:r>
              <a:rPr lang="en-US"/>
              <a:t>But many language tasks are open-ended</a:t>
            </a:r>
            <a:endParaRPr/>
          </a:p>
        </p:txBody>
      </p:sp>
      <p:pic>
        <p:nvPicPr>
          <p:cNvPr descr="Picture 4" id="1940" name="Google Shape;1940;p169"/>
          <p:cNvPicPr preferRelativeResize="0"/>
          <p:nvPr/>
        </p:nvPicPr>
        <p:blipFill rotWithShape="1">
          <a:blip r:embed="rId3">
            <a:alphaModFix/>
          </a:blip>
          <a:srcRect b="0" l="0" r="0" t="0"/>
          <a:stretch/>
        </p:blipFill>
        <p:spPr>
          <a:xfrm>
            <a:off x="8454147" y="2017143"/>
            <a:ext cx="840445" cy="1325564"/>
          </a:xfrm>
          <a:prstGeom prst="rect">
            <a:avLst/>
          </a:prstGeom>
          <a:noFill/>
          <a:ln>
            <a:noFill/>
          </a:ln>
        </p:spPr>
      </p:pic>
      <p:pic>
        <p:nvPicPr>
          <p:cNvPr descr="Picture 6" id="1941" name="Google Shape;1941;p169"/>
          <p:cNvPicPr preferRelativeResize="0"/>
          <p:nvPr/>
        </p:nvPicPr>
        <p:blipFill rotWithShape="1">
          <a:blip r:embed="rId4">
            <a:alphaModFix/>
          </a:blip>
          <a:srcRect b="0" l="0" r="0" t="0"/>
          <a:stretch/>
        </p:blipFill>
        <p:spPr>
          <a:xfrm>
            <a:off x="6220600" y="5133220"/>
            <a:ext cx="827552" cy="1313382"/>
          </a:xfrm>
          <a:prstGeom prst="rect">
            <a:avLst/>
          </a:prstGeom>
          <a:noFill/>
          <a:ln>
            <a:noFill/>
          </a:ln>
        </p:spPr>
      </p:pic>
      <p:pic>
        <p:nvPicPr>
          <p:cNvPr descr="Picture 8" id="1942" name="Google Shape;1942;p169"/>
          <p:cNvPicPr preferRelativeResize="0"/>
          <p:nvPr/>
        </p:nvPicPr>
        <p:blipFill rotWithShape="1">
          <a:blip r:embed="rId5">
            <a:alphaModFix/>
          </a:blip>
          <a:srcRect b="0" l="0" r="0" t="0"/>
          <a:stretch/>
        </p:blipFill>
        <p:spPr>
          <a:xfrm>
            <a:off x="7631900" y="5111239"/>
            <a:ext cx="840445" cy="1340063"/>
          </a:xfrm>
          <a:prstGeom prst="rect">
            <a:avLst/>
          </a:prstGeom>
          <a:noFill/>
          <a:ln>
            <a:noFill/>
          </a:ln>
        </p:spPr>
      </p:pic>
      <p:pic>
        <p:nvPicPr>
          <p:cNvPr descr="Picture 12" id="1943" name="Google Shape;1943;p169"/>
          <p:cNvPicPr preferRelativeResize="0"/>
          <p:nvPr/>
        </p:nvPicPr>
        <p:blipFill rotWithShape="1">
          <a:blip r:embed="rId6">
            <a:alphaModFix/>
          </a:blip>
          <a:srcRect b="0" l="0" r="0" t="0"/>
          <a:stretch/>
        </p:blipFill>
        <p:spPr>
          <a:xfrm>
            <a:off x="10529154" y="5133220"/>
            <a:ext cx="866833" cy="1325563"/>
          </a:xfrm>
          <a:prstGeom prst="rect">
            <a:avLst/>
          </a:prstGeom>
          <a:noFill/>
          <a:ln>
            <a:noFill/>
          </a:ln>
        </p:spPr>
      </p:pic>
      <p:cxnSp>
        <p:nvCxnSpPr>
          <p:cNvPr id="1944" name="Google Shape;1944;p169"/>
          <p:cNvCxnSpPr/>
          <p:nvPr/>
        </p:nvCxnSpPr>
        <p:spPr>
          <a:xfrm>
            <a:off x="8874369" y="3397738"/>
            <a:ext cx="1" cy="234463"/>
          </a:xfrm>
          <a:prstGeom prst="straightConnector1">
            <a:avLst/>
          </a:prstGeom>
          <a:noFill/>
          <a:ln cap="flat" cmpd="sng" w="19050">
            <a:solidFill>
              <a:srgbClr val="000000"/>
            </a:solidFill>
            <a:prstDash val="solid"/>
            <a:miter lim="8000"/>
            <a:headEnd len="sm" w="sm" type="none"/>
            <a:tailEnd len="sm" w="sm" type="none"/>
          </a:ln>
        </p:spPr>
      </p:cxnSp>
      <p:cxnSp>
        <p:nvCxnSpPr>
          <p:cNvPr id="1945" name="Google Shape;1945;p169"/>
          <p:cNvCxnSpPr/>
          <p:nvPr/>
        </p:nvCxnSpPr>
        <p:spPr>
          <a:xfrm rot="10800000">
            <a:off x="6639796" y="3632200"/>
            <a:ext cx="2225880" cy="0"/>
          </a:xfrm>
          <a:prstGeom prst="straightConnector1">
            <a:avLst/>
          </a:prstGeom>
          <a:noFill/>
          <a:ln cap="flat" cmpd="sng" w="19050">
            <a:solidFill>
              <a:srgbClr val="000000"/>
            </a:solidFill>
            <a:prstDash val="solid"/>
            <a:miter lim="8000"/>
            <a:headEnd len="sm" w="sm" type="none"/>
            <a:tailEnd len="sm" w="sm" type="none"/>
          </a:ln>
        </p:spPr>
      </p:cxnSp>
      <p:cxnSp>
        <p:nvCxnSpPr>
          <p:cNvPr id="1946" name="Google Shape;1946;p169"/>
          <p:cNvCxnSpPr/>
          <p:nvPr/>
        </p:nvCxnSpPr>
        <p:spPr>
          <a:xfrm>
            <a:off x="8864834" y="3632199"/>
            <a:ext cx="2103194" cy="15149"/>
          </a:xfrm>
          <a:prstGeom prst="straightConnector1">
            <a:avLst/>
          </a:prstGeom>
          <a:noFill/>
          <a:ln cap="flat" cmpd="sng" w="19050">
            <a:solidFill>
              <a:srgbClr val="000000"/>
            </a:solidFill>
            <a:prstDash val="solid"/>
            <a:miter lim="8000"/>
            <a:headEnd len="sm" w="sm" type="none"/>
            <a:tailEnd len="sm" w="sm" type="none"/>
          </a:ln>
        </p:spPr>
      </p:cxnSp>
      <p:cxnSp>
        <p:nvCxnSpPr>
          <p:cNvPr id="1947" name="Google Shape;1947;p169"/>
          <p:cNvCxnSpPr/>
          <p:nvPr/>
        </p:nvCxnSpPr>
        <p:spPr>
          <a:xfrm flipH="1">
            <a:off x="6633327" y="3639804"/>
            <a:ext cx="6469" cy="437873"/>
          </a:xfrm>
          <a:prstGeom prst="straightConnector1">
            <a:avLst/>
          </a:prstGeom>
          <a:noFill/>
          <a:ln cap="flat" cmpd="sng" w="19050">
            <a:solidFill>
              <a:srgbClr val="000000"/>
            </a:solidFill>
            <a:prstDash val="solid"/>
            <a:miter lim="8000"/>
            <a:headEnd len="sm" w="sm" type="none"/>
            <a:tailEnd len="med" w="med" type="triangle"/>
          </a:ln>
        </p:spPr>
      </p:cxnSp>
      <p:cxnSp>
        <p:nvCxnSpPr>
          <p:cNvPr id="1948" name="Google Shape;1948;p169"/>
          <p:cNvCxnSpPr/>
          <p:nvPr/>
        </p:nvCxnSpPr>
        <p:spPr>
          <a:xfrm flipH="1">
            <a:off x="8064318" y="3635686"/>
            <a:ext cx="6469" cy="437873"/>
          </a:xfrm>
          <a:prstGeom prst="straightConnector1">
            <a:avLst/>
          </a:prstGeom>
          <a:noFill/>
          <a:ln cap="flat" cmpd="sng" w="19050">
            <a:solidFill>
              <a:srgbClr val="000000"/>
            </a:solidFill>
            <a:prstDash val="solid"/>
            <a:miter lim="8000"/>
            <a:headEnd len="sm" w="sm" type="none"/>
            <a:tailEnd len="med" w="med" type="triangle"/>
          </a:ln>
        </p:spPr>
      </p:cxnSp>
      <p:cxnSp>
        <p:nvCxnSpPr>
          <p:cNvPr id="1949" name="Google Shape;1949;p169"/>
          <p:cNvCxnSpPr/>
          <p:nvPr/>
        </p:nvCxnSpPr>
        <p:spPr>
          <a:xfrm flipH="1">
            <a:off x="9517680" y="3651528"/>
            <a:ext cx="6469" cy="437873"/>
          </a:xfrm>
          <a:prstGeom prst="straightConnector1">
            <a:avLst/>
          </a:prstGeom>
          <a:noFill/>
          <a:ln cap="flat" cmpd="sng" w="19050">
            <a:solidFill>
              <a:srgbClr val="000000"/>
            </a:solidFill>
            <a:prstDash val="solid"/>
            <a:miter lim="8000"/>
            <a:headEnd len="sm" w="sm" type="none"/>
            <a:tailEnd len="med" w="med" type="triangle"/>
          </a:ln>
        </p:spPr>
      </p:cxnSp>
      <p:cxnSp>
        <p:nvCxnSpPr>
          <p:cNvPr id="1950" name="Google Shape;1950;p169"/>
          <p:cNvCxnSpPr/>
          <p:nvPr/>
        </p:nvCxnSpPr>
        <p:spPr>
          <a:xfrm flipH="1">
            <a:off x="10961559" y="3647347"/>
            <a:ext cx="6469" cy="453996"/>
          </a:xfrm>
          <a:prstGeom prst="straightConnector1">
            <a:avLst/>
          </a:prstGeom>
          <a:noFill/>
          <a:ln cap="flat" cmpd="sng" w="19050">
            <a:solidFill>
              <a:srgbClr val="000000"/>
            </a:solidFill>
            <a:prstDash val="solid"/>
            <a:miter lim="8000"/>
            <a:headEnd len="sm" w="sm" type="none"/>
            <a:tailEnd len="med" w="med" type="triangle"/>
          </a:ln>
        </p:spPr>
      </p:cxnSp>
      <p:sp>
        <p:nvSpPr>
          <p:cNvPr id="1951" name="Google Shape;1951;p169"/>
          <p:cNvSpPr txBox="1"/>
          <p:nvPr/>
        </p:nvSpPr>
        <p:spPr>
          <a:xfrm>
            <a:off x="6464956" y="4276032"/>
            <a:ext cx="336743" cy="701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4285F5"/>
              </a:buClr>
              <a:buSzPts val="4000"/>
              <a:buFont typeface="Arial"/>
              <a:buNone/>
            </a:pPr>
            <a:r>
              <a:rPr b="0" i="0" lang="en-US" sz="4000" u="none" cap="none" strike="noStrike">
                <a:solidFill>
                  <a:srgbClr val="4285F5"/>
                </a:solidFill>
                <a:latin typeface="Arial"/>
                <a:ea typeface="Arial"/>
                <a:cs typeface="Arial"/>
                <a:sym typeface="Arial"/>
              </a:rPr>
              <a:t>?</a:t>
            </a:r>
            <a:endParaRPr/>
          </a:p>
        </p:txBody>
      </p:sp>
      <p:sp>
        <p:nvSpPr>
          <p:cNvPr id="1952" name="Google Shape;1952;p169"/>
          <p:cNvSpPr txBox="1"/>
          <p:nvPr/>
        </p:nvSpPr>
        <p:spPr>
          <a:xfrm>
            <a:off x="7895947" y="4276032"/>
            <a:ext cx="336743" cy="701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4285F5"/>
              </a:buClr>
              <a:buSzPts val="4000"/>
              <a:buFont typeface="Arial"/>
              <a:buNone/>
            </a:pPr>
            <a:r>
              <a:rPr b="0" i="0" lang="en-US" sz="4000" u="none" cap="none" strike="noStrike">
                <a:solidFill>
                  <a:srgbClr val="4285F5"/>
                </a:solidFill>
                <a:latin typeface="Arial"/>
                <a:ea typeface="Arial"/>
                <a:cs typeface="Arial"/>
                <a:sym typeface="Arial"/>
              </a:rPr>
              <a:t>?</a:t>
            </a:r>
            <a:endParaRPr/>
          </a:p>
        </p:txBody>
      </p:sp>
      <p:sp>
        <p:nvSpPr>
          <p:cNvPr id="1953" name="Google Shape;1953;p169"/>
          <p:cNvSpPr txBox="1"/>
          <p:nvPr/>
        </p:nvSpPr>
        <p:spPr>
          <a:xfrm>
            <a:off x="9374882" y="4276032"/>
            <a:ext cx="336743" cy="701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4285F5"/>
              </a:buClr>
              <a:buSzPts val="4000"/>
              <a:buFont typeface="Arial"/>
              <a:buNone/>
            </a:pPr>
            <a:r>
              <a:rPr b="0" i="0" lang="en-US" sz="4000" u="none" cap="none" strike="noStrike">
                <a:solidFill>
                  <a:srgbClr val="4285F5"/>
                </a:solidFill>
                <a:latin typeface="Arial"/>
                <a:ea typeface="Arial"/>
                <a:cs typeface="Arial"/>
                <a:sym typeface="Arial"/>
              </a:rPr>
              <a:t>?</a:t>
            </a:r>
            <a:endParaRPr/>
          </a:p>
        </p:txBody>
      </p:sp>
      <p:sp>
        <p:nvSpPr>
          <p:cNvPr id="1954" name="Google Shape;1954;p169"/>
          <p:cNvSpPr txBox="1"/>
          <p:nvPr/>
        </p:nvSpPr>
        <p:spPr>
          <a:xfrm>
            <a:off x="10793187" y="4276032"/>
            <a:ext cx="336743" cy="7010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4285F5"/>
              </a:buClr>
              <a:buSzPts val="4000"/>
              <a:buFont typeface="Arial"/>
              <a:buNone/>
            </a:pPr>
            <a:r>
              <a:rPr b="0" i="0" lang="en-US" sz="4000" u="none" cap="none" strike="noStrike">
                <a:solidFill>
                  <a:srgbClr val="4285F5"/>
                </a:solidFill>
                <a:latin typeface="Arial"/>
                <a:ea typeface="Arial"/>
                <a:cs typeface="Arial"/>
                <a:sym typeface="Arial"/>
              </a:rPr>
              <a:t>?</a:t>
            </a:r>
            <a:endParaRPr/>
          </a:p>
        </p:txBody>
      </p:sp>
      <p:sp>
        <p:nvSpPr>
          <p:cNvPr id="1955" name="Google Shape;1955;p169"/>
          <p:cNvSpPr txBox="1"/>
          <p:nvPr>
            <p:ph idx="12" type="sldNum"/>
          </p:nvPr>
        </p:nvSpPr>
        <p:spPr>
          <a:xfrm>
            <a:off x="11164902" y="6404292"/>
            <a:ext cx="188898"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sp>
        <p:nvSpPr>
          <p:cNvPr id="1956" name="Google Shape;1956;p169"/>
          <p:cNvSpPr/>
          <p:nvPr/>
        </p:nvSpPr>
        <p:spPr>
          <a:xfrm>
            <a:off x="5884983" y="4169019"/>
            <a:ext cx="5779478" cy="882115"/>
          </a:xfrm>
          <a:prstGeom prst="roundRect">
            <a:avLst>
              <a:gd fmla="val 20234" name="adj"/>
            </a:avLst>
          </a:prstGeom>
          <a:noFill/>
          <a:ln cap="flat" cmpd="sng" w="19050">
            <a:solidFill>
              <a:srgbClr val="4285F5"/>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Picture 11" id="1957" name="Google Shape;1957;p169"/>
          <p:cNvPicPr preferRelativeResize="0"/>
          <p:nvPr/>
        </p:nvPicPr>
        <p:blipFill rotWithShape="1">
          <a:blip r:embed="rId7">
            <a:alphaModFix/>
          </a:blip>
          <a:srcRect b="0" l="0" r="50171" t="0"/>
          <a:stretch/>
        </p:blipFill>
        <p:spPr>
          <a:xfrm>
            <a:off x="1362635" y="2089520"/>
            <a:ext cx="3057714" cy="1965956"/>
          </a:xfrm>
          <a:prstGeom prst="rect">
            <a:avLst/>
          </a:prstGeom>
          <a:noFill/>
          <a:ln>
            <a:noFill/>
          </a:ln>
        </p:spPr>
      </p:pic>
      <p:pic>
        <p:nvPicPr>
          <p:cNvPr descr="Picture 12" id="1958" name="Google Shape;1958;p169"/>
          <p:cNvPicPr preferRelativeResize="0"/>
          <p:nvPr/>
        </p:nvPicPr>
        <p:blipFill rotWithShape="1">
          <a:blip r:embed="rId8">
            <a:alphaModFix/>
          </a:blip>
          <a:srcRect b="0" l="0" r="0" t="0"/>
          <a:stretch/>
        </p:blipFill>
        <p:spPr>
          <a:xfrm>
            <a:off x="1359539" y="4055476"/>
            <a:ext cx="3085512" cy="1776508"/>
          </a:xfrm>
          <a:prstGeom prst="rect">
            <a:avLst/>
          </a:prstGeom>
          <a:noFill/>
          <a:ln>
            <a:noFill/>
          </a:ln>
        </p:spPr>
      </p:pic>
      <p:pic>
        <p:nvPicPr>
          <p:cNvPr descr="Picture 10" id="1959" name="Google Shape;1959;p169"/>
          <p:cNvPicPr preferRelativeResize="0"/>
          <p:nvPr/>
        </p:nvPicPr>
        <p:blipFill rotWithShape="1">
          <a:blip r:embed="rId9">
            <a:alphaModFix/>
          </a:blip>
          <a:srcRect b="0" l="0" r="0" t="0"/>
          <a:stretch/>
        </p:blipFill>
        <p:spPr>
          <a:xfrm>
            <a:off x="9124832" y="5124579"/>
            <a:ext cx="866834" cy="1313383"/>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3" name="Shape 1963"/>
        <p:cNvGrpSpPr/>
        <p:nvPr/>
      </p:nvGrpSpPr>
      <p:grpSpPr>
        <a:xfrm>
          <a:off x="0" y="0"/>
          <a:ext cx="0" cy="0"/>
          <a:chOff x="0" y="0"/>
          <a:chExt cx="0" cy="0"/>
        </a:xfrm>
      </p:grpSpPr>
      <p:pic>
        <p:nvPicPr>
          <p:cNvPr descr="Picture 8" id="1964" name="Google Shape;1964;p170"/>
          <p:cNvPicPr preferRelativeResize="0"/>
          <p:nvPr/>
        </p:nvPicPr>
        <p:blipFill rotWithShape="1">
          <a:blip r:embed="rId3">
            <a:alphaModFix/>
          </a:blip>
          <a:srcRect b="0" l="0" r="50171" t="0"/>
          <a:stretch/>
        </p:blipFill>
        <p:spPr>
          <a:xfrm>
            <a:off x="1362635" y="2089520"/>
            <a:ext cx="3057714" cy="1965956"/>
          </a:xfrm>
          <a:prstGeom prst="rect">
            <a:avLst/>
          </a:prstGeom>
          <a:noFill/>
          <a:ln>
            <a:noFill/>
          </a:ln>
        </p:spPr>
      </p:pic>
      <p:sp>
        <p:nvSpPr>
          <p:cNvPr id="1965" name="Google Shape;1965;p170"/>
          <p:cNvSpPr txBox="1"/>
          <p:nvPr>
            <p:ph idx="12" type="sldNum"/>
          </p:nvPr>
        </p:nvSpPr>
        <p:spPr>
          <a:xfrm>
            <a:off x="11164902" y="6404292"/>
            <a:ext cx="188898" cy="2692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757575"/>
              </a:buClr>
              <a:buSzPts val="1200"/>
              <a:buFont typeface="Arial"/>
              <a:buNone/>
            </a:pPr>
            <a:fld id="{00000000-1234-1234-1234-123412341234}" type="slidenum">
              <a:rPr lang="en-US"/>
              <a:t>‹#›</a:t>
            </a:fld>
            <a:endParaRPr/>
          </a:p>
        </p:txBody>
      </p:sp>
      <p:pic>
        <p:nvPicPr>
          <p:cNvPr descr="Picture 6" id="1966" name="Google Shape;1966;p170"/>
          <p:cNvPicPr preferRelativeResize="0"/>
          <p:nvPr/>
        </p:nvPicPr>
        <p:blipFill rotWithShape="1">
          <a:blip r:embed="rId4">
            <a:alphaModFix/>
          </a:blip>
          <a:srcRect b="0" l="0" r="0" t="0"/>
          <a:stretch/>
        </p:blipFill>
        <p:spPr>
          <a:xfrm>
            <a:off x="9238134" y="4232268"/>
            <a:ext cx="596022" cy="759179"/>
          </a:xfrm>
          <a:custGeom>
            <a:rect b="b" l="l" r="r" t="t"/>
            <a:pathLst>
              <a:path extrusionOk="0" h="21600" w="21600">
                <a:moveTo>
                  <a:pt x="10800" y="0"/>
                </a:moveTo>
                <a:cubicBezTo>
                  <a:pt x="4836" y="0"/>
                  <a:pt x="0" y="4830"/>
                  <a:pt x="0" y="10794"/>
                </a:cubicBezTo>
                <a:cubicBezTo>
                  <a:pt x="0" y="16759"/>
                  <a:pt x="4836" y="21600"/>
                  <a:pt x="10800" y="21600"/>
                </a:cubicBezTo>
                <a:cubicBezTo>
                  <a:pt x="16764" y="21600"/>
                  <a:pt x="21600" y="16759"/>
                  <a:pt x="21600" y="10794"/>
                </a:cubicBezTo>
                <a:cubicBezTo>
                  <a:pt x="21600" y="4830"/>
                  <a:pt x="16764" y="0"/>
                  <a:pt x="10800" y="0"/>
                </a:cubicBezTo>
                <a:close/>
              </a:path>
            </a:pathLst>
          </a:custGeom>
          <a:noFill/>
          <a:ln>
            <a:noFill/>
          </a:ln>
        </p:spPr>
      </p:pic>
      <p:pic>
        <p:nvPicPr>
          <p:cNvPr descr="Picture 13" id="1967" name="Google Shape;1967;p170"/>
          <p:cNvPicPr preferRelativeResize="0"/>
          <p:nvPr/>
        </p:nvPicPr>
        <p:blipFill rotWithShape="1">
          <a:blip r:embed="rId5">
            <a:alphaModFix/>
          </a:blip>
          <a:srcRect b="8" l="0" r="19" t="0"/>
          <a:stretch/>
        </p:blipFill>
        <p:spPr>
          <a:xfrm>
            <a:off x="7764114" y="4235694"/>
            <a:ext cx="596107" cy="770336"/>
          </a:xfrm>
          <a:custGeom>
            <a:rect b="b" l="l" r="r" t="t"/>
            <a:pathLst>
              <a:path extrusionOk="0" h="21600" w="21600">
                <a:moveTo>
                  <a:pt x="10800" y="0"/>
                </a:moveTo>
                <a:cubicBezTo>
                  <a:pt x="4834" y="0"/>
                  <a:pt x="0" y="4840"/>
                  <a:pt x="0" y="10806"/>
                </a:cubicBezTo>
                <a:cubicBezTo>
                  <a:pt x="0" y="16771"/>
                  <a:pt x="4834" y="21600"/>
                  <a:pt x="10800" y="21600"/>
                </a:cubicBezTo>
                <a:cubicBezTo>
                  <a:pt x="16766" y="21600"/>
                  <a:pt x="21600" y="16771"/>
                  <a:pt x="21600" y="10806"/>
                </a:cubicBezTo>
                <a:cubicBezTo>
                  <a:pt x="21600" y="4840"/>
                  <a:pt x="16766" y="0"/>
                  <a:pt x="10800" y="0"/>
                </a:cubicBezTo>
                <a:close/>
              </a:path>
            </a:pathLst>
          </a:custGeom>
          <a:noFill/>
          <a:ln>
            <a:noFill/>
          </a:ln>
        </p:spPr>
      </p:pic>
      <p:pic>
        <p:nvPicPr>
          <p:cNvPr descr="Picture 15" id="1968" name="Google Shape;1968;p170"/>
          <p:cNvPicPr preferRelativeResize="0"/>
          <p:nvPr/>
        </p:nvPicPr>
        <p:blipFill rotWithShape="1">
          <a:blip r:embed="rId6">
            <a:alphaModFix/>
          </a:blip>
          <a:srcRect b="13" l="0" r="4" t="0"/>
          <a:stretch/>
        </p:blipFill>
        <p:spPr>
          <a:xfrm>
            <a:off x="6342386" y="4242500"/>
            <a:ext cx="596107" cy="755651"/>
          </a:xfrm>
          <a:custGeom>
            <a:rect b="b" l="l" r="r" t="t"/>
            <a:pathLst>
              <a:path extrusionOk="0" h="21600" w="21600">
                <a:moveTo>
                  <a:pt x="10800" y="0"/>
                </a:moveTo>
                <a:cubicBezTo>
                  <a:pt x="4835" y="0"/>
                  <a:pt x="0" y="4834"/>
                  <a:pt x="0" y="10800"/>
                </a:cubicBezTo>
                <a:cubicBezTo>
                  <a:pt x="0" y="16766"/>
                  <a:pt x="4835" y="21600"/>
                  <a:pt x="10800" y="21600"/>
                </a:cubicBezTo>
                <a:cubicBezTo>
                  <a:pt x="16765" y="21600"/>
                  <a:pt x="21600" y="16766"/>
                  <a:pt x="21600" y="10800"/>
                </a:cubicBezTo>
                <a:cubicBezTo>
                  <a:pt x="21600" y="4834"/>
                  <a:pt x="16765" y="0"/>
                  <a:pt x="10800" y="0"/>
                </a:cubicBezTo>
                <a:close/>
              </a:path>
            </a:pathLst>
          </a:custGeom>
          <a:noFill/>
          <a:ln>
            <a:noFill/>
          </a:ln>
        </p:spPr>
      </p:pic>
      <p:pic>
        <p:nvPicPr>
          <p:cNvPr descr="Picture 17" id="1969" name="Google Shape;1969;p170"/>
          <p:cNvPicPr preferRelativeResize="0"/>
          <p:nvPr/>
        </p:nvPicPr>
        <p:blipFill rotWithShape="1">
          <a:blip r:embed="rId7">
            <a:alphaModFix/>
          </a:blip>
          <a:srcRect b="6" l="0" r="5" t="0"/>
          <a:stretch/>
        </p:blipFill>
        <p:spPr>
          <a:xfrm>
            <a:off x="10661354" y="4224393"/>
            <a:ext cx="596504" cy="749698"/>
          </a:xfrm>
          <a:custGeom>
            <a:rect b="b" l="l" r="r" t="t"/>
            <a:pathLst>
              <a:path extrusionOk="0" h="21600" w="21600">
                <a:moveTo>
                  <a:pt x="10807" y="0"/>
                </a:moveTo>
                <a:cubicBezTo>
                  <a:pt x="4842" y="0"/>
                  <a:pt x="0" y="4841"/>
                  <a:pt x="0" y="10806"/>
                </a:cubicBezTo>
                <a:cubicBezTo>
                  <a:pt x="0" y="16771"/>
                  <a:pt x="4842" y="21600"/>
                  <a:pt x="10807" y="21600"/>
                </a:cubicBezTo>
                <a:cubicBezTo>
                  <a:pt x="16772" y="21600"/>
                  <a:pt x="21600" y="16771"/>
                  <a:pt x="21600" y="10806"/>
                </a:cubicBezTo>
                <a:cubicBezTo>
                  <a:pt x="21600" y="4841"/>
                  <a:pt x="16772" y="0"/>
                  <a:pt x="10807" y="0"/>
                </a:cubicBezTo>
                <a:close/>
              </a:path>
            </a:pathLst>
          </a:custGeom>
          <a:noFill/>
          <a:ln>
            <a:noFill/>
          </a:ln>
        </p:spPr>
      </p:pic>
      <p:pic>
        <p:nvPicPr>
          <p:cNvPr descr="Picture 26" id="1970" name="Google Shape;1970;p170"/>
          <p:cNvPicPr preferRelativeResize="0"/>
          <p:nvPr/>
        </p:nvPicPr>
        <p:blipFill rotWithShape="1">
          <a:blip r:embed="rId8">
            <a:alphaModFix/>
          </a:blip>
          <a:srcRect b="0" l="0" r="0" t="0"/>
          <a:stretch/>
        </p:blipFill>
        <p:spPr>
          <a:xfrm>
            <a:off x="1359539" y="4055476"/>
            <a:ext cx="3085512" cy="1776508"/>
          </a:xfrm>
          <a:prstGeom prst="rect">
            <a:avLst/>
          </a:prstGeom>
          <a:noFill/>
          <a:ln>
            <a:noFill/>
          </a:ln>
        </p:spPr>
      </p:pic>
      <p:sp>
        <p:nvSpPr>
          <p:cNvPr id="1971" name="Google Shape;1971;p17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100"/>
              <a:buFont typeface="Play"/>
              <a:buNone/>
            </a:pPr>
            <a:r>
              <a:rPr lang="en-US"/>
              <a:t>LLMs excel at tasks with clear answers</a:t>
            </a:r>
            <a:endParaRPr/>
          </a:p>
          <a:p>
            <a:pPr indent="0" lvl="0" marL="0" rtl="0" algn="l">
              <a:lnSpc>
                <a:spcPct val="90000"/>
              </a:lnSpc>
              <a:spcBef>
                <a:spcPts val="0"/>
              </a:spcBef>
              <a:spcAft>
                <a:spcPts val="0"/>
              </a:spcAft>
              <a:buClr>
                <a:srgbClr val="000000"/>
              </a:buClr>
              <a:buSzPts val="4100"/>
              <a:buFont typeface="Play"/>
              <a:buNone/>
            </a:pPr>
            <a:r>
              <a:rPr lang="en-US"/>
              <a:t>But many language tasks are open-ended</a:t>
            </a:r>
            <a:endParaRPr/>
          </a:p>
        </p:txBody>
      </p:sp>
      <p:pic>
        <p:nvPicPr>
          <p:cNvPr descr="Picture 4" id="1972" name="Google Shape;1972;p170"/>
          <p:cNvPicPr preferRelativeResize="0"/>
          <p:nvPr/>
        </p:nvPicPr>
        <p:blipFill rotWithShape="1">
          <a:blip r:embed="rId9">
            <a:alphaModFix/>
          </a:blip>
          <a:srcRect b="0" l="0" r="0" t="0"/>
          <a:stretch/>
        </p:blipFill>
        <p:spPr>
          <a:xfrm>
            <a:off x="8454147" y="2017143"/>
            <a:ext cx="840445" cy="1325564"/>
          </a:xfrm>
          <a:prstGeom prst="rect">
            <a:avLst/>
          </a:prstGeom>
          <a:noFill/>
          <a:ln>
            <a:noFill/>
          </a:ln>
        </p:spPr>
      </p:pic>
      <p:pic>
        <p:nvPicPr>
          <p:cNvPr descr="Picture 6" id="1973" name="Google Shape;1973;p170"/>
          <p:cNvPicPr preferRelativeResize="0"/>
          <p:nvPr/>
        </p:nvPicPr>
        <p:blipFill rotWithShape="1">
          <a:blip r:embed="rId10">
            <a:alphaModFix/>
          </a:blip>
          <a:srcRect b="0" l="0" r="0" t="0"/>
          <a:stretch/>
        </p:blipFill>
        <p:spPr>
          <a:xfrm>
            <a:off x="6220600" y="5133220"/>
            <a:ext cx="827552" cy="1313382"/>
          </a:xfrm>
          <a:prstGeom prst="rect">
            <a:avLst/>
          </a:prstGeom>
          <a:noFill/>
          <a:ln>
            <a:noFill/>
          </a:ln>
        </p:spPr>
      </p:pic>
      <p:pic>
        <p:nvPicPr>
          <p:cNvPr descr="Picture 8" id="1974" name="Google Shape;1974;p170"/>
          <p:cNvPicPr preferRelativeResize="0"/>
          <p:nvPr/>
        </p:nvPicPr>
        <p:blipFill rotWithShape="1">
          <a:blip r:embed="rId11">
            <a:alphaModFix/>
          </a:blip>
          <a:srcRect b="0" l="0" r="0" t="0"/>
          <a:stretch/>
        </p:blipFill>
        <p:spPr>
          <a:xfrm>
            <a:off x="7631900" y="5111239"/>
            <a:ext cx="840445" cy="1340063"/>
          </a:xfrm>
          <a:prstGeom prst="rect">
            <a:avLst/>
          </a:prstGeom>
          <a:noFill/>
          <a:ln>
            <a:noFill/>
          </a:ln>
        </p:spPr>
      </p:pic>
      <p:pic>
        <p:nvPicPr>
          <p:cNvPr descr="Picture 12" id="1975" name="Google Shape;1975;p170"/>
          <p:cNvPicPr preferRelativeResize="0"/>
          <p:nvPr/>
        </p:nvPicPr>
        <p:blipFill rotWithShape="1">
          <a:blip r:embed="rId12">
            <a:alphaModFix/>
          </a:blip>
          <a:srcRect b="0" l="0" r="0" t="0"/>
          <a:stretch/>
        </p:blipFill>
        <p:spPr>
          <a:xfrm>
            <a:off x="10529154" y="5133220"/>
            <a:ext cx="866833" cy="1325563"/>
          </a:xfrm>
          <a:prstGeom prst="rect">
            <a:avLst/>
          </a:prstGeom>
          <a:noFill/>
          <a:ln>
            <a:noFill/>
          </a:ln>
        </p:spPr>
      </p:pic>
      <p:cxnSp>
        <p:nvCxnSpPr>
          <p:cNvPr id="1976" name="Google Shape;1976;p170"/>
          <p:cNvCxnSpPr/>
          <p:nvPr/>
        </p:nvCxnSpPr>
        <p:spPr>
          <a:xfrm>
            <a:off x="8874369" y="3397738"/>
            <a:ext cx="1" cy="234463"/>
          </a:xfrm>
          <a:prstGeom prst="straightConnector1">
            <a:avLst/>
          </a:prstGeom>
          <a:noFill/>
          <a:ln cap="flat" cmpd="sng" w="19050">
            <a:solidFill>
              <a:srgbClr val="000000"/>
            </a:solidFill>
            <a:prstDash val="solid"/>
            <a:miter lim="8000"/>
            <a:headEnd len="sm" w="sm" type="none"/>
            <a:tailEnd len="sm" w="sm" type="none"/>
          </a:ln>
        </p:spPr>
      </p:cxnSp>
      <p:cxnSp>
        <p:nvCxnSpPr>
          <p:cNvPr id="1977" name="Google Shape;1977;p170"/>
          <p:cNvCxnSpPr/>
          <p:nvPr/>
        </p:nvCxnSpPr>
        <p:spPr>
          <a:xfrm rot="10800000">
            <a:off x="6639796" y="3632200"/>
            <a:ext cx="2225880" cy="0"/>
          </a:xfrm>
          <a:prstGeom prst="straightConnector1">
            <a:avLst/>
          </a:prstGeom>
          <a:noFill/>
          <a:ln cap="flat" cmpd="sng" w="19050">
            <a:solidFill>
              <a:srgbClr val="000000"/>
            </a:solidFill>
            <a:prstDash val="solid"/>
            <a:miter lim="8000"/>
            <a:headEnd len="sm" w="sm" type="none"/>
            <a:tailEnd len="sm" w="sm" type="none"/>
          </a:ln>
        </p:spPr>
      </p:cxnSp>
      <p:cxnSp>
        <p:nvCxnSpPr>
          <p:cNvPr id="1978" name="Google Shape;1978;p170"/>
          <p:cNvCxnSpPr/>
          <p:nvPr/>
        </p:nvCxnSpPr>
        <p:spPr>
          <a:xfrm>
            <a:off x="8864834" y="3632199"/>
            <a:ext cx="2103194" cy="15149"/>
          </a:xfrm>
          <a:prstGeom prst="straightConnector1">
            <a:avLst/>
          </a:prstGeom>
          <a:noFill/>
          <a:ln cap="flat" cmpd="sng" w="19050">
            <a:solidFill>
              <a:srgbClr val="000000"/>
            </a:solidFill>
            <a:prstDash val="solid"/>
            <a:miter lim="8000"/>
            <a:headEnd len="sm" w="sm" type="none"/>
            <a:tailEnd len="sm" w="sm" type="none"/>
          </a:ln>
        </p:spPr>
      </p:cxnSp>
      <p:cxnSp>
        <p:nvCxnSpPr>
          <p:cNvPr id="1979" name="Google Shape;1979;p170"/>
          <p:cNvCxnSpPr/>
          <p:nvPr/>
        </p:nvCxnSpPr>
        <p:spPr>
          <a:xfrm flipH="1">
            <a:off x="6633327" y="3639804"/>
            <a:ext cx="6469" cy="437873"/>
          </a:xfrm>
          <a:prstGeom prst="straightConnector1">
            <a:avLst/>
          </a:prstGeom>
          <a:noFill/>
          <a:ln cap="flat" cmpd="sng" w="19050">
            <a:solidFill>
              <a:srgbClr val="000000"/>
            </a:solidFill>
            <a:prstDash val="solid"/>
            <a:miter lim="8000"/>
            <a:headEnd len="sm" w="sm" type="none"/>
            <a:tailEnd len="med" w="med" type="triangle"/>
          </a:ln>
        </p:spPr>
      </p:cxnSp>
      <p:cxnSp>
        <p:nvCxnSpPr>
          <p:cNvPr id="1980" name="Google Shape;1980;p170"/>
          <p:cNvCxnSpPr/>
          <p:nvPr/>
        </p:nvCxnSpPr>
        <p:spPr>
          <a:xfrm flipH="1">
            <a:off x="8064318" y="3635686"/>
            <a:ext cx="6469" cy="437873"/>
          </a:xfrm>
          <a:prstGeom prst="straightConnector1">
            <a:avLst/>
          </a:prstGeom>
          <a:noFill/>
          <a:ln cap="flat" cmpd="sng" w="19050">
            <a:solidFill>
              <a:srgbClr val="000000"/>
            </a:solidFill>
            <a:prstDash val="solid"/>
            <a:miter lim="8000"/>
            <a:headEnd len="sm" w="sm" type="none"/>
            <a:tailEnd len="med" w="med" type="triangle"/>
          </a:ln>
        </p:spPr>
      </p:cxnSp>
      <p:cxnSp>
        <p:nvCxnSpPr>
          <p:cNvPr id="1981" name="Google Shape;1981;p170"/>
          <p:cNvCxnSpPr/>
          <p:nvPr/>
        </p:nvCxnSpPr>
        <p:spPr>
          <a:xfrm flipH="1">
            <a:off x="9517680" y="3651528"/>
            <a:ext cx="6469" cy="437873"/>
          </a:xfrm>
          <a:prstGeom prst="straightConnector1">
            <a:avLst/>
          </a:prstGeom>
          <a:noFill/>
          <a:ln cap="flat" cmpd="sng" w="19050">
            <a:solidFill>
              <a:srgbClr val="000000"/>
            </a:solidFill>
            <a:prstDash val="solid"/>
            <a:miter lim="8000"/>
            <a:headEnd len="sm" w="sm" type="none"/>
            <a:tailEnd len="med" w="med" type="triangle"/>
          </a:ln>
        </p:spPr>
      </p:cxnSp>
      <p:cxnSp>
        <p:nvCxnSpPr>
          <p:cNvPr id="1982" name="Google Shape;1982;p170"/>
          <p:cNvCxnSpPr/>
          <p:nvPr/>
        </p:nvCxnSpPr>
        <p:spPr>
          <a:xfrm flipH="1">
            <a:off x="10961559" y="3647347"/>
            <a:ext cx="6469" cy="453996"/>
          </a:xfrm>
          <a:prstGeom prst="straightConnector1">
            <a:avLst/>
          </a:prstGeom>
          <a:noFill/>
          <a:ln cap="flat" cmpd="sng" w="19050">
            <a:solidFill>
              <a:srgbClr val="000000"/>
            </a:solidFill>
            <a:prstDash val="solid"/>
            <a:miter lim="8000"/>
            <a:headEnd len="sm" w="sm" type="none"/>
            <a:tailEnd len="med" w="med" type="triangle"/>
          </a:ln>
        </p:spPr>
      </p:cxnSp>
      <p:sp>
        <p:nvSpPr>
          <p:cNvPr id="1983" name="Google Shape;1983;p170"/>
          <p:cNvSpPr/>
          <p:nvPr/>
        </p:nvSpPr>
        <p:spPr>
          <a:xfrm>
            <a:off x="5884983" y="4169019"/>
            <a:ext cx="5779478" cy="882115"/>
          </a:xfrm>
          <a:prstGeom prst="roundRect">
            <a:avLst>
              <a:gd fmla="val 20234" name="adj"/>
            </a:avLst>
          </a:prstGeom>
          <a:noFill/>
          <a:ln cap="flat" cmpd="sng" w="19050">
            <a:solidFill>
              <a:srgbClr val="4285F5"/>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Picture 10" id="1984" name="Google Shape;1984;p170"/>
          <p:cNvPicPr preferRelativeResize="0"/>
          <p:nvPr/>
        </p:nvPicPr>
        <p:blipFill rotWithShape="1">
          <a:blip r:embed="rId13">
            <a:alphaModFix/>
          </a:blip>
          <a:srcRect b="0" l="0" r="0" t="0"/>
          <a:stretch/>
        </p:blipFill>
        <p:spPr>
          <a:xfrm>
            <a:off x="9124832" y="5124579"/>
            <a:ext cx="866834" cy="131338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